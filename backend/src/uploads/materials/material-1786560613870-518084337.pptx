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jeZ4kOuzs3dV3M5D2tQ6Ncuxla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10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8"/>
          <p:cNvSpPr txBox="1">
            <a:spLocks noGrp="1"/>
          </p:cNvSpPr>
          <p:nvPr>
            <p:ph type="ctrTitle"/>
          </p:nvPr>
        </p:nvSpPr>
        <p:spPr>
          <a:xfrm>
            <a:off x="838200" y="1122363"/>
            <a:ext cx="10515600" cy="106424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8"/>
          <p:cNvSpPr txBox="1">
            <a:spLocks noGrp="1"/>
          </p:cNvSpPr>
          <p:nvPr>
            <p:ph type="subTitle" idx="1"/>
          </p:nvPr>
        </p:nvSpPr>
        <p:spPr>
          <a:xfrm>
            <a:off x="838200" y="2462351"/>
            <a:ext cx="10515600" cy="79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>
                <a:solidFill>
                  <a:srgbClr val="00B0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8"/>
          <p:cNvSpPr txBox="1">
            <a:spLocks noGrp="1"/>
          </p:cNvSpPr>
          <p:nvPr>
            <p:ph type="ftr" idx="11"/>
          </p:nvPr>
        </p:nvSpPr>
        <p:spPr>
          <a:xfrm>
            <a:off x="2173358" y="6356350"/>
            <a:ext cx="690437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25547" y="3422477"/>
            <a:ext cx="1285714" cy="92381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8"/>
          <p:cNvSpPr txBox="1"/>
          <p:nvPr/>
        </p:nvSpPr>
        <p:spPr>
          <a:xfrm>
            <a:off x="3261817" y="4573309"/>
            <a:ext cx="6013174" cy="127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Chalew Tesfaye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Debre Berhan University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✔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Char char="&gt;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▪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9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0"/>
          <p:cNvSpPr txBox="1">
            <a:spLocks noGrp="1"/>
          </p:cNvSpPr>
          <p:nvPr>
            <p:ph type="title"/>
          </p:nvPr>
        </p:nvSpPr>
        <p:spPr>
          <a:xfrm>
            <a:off x="357809" y="234056"/>
            <a:ext cx="11463129" cy="667092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0"/>
          <p:cNvSpPr txBox="1">
            <a:spLocks noGrp="1"/>
          </p:cNvSpPr>
          <p:nvPr>
            <p:ph type="body" idx="1"/>
          </p:nvPr>
        </p:nvSpPr>
        <p:spPr>
          <a:xfrm>
            <a:off x="839787" y="1007582"/>
            <a:ext cx="5157787" cy="55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100"/>
          <p:cNvSpPr txBox="1">
            <a:spLocks noGrp="1"/>
          </p:cNvSpPr>
          <p:nvPr>
            <p:ph type="body" idx="2"/>
          </p:nvPr>
        </p:nvSpPr>
        <p:spPr>
          <a:xfrm>
            <a:off x="839788" y="1666050"/>
            <a:ext cx="5157787" cy="452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Char char="⮚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Char char="⮚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0"/>
          <p:cNvSpPr txBox="1">
            <a:spLocks noGrp="1"/>
          </p:cNvSpPr>
          <p:nvPr>
            <p:ph type="body" idx="3"/>
          </p:nvPr>
        </p:nvSpPr>
        <p:spPr>
          <a:xfrm>
            <a:off x="6172200" y="1007582"/>
            <a:ext cx="5183188" cy="55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100"/>
          <p:cNvSpPr txBox="1">
            <a:spLocks noGrp="1"/>
          </p:cNvSpPr>
          <p:nvPr>
            <p:ph type="body" idx="4"/>
          </p:nvPr>
        </p:nvSpPr>
        <p:spPr>
          <a:xfrm>
            <a:off x="6172200" y="1666050"/>
            <a:ext cx="5183188" cy="452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Char char="⮚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Char char="⮚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1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1033461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1"/>
          <p:cNvSpPr txBox="1">
            <a:spLocks noGrp="1"/>
          </p:cNvSpPr>
          <p:nvPr>
            <p:ph type="body" idx="1"/>
          </p:nvPr>
        </p:nvSpPr>
        <p:spPr>
          <a:xfrm>
            <a:off x="831850" y="2999202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0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2"/>
          <p:cNvSpPr txBox="1">
            <a:spLocks noGrp="1"/>
          </p:cNvSpPr>
          <p:nvPr>
            <p:ph type="body" idx="1"/>
          </p:nvPr>
        </p:nvSpPr>
        <p:spPr>
          <a:xfrm>
            <a:off x="838200" y="1001022"/>
            <a:ext cx="5181600" cy="517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Char char="✔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Calibri"/>
              <a:buChar char="&gt;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▪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2"/>
          <p:cNvSpPr txBox="1">
            <a:spLocks noGrp="1"/>
          </p:cNvSpPr>
          <p:nvPr>
            <p:ph type="body" idx="2"/>
          </p:nvPr>
        </p:nvSpPr>
        <p:spPr>
          <a:xfrm>
            <a:off x="6172200" y="1001023"/>
            <a:ext cx="5181600" cy="403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Char char="⮚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Char char="⮚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02"/>
          <p:cNvSpPr txBox="1">
            <a:spLocks noGrp="1"/>
          </p:cNvSpPr>
          <p:nvPr>
            <p:ph type="body" idx="3"/>
          </p:nvPr>
        </p:nvSpPr>
        <p:spPr>
          <a:xfrm>
            <a:off x="6172200" y="5215214"/>
            <a:ext cx="5181600" cy="8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  <a:defRPr sz="2400" i="1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800"/>
              <a:buFont typeface="Noto Sans Symbols"/>
              <a:buChar char="⮚"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Noto Sans Symbols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907774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5"/>
          <p:cNvSpPr txBox="1">
            <a:spLocks noGrp="1"/>
          </p:cNvSpPr>
          <p:nvPr>
            <p:ph type="body" idx="1"/>
          </p:nvPr>
        </p:nvSpPr>
        <p:spPr>
          <a:xfrm>
            <a:off x="4982817" y="457201"/>
            <a:ext cx="6372571" cy="540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⮚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⮚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⮚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05"/>
          <p:cNvSpPr txBox="1">
            <a:spLocks noGrp="1"/>
          </p:cNvSpPr>
          <p:nvPr>
            <p:ph type="body" idx="2"/>
          </p:nvPr>
        </p:nvSpPr>
        <p:spPr>
          <a:xfrm>
            <a:off x="839788" y="1470991"/>
            <a:ext cx="3932237" cy="439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6"/>
          <p:cNvSpPr txBox="1">
            <a:spLocks noGrp="1"/>
          </p:cNvSpPr>
          <p:nvPr>
            <p:ph type="title"/>
          </p:nvPr>
        </p:nvSpPr>
        <p:spPr>
          <a:xfrm>
            <a:off x="357809" y="274638"/>
            <a:ext cx="11463129" cy="708991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6"/>
          <p:cNvSpPr>
            <a:spLocks noGrp="1"/>
          </p:cNvSpPr>
          <p:nvPr>
            <p:ph type="pic" idx="2"/>
          </p:nvPr>
        </p:nvSpPr>
        <p:spPr>
          <a:xfrm>
            <a:off x="4916557" y="1126435"/>
            <a:ext cx="6438831" cy="496956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6"/>
          <p:cNvSpPr txBox="1">
            <a:spLocks noGrp="1"/>
          </p:cNvSpPr>
          <p:nvPr>
            <p:ph type="body" idx="1"/>
          </p:nvPr>
        </p:nvSpPr>
        <p:spPr>
          <a:xfrm>
            <a:off x="839788" y="1126435"/>
            <a:ext cx="3932237" cy="49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7"/>
          <p:cNvSpPr txBox="1">
            <a:spLocks noGrp="1"/>
          </p:cNvSpPr>
          <p:nvPr>
            <p:ph type="body" idx="1"/>
          </p:nvPr>
        </p:nvSpPr>
        <p:spPr>
          <a:xfrm rot="5400000">
            <a:off x="3381651" y="-2082938"/>
            <a:ext cx="5415445" cy="114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⮚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⮚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⮚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⮚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⮚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⮚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⮚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Char char="⮚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0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CCFF"/>
              </a:buClr>
              <a:buSzPts val="2800"/>
              <a:buFont typeface="Noto Sans Symbols"/>
              <a:buChar char="⮚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CCFF"/>
              </a:buClr>
              <a:buSzPts val="2400"/>
              <a:buFont typeface="Noto Sans Symbols"/>
              <a:buChar char="✔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CCFF"/>
              </a:buClr>
              <a:buSzPts val="2000"/>
              <a:buFont typeface="Calibri"/>
              <a:buChar char="&gt;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CCFF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CCF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838200" y="1122363"/>
            <a:ext cx="10515600" cy="106424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Event Driven Programming</a:t>
            </a:r>
            <a:endParaRPr/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838200" y="2462351"/>
            <a:ext cx="10515600" cy="79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/>
              <a:t>Elements of Event Driven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Objectives 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At the end of the lesson students should be able to: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Understand events and delegates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Create an event handler for a control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Work with windows controls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Work with properties and events of controls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Design and build windows based application 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Working on events and delegates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an Event Handler for a Control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Using Windows Forms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Working with Windows Forms Controls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Using Dialog Boxes in a Windows Forms Application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Menus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Adding Controls at Run Time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Elements of Event Driven Programming 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rgbClr val="33CCFF"/>
                </a:solidFill>
              </a:rPr>
              <a:t>Event Source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Who are the users of the system? Human users, other system, the environment, time, …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rgbClr val="33CCFF"/>
                </a:solidFill>
              </a:rPr>
              <a:t>Event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How the user interact to the system? By click, touch, speak, ticking time, sending message, … 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rgbClr val="33CCFF"/>
                </a:solidFill>
              </a:rPr>
              <a:t>Delegates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Who will receive the events and wire/connect to the event handler?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rgbClr val="33CCFF"/>
                </a:solidFill>
              </a:rPr>
              <a:t>Event Handler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Who will define the logic, what will be done when receiving an event?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rgbClr val="33CCFF"/>
                </a:solidFill>
              </a:rPr>
              <a:t>User Interface</a:t>
            </a:r>
            <a:r>
              <a:rPr lang="en-US"/>
              <a:t> to accept/Listen for the event and respond/display the result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Forms and Controls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Message/Text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Network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Other form of interfaces 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An </a:t>
            </a:r>
            <a:r>
              <a:rPr lang="en-US">
                <a:solidFill>
                  <a:srgbClr val="0099CC"/>
                </a:solidFill>
              </a:rPr>
              <a:t>event </a:t>
            </a:r>
            <a:r>
              <a:rPr lang="en-US"/>
              <a:t>is a message sent by an object to signal the occurrence of an action that is either invoked by a user or programmatically.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Each event has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 </a:t>
            </a:r>
            <a:r>
              <a:rPr lang="en-US">
                <a:solidFill>
                  <a:srgbClr val="0099CC"/>
                </a:solidFill>
              </a:rPr>
              <a:t>sender</a:t>
            </a:r>
            <a:r>
              <a:rPr lang="en-US"/>
              <a:t> that raises the event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 </a:t>
            </a:r>
            <a:r>
              <a:rPr lang="en-US">
                <a:solidFill>
                  <a:srgbClr val="0099CC"/>
                </a:solidFill>
              </a:rPr>
              <a:t>receiver</a:t>
            </a:r>
            <a:r>
              <a:rPr lang="en-US"/>
              <a:t> that handles the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An event is used  to signal the occurrence of an action.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For example, this action could be user invoked, such as the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Click event of a Button  control, or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the event could be raised programmatically to signal the end of a long computation.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object that raises (triggers) the event is referred to as the event  </a:t>
            </a:r>
            <a:r>
              <a:rPr lang="en-US">
                <a:solidFill>
                  <a:srgbClr val="0099CC"/>
                </a:solidFill>
              </a:rPr>
              <a:t>sender</a:t>
            </a:r>
            <a:r>
              <a:rPr lang="en-US"/>
              <a:t>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 The procedure that handles the event is referred to as the event </a:t>
            </a:r>
            <a:r>
              <a:rPr lang="en-US">
                <a:solidFill>
                  <a:srgbClr val="0099CC"/>
                </a:solidFill>
              </a:rPr>
              <a:t>receiver</a:t>
            </a:r>
            <a:r>
              <a:rPr lang="en-US"/>
              <a:t>. 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In either case, the sender </a:t>
            </a:r>
            <a:r>
              <a:rPr lang="en-US">
                <a:solidFill>
                  <a:srgbClr val="0099CC"/>
                </a:solidFill>
              </a:rPr>
              <a:t>does not know </a:t>
            </a:r>
            <a:r>
              <a:rPr lang="en-US"/>
              <a:t>which object or method will respond to the events that it raises.  </a:t>
            </a:r>
            <a:endParaRPr/>
          </a:p>
          <a:p>
            <a:pPr marL="463550" lvl="0" indent="-2908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…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Therefore, it is necessary to have a component that </a:t>
            </a:r>
            <a:r>
              <a:rPr lang="en-US">
                <a:solidFill>
                  <a:srgbClr val="0099CC"/>
                </a:solidFill>
              </a:rPr>
              <a:t>links</a:t>
            </a:r>
            <a:r>
              <a:rPr lang="en-US"/>
              <a:t> the event </a:t>
            </a:r>
            <a:r>
              <a:rPr lang="en-US">
                <a:solidFill>
                  <a:srgbClr val="0099CC"/>
                </a:solidFill>
              </a:rPr>
              <a:t>sender</a:t>
            </a:r>
            <a:r>
              <a:rPr lang="en-US"/>
              <a:t> with the event </a:t>
            </a:r>
            <a:r>
              <a:rPr lang="en-US">
                <a:solidFill>
                  <a:srgbClr val="0099CC"/>
                </a:solidFill>
              </a:rPr>
              <a:t>receiver</a:t>
            </a:r>
            <a:r>
              <a:rPr lang="en-US"/>
              <a:t>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.NET Framework uses a </a:t>
            </a:r>
            <a:r>
              <a:rPr lang="en-US">
                <a:solidFill>
                  <a:srgbClr val="0099CC"/>
                </a:solidFill>
              </a:rPr>
              <a:t>delegate</a:t>
            </a:r>
            <a:r>
              <a:rPr lang="en-US"/>
              <a:t>  type to work as a function pointer between the sender and the event receiver.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In most cases, the .NET Framework creates the </a:t>
            </a:r>
            <a:r>
              <a:rPr lang="en-US">
                <a:solidFill>
                  <a:srgbClr val="0099CC"/>
                </a:solidFill>
              </a:rPr>
              <a:t>delegate</a:t>
            </a:r>
            <a:r>
              <a:rPr lang="en-US"/>
              <a:t> and takes care of the details for you.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However, you can create your own delegates for cases when you want an event to use different event handlers under different circumstances.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…</a:t>
            </a:r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Delegates are objects that you can use to call the methods of other objects.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use the </a:t>
            </a:r>
            <a:r>
              <a:rPr lang="en-US">
                <a:solidFill>
                  <a:srgbClr val="0099CC"/>
                </a:solidFill>
              </a:rPr>
              <a:t>Delegate</a:t>
            </a:r>
            <a:r>
              <a:rPr lang="en-US"/>
              <a:t> keyword in a declaration statement to create your own delegate that derives from the </a:t>
            </a:r>
            <a:r>
              <a:rPr lang="en-US">
                <a:solidFill>
                  <a:srgbClr val="0099CC"/>
                </a:solidFill>
              </a:rPr>
              <a:t>MulticastDelegate </a:t>
            </a:r>
            <a:r>
              <a:rPr lang="en-US"/>
              <a:t>class.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your own delegates can be useful in situations where you need an intermediary between a calling procedure and the procedure being called.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145" name="Google Shape;145;p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Model in the .NET Framework</a:t>
            </a:r>
            <a:endParaRPr/>
          </a:p>
        </p:txBody>
      </p:sp>
      <p:sp>
        <p:nvSpPr>
          <p:cNvPr id="153" name="Google Shape;153;p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6" name="Google Shape;156;p8" descr="buttonclick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1588" y="1131680"/>
            <a:ext cx="3612776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216088" y="1330761"/>
            <a:ext cx="14478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29454" y="305126"/>
                </a:moveTo>
                <a:lnTo>
                  <a:pt x="85885" y="126221"/>
                </a:lnTo>
              </a:path>
            </a:pathLst>
          </a:cu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Event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 rot="475989">
            <a:off x="1363796" y="2412971"/>
            <a:ext cx="1072723" cy="249449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187388" y="3570080"/>
            <a:ext cx="2057400" cy="7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Invoke the Delegate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235388" y="1207880"/>
            <a:ext cx="4953000" cy="2743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0ECC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.button1.Click += </a:t>
            </a:r>
            <a:r>
              <a:rPr lang="en-US" sz="1800">
                <a:solidFill>
                  <a:srgbClr val="370ECC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System.</a:t>
            </a: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EventHandler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</a:t>
            </a:r>
            <a:r>
              <a:rPr lang="en-US" sz="1800">
                <a:solidFill>
                  <a:srgbClr val="370ECC"/>
                </a:solidFill>
                <a:latin typeface="Calibri"/>
                <a:ea typeface="Calibri"/>
                <a:cs typeface="Calibri"/>
                <a:sym typeface="Calibri"/>
              </a:rPr>
              <a:t>his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.button1_Click);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_________________________________________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70ECC"/>
                </a:solidFill>
                <a:latin typeface="Calibri"/>
                <a:ea typeface="Calibri"/>
                <a:cs typeface="Calibri"/>
                <a:sym typeface="Calibri"/>
              </a:rPr>
              <a:t>private void button1_Click(object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sender, </a:t>
            </a: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EventArgs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//... the code goes here 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 rot="-6881023">
            <a:off x="4635192" y="3382170"/>
            <a:ext cx="1123217" cy="292106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806388" y="4484480"/>
            <a:ext cx="2438400" cy="1752600"/>
          </a:xfrm>
          <a:prstGeom prst="ellipse">
            <a:avLst/>
          </a:prstGeom>
          <a:solidFill>
            <a:srgbClr val="4F648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Delegate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911788" y="4179680"/>
            <a:ext cx="3429000" cy="990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Delegate calls the associated procedures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Delegates </a:t>
            </a:r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Noto Sans Symbols"/>
              <a:buChar char="⮚"/>
            </a:pPr>
            <a:r>
              <a:rPr lang="en-US" sz="3600"/>
              <a:t>Delegate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Char char="✔"/>
            </a:pPr>
            <a:r>
              <a:rPr lang="en-US" sz="3200"/>
              <a:t>Binds events to methods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Char char="✔"/>
            </a:pPr>
            <a:r>
              <a:rPr lang="en-US" sz="3200"/>
              <a:t>Can be bound to single or multiple methods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Noto Sans Symbols"/>
              <a:buChar char="⮚"/>
            </a:pPr>
            <a:r>
              <a:rPr lang="en-US" sz="3600"/>
              <a:t>When an event is recorded by an application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Char char="✔"/>
            </a:pPr>
            <a:r>
              <a:rPr lang="en-US" sz="3200"/>
              <a:t>The control raises the event by invoking the delegate for the event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Char char="✔"/>
            </a:pPr>
            <a:r>
              <a:rPr lang="en-US" sz="3200"/>
              <a:t>The delegate in turn calls the bound method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0099CC"/>
                </a:solidFill>
              </a:rPr>
              <a:t>  public delegate void EventHandler(object sender, EventArgs e);</a:t>
            </a: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Delegate …</a:t>
            </a:r>
            <a:endParaRPr/>
          </a:p>
        </p:txBody>
      </p:sp>
      <p:sp>
        <p:nvSpPr>
          <p:cNvPr id="178" name="Google Shape;178;p1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Delegates are used to hold a reference to the method that will handle an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For example,  an event occurs when a user clicks a button.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button raises a click event but </a:t>
            </a:r>
            <a:r>
              <a:rPr lang="en-US">
                <a:solidFill>
                  <a:srgbClr val="0099CC"/>
                </a:solidFill>
              </a:rPr>
              <a:t>does not know </a:t>
            </a:r>
            <a:r>
              <a:rPr lang="en-US"/>
              <a:t>what behavior  you, the programmer, want to occur  when the button is clicked,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so the button has a </a:t>
            </a:r>
            <a:r>
              <a:rPr lang="en-US">
                <a:solidFill>
                  <a:srgbClr val="0099CC"/>
                </a:solidFill>
              </a:rPr>
              <a:t>delegate</a:t>
            </a:r>
            <a:r>
              <a:rPr lang="en-US"/>
              <a:t> member to which you assign your own method for handling the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use the same infrastructure that is used by the .NET Framework to create your own delegates.</a:t>
            </a:r>
            <a:endParaRPr/>
          </a:p>
        </p:txBody>
      </p:sp>
      <p:sp>
        <p:nvSpPr>
          <p:cNvPr id="179" name="Google Shape;179;p1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80" name="Google Shape;180;p1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81" name="Google Shape;181;p1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Delegate …</a:t>
            </a:r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  delegate is a data structure, derived from the Delegate Class, which refers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 static method or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 class instance and an instance method of that class.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Delegates are useful when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your application must perform an action by calling a method but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do not know what that action will be.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Delegates allow you to specify at run time the method to be invoked.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Delegates are object-oriented, type-safe, and secure.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89" name="Google Shape;189;p1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90" name="Google Shape;190;p1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Delegate …</a:t>
            </a:r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By convention, event delegates in the .NET Framework have two parameters,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source that raised the event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data for the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following example shows an event delegate declaration: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</a:t>
            </a:r>
            <a:r>
              <a:rPr lang="en-US">
                <a:solidFill>
                  <a:srgbClr val="0099CC"/>
                </a:solidFill>
              </a:rPr>
              <a:t>public delegate void EventHandler(object sender, EventArgs e);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Event delegates are multicast,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which means that they can hold references to more than one event handling method.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Delegates allow for flexibility and fine-grain control in event handling.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 delegate acts as an event dispatcher for the class that raises the event by maintaining a list of registered event handlers for  the event. 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198" name="Google Shape;198;p1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Handler </a:t>
            </a:r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Event Handlers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Methods bound to an event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When the event is raised, the code within the event handler is executed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Two Event Arguments with Event Handlers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An object representing the object that raised the event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An event object containing any event-specific  information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CalculateGpag_Click(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sender, </a:t>
            </a:r>
            <a:r>
              <a:rPr lang="en-US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EventArgs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e)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handler …</a:t>
            </a: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use the same event handler  to handle more than one event.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For example, you can create a single event handler to handle events of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a button and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a menu item that are used for the same purpose.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following code example is an event handler for the Click event of a button. 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CalculateGpag_Click(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sender, </a:t>
            </a:r>
            <a:r>
              <a:rPr lang="en-US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EventArgs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e)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handler …</a:t>
            </a:r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following code example shows how you can use a single event handler to handle events for multiple controls.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// inside the Windows Form Designer generated code region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…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this.button1.Click += </a:t>
            </a:r>
            <a:r>
              <a:rPr lang="en-US">
                <a:solidFill>
                  <a:srgbClr val="0099CC"/>
                </a:solidFill>
              </a:rPr>
              <a:t>new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  System.EventHandler(</a:t>
            </a:r>
            <a:r>
              <a:rPr lang="en-US">
                <a:solidFill>
                  <a:srgbClr val="0099CC"/>
                </a:solidFill>
              </a:rPr>
              <a:t>this.button1_Click</a:t>
            </a:r>
            <a:r>
              <a:rPr lang="en-US"/>
              <a:t>);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// add the button2.click event to button1_click handler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this.button2.Click += </a:t>
            </a:r>
            <a:r>
              <a:rPr lang="en-US">
                <a:solidFill>
                  <a:srgbClr val="0099CC"/>
                </a:solidFill>
              </a:rPr>
              <a:t>new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  System.EventHandler(</a:t>
            </a:r>
            <a:r>
              <a:rPr lang="en-US">
                <a:solidFill>
                  <a:srgbClr val="0099CC"/>
                </a:solidFill>
              </a:rPr>
              <a:t>this.button1_Click</a:t>
            </a:r>
            <a:r>
              <a:rPr lang="en-US"/>
              <a:t>);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private void button1_Click(</a:t>
            </a:r>
            <a:r>
              <a:rPr lang="en-US">
                <a:solidFill>
                  <a:srgbClr val="0099CC"/>
                </a:solidFill>
              </a:rPr>
              <a:t>object</a:t>
            </a:r>
            <a:r>
              <a:rPr lang="en-US"/>
              <a:t> sender, </a:t>
            </a:r>
            <a:r>
              <a:rPr lang="en-US">
                <a:solidFill>
                  <a:srgbClr val="0099CC"/>
                </a:solidFill>
              </a:rPr>
              <a:t>System.EventArgs</a:t>
            </a:r>
            <a:r>
              <a:rPr lang="en-US"/>
              <a:t> e)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{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224" name="Google Shape;224;p1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Event handler …</a:t>
            </a:r>
            <a:endParaRPr/>
          </a:p>
        </p:txBody>
      </p:sp>
      <p:sp>
        <p:nvSpPr>
          <p:cNvPr id="232" name="Google Shape;232;p1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Each event handler provides two parameters that allow you to handle the event  properly.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first parameter (</a:t>
            </a:r>
            <a:r>
              <a:rPr lang="en-US">
                <a:solidFill>
                  <a:srgbClr val="33CCFF"/>
                </a:solidFill>
              </a:rPr>
              <a:t>Sender</a:t>
            </a:r>
            <a:r>
              <a:rPr lang="en-US"/>
              <a:t>   in the previous code example) provides a reference to the object that raised the event.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It specifies the source that raised the event.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second parameter (</a:t>
            </a:r>
            <a:r>
              <a:rPr lang="en-US">
                <a:solidFill>
                  <a:srgbClr val="33CCFF"/>
                </a:solidFill>
              </a:rPr>
              <a:t>e</a:t>
            </a:r>
            <a:r>
              <a:rPr lang="en-US"/>
              <a:t>  in the previous code example) passes an object specific to the event being handled.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This parameter contains all of the data that is required to handle the event.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33" name="Google Shape;233;p1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34" name="Google Shape;234;p1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35" name="Google Shape;235;p1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Developing Event Driven App</a:t>
            </a:r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Steps to develop a Windows based Event Driven System</a:t>
            </a:r>
            <a:endParaRPr/>
          </a:p>
          <a:p>
            <a:pPr marL="1028700" lvl="1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romanLcPeriod"/>
            </a:pPr>
            <a:r>
              <a:rPr lang="en-US"/>
              <a:t>Design the GUI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Drag/drop controls or using code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Set properties of controls at design time/ using code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At least some basic properties of Forms and Controls </a:t>
            </a:r>
            <a:endParaRPr/>
          </a:p>
          <a:p>
            <a:pPr marL="1028700" lvl="1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romanLcPeriod"/>
            </a:pPr>
            <a:r>
              <a:rPr lang="en-US"/>
              <a:t>Select Event(s) for forms and controls</a:t>
            </a:r>
            <a:endParaRPr/>
          </a:p>
          <a:p>
            <a:pPr marL="1492250" lvl="2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Select appropriate events for the forms and controls </a:t>
            </a:r>
            <a:endParaRPr/>
          </a:p>
          <a:p>
            <a:pPr marL="1028700" lvl="1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romanLcPeriod"/>
            </a:pPr>
            <a:r>
              <a:rPr lang="en-US"/>
              <a:t>Create delegate for the event</a:t>
            </a:r>
            <a:endParaRPr/>
          </a:p>
          <a:p>
            <a:pPr marL="1492250" lvl="2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The IDE does it automatically or you can specify by yourself if you want</a:t>
            </a:r>
            <a:endParaRPr/>
          </a:p>
          <a:p>
            <a:pPr marL="1028700" lvl="1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romanLcPeriod"/>
            </a:pPr>
            <a:r>
              <a:rPr lang="en-US"/>
              <a:t>Create event handler for controls</a:t>
            </a:r>
            <a:endParaRPr/>
          </a:p>
          <a:p>
            <a:pPr marL="1492250" lvl="2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The IDE does it automatically or you can specify by yourself if you want</a:t>
            </a:r>
            <a:endParaRPr/>
          </a:p>
          <a:p>
            <a:pPr marL="1028700" lvl="1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romanLcPeriod"/>
            </a:pPr>
            <a:r>
              <a:rPr lang="en-US"/>
              <a:t>Write the event handler </a:t>
            </a:r>
            <a:endParaRPr/>
          </a:p>
          <a:p>
            <a:pPr marL="1492250" lvl="2" indent="-571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Write the business logic code here </a:t>
            </a:r>
            <a:endParaRPr/>
          </a:p>
          <a:p>
            <a:pPr marL="149225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libri"/>
              <a:buNone/>
            </a:pP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44" name="Google Shape;244;p1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Design the GUI</a:t>
            </a:r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Windows Form Controls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Controls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Textbox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Label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Button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RichText 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RadioButton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Check 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Link Label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List View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Grid View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…</a:t>
            </a:r>
            <a:endParaRPr/>
          </a:p>
          <a:p>
            <a:pPr marL="795338" lvl="1" indent="-1603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 Controls</a:t>
            </a:r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Windows Forms controls are reusable components that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encapsulate user interface functionality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are used in  a Windows Forms application.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Not only does the .NET Framework Class Library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provide many ready-to-use controls,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also provides the infrastructure for developing your own controls. </a:t>
            </a:r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 Controls …</a:t>
            </a:r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Depending on the functionality that you want to provide in the user interface of your application,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will select a control from one of the following categories: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71" name="Google Shape;271;p2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72" name="Google Shape;27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8680" y="2340068"/>
            <a:ext cx="3579719" cy="359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 Controls …</a:t>
            </a:r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Command controls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Button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LinkLabel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NotifyIcon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ToolTip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Text controls enable users to enter text and edit the text contained in these controls at run time: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Textbox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Rich Textbox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following additional text controls can be used to display text but do not allow application users to directly edit the text content that they display: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Label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StatusBar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81" name="Google Shape;281;p2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 Controls …</a:t>
            </a:r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following selection controls allow users to select a value from a list: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CheckedListBox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ComboBox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DomainUpDown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ListBox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ListView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NumericUpDown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TreeView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following are the categories of menu controls: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MenuStrip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ContextMenu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 Controls …</a:t>
            </a:r>
            <a:endParaRPr/>
          </a:p>
        </p:txBody>
      </p:sp>
      <p:sp>
        <p:nvSpPr>
          <p:cNvPr id="296" name="Google Shape;296;p2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Container controls can be used to group other controls on a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Panel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GroupBox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TabControl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following are the categories of graphic controls: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ImageList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PictureBox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Visual Studio .NET provides a set of common dialog boxes. These include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ColorDialog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FontDialog  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PageSetupDialog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PrintDialog 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OpenFileDialog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SaveFileDialog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FolderBrowtherDialog</a:t>
            </a:r>
            <a:endParaRPr/>
          </a:p>
          <a:p>
            <a:pPr marL="463550" lvl="0" indent="-2908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298" name="Google Shape;298;p2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Working with Windows Forms</a:t>
            </a:r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 a Form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Adding controls to a Form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Organizing controls on a Form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MDI Applications</a:t>
            </a:r>
            <a:endParaRPr/>
          </a:p>
        </p:txBody>
      </p:sp>
      <p:sp>
        <p:nvSpPr>
          <p:cNvPr id="306" name="Google Shape;306;p2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08" name="Google Shape;308;p2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Forms</a:t>
            </a:r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Forms are the basic element of the user  interface (UI) in applications created for the Microsoft Windows operating system.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They provide a framework that you can use throughout your application to give it a consistent </a:t>
            </a:r>
            <a:r>
              <a:rPr lang="en-US" b="1"/>
              <a:t>look</a:t>
            </a:r>
            <a:r>
              <a:rPr lang="en-US"/>
              <a:t> and </a:t>
            </a:r>
            <a:r>
              <a:rPr lang="en-US" b="1"/>
              <a:t>feel</a:t>
            </a:r>
            <a:r>
              <a:rPr lang="en-US"/>
              <a:t>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 form in Windows-based applications is used to  present information to the user and to accept input from the user.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Forms expose properties that define their appearance, methods that define their  behavior, and events that define their interaction with the user. </a:t>
            </a:r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16" name="Google Shape;316;p2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17" name="Google Shape;317;p2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Forms …</a:t>
            </a:r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By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setting the properties of the form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writing code to respond to its events,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customizing the form to meet the requirements of your application.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 form is a control derived from the Form class,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which in turn derives from the Control class.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framework also allows you to inherit from existing forms to add  functionality or  modify existing behavior.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you add a form to your project,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choose whether it inherits from the Form class provided by the .NET Framework or  from a form you created previously.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24" name="Google Shape;324;p2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25" name="Google Shape;325;p2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26" name="Google Shape;326;p2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How to create a Form</a:t>
            </a:r>
            <a:endParaRPr/>
          </a:p>
        </p:txBody>
      </p:sp>
      <p:sp>
        <p:nvSpPr>
          <p:cNvPr id="332" name="Google Shape;332;p2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 base Form is created when you create a new project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add another new Form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Right-click the project on the solution explorer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Click Add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Then click Windows Forms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Forms …</a:t>
            </a:r>
            <a:endParaRPr/>
          </a:p>
        </p:txBody>
      </p:sp>
      <p:sp>
        <p:nvSpPr>
          <p:cNvPr id="341" name="Google Shape;341;p2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In a Windows-based application, the form is the primary element for user interaction.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By combining controls and your own actions, you can request information from the user and respond to it.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In Visual Studio .NET, a form is a window used in your application.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When you create a new Windows Application project, Visual Studio .NET provides a Designer  view that contains a form.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default form contains the minimum elements used by most forms: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 title bar,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 control box, and 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Minimize,  Maximize, and Close buttons. 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342" name="Google Shape;342;p2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43" name="Google Shape;343;p2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Windows Forms …</a:t>
            </a:r>
            <a:endParaRPr/>
          </a:p>
        </p:txBody>
      </p:sp>
      <p:sp>
        <p:nvSpPr>
          <p:cNvPr id="350" name="Google Shape;350;p2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Most applications require more than one window.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must add a form to your project for every window that your application requires.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</a:pPr>
            <a:r>
              <a:rPr lang="en-US" sz="2800" b="1"/>
              <a:t>To add additional forms to your project: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If Solution Explorer is not open, on the  </a:t>
            </a:r>
            <a:r>
              <a:rPr lang="en-US" b="1"/>
              <a:t>View</a:t>
            </a:r>
            <a:r>
              <a:rPr lang="en-US"/>
              <a:t> menu, click  </a:t>
            </a:r>
            <a:r>
              <a:rPr lang="en-US" b="1"/>
              <a:t>Solution</a:t>
            </a:r>
            <a:r>
              <a:rPr lang="en-US"/>
              <a:t> </a:t>
            </a:r>
            <a:r>
              <a:rPr lang="en-US" b="1"/>
              <a:t>Explorer</a:t>
            </a:r>
            <a:r>
              <a:rPr lang="en-US"/>
              <a:t> 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In Solution Explorer, </a:t>
            </a:r>
            <a:r>
              <a:rPr lang="en-US" b="1"/>
              <a:t>right-click</a:t>
            </a:r>
            <a:r>
              <a:rPr lang="en-US"/>
              <a:t> the project name, point to  </a:t>
            </a:r>
            <a:r>
              <a:rPr lang="en-US" b="1"/>
              <a:t>Add</a:t>
            </a:r>
            <a:r>
              <a:rPr lang="en-US"/>
              <a:t> , and then click </a:t>
            </a:r>
            <a:r>
              <a:rPr lang="en-US" b="1"/>
              <a:t>Windows Form</a:t>
            </a:r>
            <a:r>
              <a:rPr lang="en-US"/>
              <a:t>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In the  Add New Item dialog box, in the Name box, type an appropriate </a:t>
            </a:r>
            <a:r>
              <a:rPr lang="en-US" b="1"/>
              <a:t>name</a:t>
            </a:r>
            <a:r>
              <a:rPr lang="en-US"/>
              <a:t> for the form, and then click  </a:t>
            </a:r>
            <a:r>
              <a:rPr lang="en-US" b="1"/>
              <a:t>Open</a:t>
            </a:r>
            <a:r>
              <a:rPr lang="en-US"/>
              <a:t>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51" name="Google Shape;351;p2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Forms Properties </a:t>
            </a:r>
            <a:endParaRPr/>
          </a:p>
        </p:txBody>
      </p:sp>
      <p:sp>
        <p:nvSpPr>
          <p:cNvPr id="359" name="Google Shape;359;p3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60" name="Google Shape;360;p3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61" name="Google Shape;361;p3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62" name="Google Shape;362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46412" y="1135813"/>
            <a:ext cx="7595768" cy="4906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Properties …</a:t>
            </a:r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Name</a:t>
            </a:r>
            <a:r>
              <a:rPr lang="en-US"/>
              <a:t>:-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Sets the name of the form in your  project.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This is not the name that is displayed to the user in the caption bar but rather the name that  you will use in your code to reference the form.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AcceptButton: </a:t>
            </a:r>
            <a:r>
              <a:rPr lang="en-US"/>
              <a:t>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Sets which button is clicked when the user presses the ENTER  key.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i="1"/>
              <a:t>Note</a:t>
            </a:r>
            <a:r>
              <a:rPr lang="en-US"/>
              <a:t>: You must have at least one button on your form to use this property.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CancelButton: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Sets which button is clicked when the user presses the ESC key. 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i="1"/>
              <a:t>Note</a:t>
            </a:r>
            <a:r>
              <a:rPr lang="en-US"/>
              <a:t>: You must have at least one button on your form to use this property.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70" name="Google Shape;370;p3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Properties … </a:t>
            </a:r>
            <a:endParaRPr/>
          </a:p>
        </p:txBody>
      </p:sp>
      <p:sp>
        <p:nvSpPr>
          <p:cNvPr id="377" name="Google Shape;377;p3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ControlBox: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Determines whether a form displays a control box in the caption bar.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control box can contain the  Minimize button, Maximize button,  Help button, and the Close button.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FormBorderStyle: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Controls the appearance of the border for the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This will also affect how the caption bar appears and what buttons appear on it.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MaximizeBox: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Determines whether a form has a Maximizebutton in the upper right corner of its caption bar.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78" name="Google Shape;378;p3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Properties … </a:t>
            </a:r>
            <a:endParaRPr/>
          </a:p>
        </p:txBody>
      </p:sp>
      <p:sp>
        <p:nvSpPr>
          <p:cNvPr id="386" name="Google Shape;386;p3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MinimizeBox: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Determines whether a form has a Minimize button in the upper right corner of its caption bar.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StartPosition: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Determines the position of a form on the screen when it first appears.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Text; 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Sets the text displayed in the caption bar of the control.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set form properties either by writing </a:t>
            </a:r>
            <a:r>
              <a:rPr lang="en-US" b="1"/>
              <a:t>code</a:t>
            </a:r>
            <a:r>
              <a:rPr lang="en-US"/>
              <a:t> or by using the </a:t>
            </a:r>
            <a:r>
              <a:rPr lang="en-US" b="1"/>
              <a:t>Properties</a:t>
            </a:r>
            <a:r>
              <a:rPr lang="en-US"/>
              <a:t> window.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Any property settings that you establish at design time are used as the initial settings each time your application runs.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87" name="Google Shape;387;p3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88" name="Google Shape;388;p3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89" name="Google Shape;389;p3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events and methods </a:t>
            </a:r>
            <a:endParaRPr/>
          </a:p>
        </p:txBody>
      </p:sp>
      <p:sp>
        <p:nvSpPr>
          <p:cNvPr id="395" name="Google Shape;395;p3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After adding the necessary forms to your project and setting the startup form,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you must determine which events and methods to use.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entire life cycle of a form uses several methods and events.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When the Show()  method is called, the form events and methods are generally triggered in the following order: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Load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GotFocus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Activated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Closing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Closed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Deactivate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LostFocus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Dispose</a:t>
            </a:r>
            <a:endParaRPr/>
          </a:p>
        </p:txBody>
      </p:sp>
      <p:sp>
        <p:nvSpPr>
          <p:cNvPr id="396" name="Google Shape;396;p3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397" name="Google Shape;397;p3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398" name="Google Shape;398;p3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events and methods …</a:t>
            </a:r>
            <a:endParaRPr/>
          </a:p>
        </p:txBody>
      </p:sp>
      <p:sp>
        <p:nvSpPr>
          <p:cNvPr id="404" name="Google Shape;404;p3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 </a:t>
            </a:r>
            <a:r>
              <a:rPr lang="en-US" b="1">
                <a:solidFill>
                  <a:srgbClr val="00B0F0"/>
                </a:solidFill>
              </a:rPr>
              <a:t>Initialize</a:t>
            </a:r>
            <a:r>
              <a:rPr lang="en-US"/>
              <a:t>  event is typically used to prepare an application for use.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Variables are assigned to initial values, and controls may be moved or resized to accommodate initialization data.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In .NET, initialization code must be added to the form constructor after the call to </a:t>
            </a:r>
            <a:r>
              <a:rPr lang="en-US" b="1"/>
              <a:t>InitializeComponent</a:t>
            </a:r>
            <a:r>
              <a:rPr lang="en-US"/>
              <a:t>()  as shown in the following example: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public ConstructorName()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{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	// Required for Windows Form Designer support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         InitializeComponent(); 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  //   Add your initialization code here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}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05" name="Google Shape;405;p3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06" name="Google Shape;406;p3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07" name="Google Shape;407;p3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13" name="Google Shape;413;p3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solidFill>
                  <a:srgbClr val="00B0F0"/>
                </a:solidFill>
              </a:rPr>
              <a:t>Modal vs Modeless Forms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 b="1">
                <a:solidFill>
                  <a:srgbClr val="00B0F0"/>
                </a:solidFill>
              </a:rPr>
              <a:t>Modal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A form the one where you have to deal with it before you can continue.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 b="1">
                <a:solidFill>
                  <a:srgbClr val="00B0F0"/>
                </a:solidFill>
              </a:rPr>
              <a:t>Modeless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You can continue to use other without giving a response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Show</a:t>
            </a:r>
            <a:r>
              <a:rPr lang="en-US"/>
              <a:t>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 Show method includes an implied  </a:t>
            </a:r>
            <a:r>
              <a:rPr lang="en-US" b="1"/>
              <a:t>Load</a:t>
            </a:r>
            <a:r>
              <a:rPr lang="en-US"/>
              <a:t>;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this means that if the specified form is not already loaded when the  </a:t>
            </a:r>
            <a:r>
              <a:rPr lang="en-US" b="1"/>
              <a:t>Show</a:t>
            </a:r>
            <a:r>
              <a:rPr lang="en-US"/>
              <a:t> method is called, 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the application automatically loads the form into memory and then 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displays it to the user.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Show method can display forms as </a:t>
            </a:r>
            <a:r>
              <a:rPr lang="en-US" b="1"/>
              <a:t>modal</a:t>
            </a:r>
            <a:r>
              <a:rPr lang="en-US"/>
              <a:t> or </a:t>
            </a:r>
            <a:r>
              <a:rPr lang="en-US" b="1"/>
              <a:t>modeless</a:t>
            </a:r>
            <a:r>
              <a:rPr lang="en-US"/>
              <a:t>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example: </a:t>
            </a:r>
            <a:r>
              <a:rPr lang="en-US" sz="2000" i="1"/>
              <a:t>formInstanceName.Show();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You can use the </a:t>
            </a:r>
            <a:r>
              <a:rPr lang="en-US" b="1">
                <a:solidFill>
                  <a:srgbClr val="00B0F0"/>
                </a:solidFill>
              </a:rPr>
              <a:t>ShowDialog</a:t>
            </a:r>
            <a:r>
              <a:rPr lang="en-US"/>
              <a:t>()  method to show a form as a dialog box.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414" name="Google Shape;414;p3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15" name="Google Shape;415;p3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16" name="Google Shape;416;p3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Load</a:t>
            </a:r>
            <a:endParaRPr>
              <a:solidFill>
                <a:srgbClr val="00B0F0"/>
              </a:solidFill>
            </a:endParaRPr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Load event is used to perform actions that must occur before the form displays.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It is also used to assign default values to the form and its controls.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Load event occurs each time that a form is loaded into memory.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form’s Load event can run multiple times during an application’s life.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Load fires when a form starts as the result of the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Load statement,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Show statement, or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when a reference is made to an  unloaded form’s properties, methods, or controls.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23" name="Google Shape;423;p3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24" name="Google Shape;424;p3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25" name="Google Shape;425;p3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31" name="Google Shape;431;p3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Activated and Deactivate</a:t>
            </a:r>
            <a:endParaRPr b="1">
              <a:solidFill>
                <a:srgbClr val="00B0F0"/>
              </a:solidFill>
            </a:endParaRPr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When the user moves among two or more forms,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you can use the Activated and Deactivate events to define the forms’ behaviors.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Activated event occurs when the form is activated in code or by the user.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activate a form at run time by using code, call the Activate method.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use this event for tasks such as updating the contents of the form based on changes made to the form’s data when the form was not activated.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Activated event fires when the form receives focus from another form in the same project.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32" name="Google Shape;432;p3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33" name="Google Shape;433;p3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34" name="Google Shape;434;p3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40" name="Google Shape;440;p3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 Activated event fires only when the form is visible.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For example, a form loaded by using the Load statement isn’t visible unless you use the  Show method, or set the form’s Visible  property to  True.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 Activated event fires before the GotFocus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Use the following code to set the focus to a form. 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▪"/>
            </a:pPr>
            <a:r>
              <a:rPr lang="en-US" i="1"/>
              <a:t>formInstanceName.Focus</a:t>
            </a:r>
            <a:r>
              <a:rPr lang="en-US"/>
              <a:t>();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Deactivate fires when the form loses focus to another form. This event fires after the  LostFocus event.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Both the  Activated and  Deactivate events fire only when focus is changing within the same application.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If you switch to a different application and then return to the program, neither event fires. 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441" name="Google Shape;441;p3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42" name="Google Shape;442;p3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43" name="Google Shape;443;p3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49" name="Google Shape;449;p4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Closing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Closing event is useful when you need to know how the user is closing the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Closing event occurs when the form receives a request to close.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Data validation can occur at this time.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If there is a need to keep the form open (for example, if data validation fails), the closing event can be canceled.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Note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If you need to add code that executes either when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form being displayed or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form is being hidden 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add the code to the </a:t>
            </a:r>
            <a:r>
              <a:rPr lang="en-US">
                <a:solidFill>
                  <a:srgbClr val="33CCFF"/>
                </a:solidFill>
              </a:rPr>
              <a:t>Activated</a:t>
            </a:r>
            <a:r>
              <a:rPr lang="en-US"/>
              <a:t> and </a:t>
            </a:r>
            <a:r>
              <a:rPr lang="en-US">
                <a:solidFill>
                  <a:srgbClr val="33CCFF"/>
                </a:solidFill>
              </a:rPr>
              <a:t>Deactivated</a:t>
            </a:r>
            <a:r>
              <a:rPr lang="en-US"/>
              <a:t> event handlers instead of to the </a:t>
            </a:r>
            <a:r>
              <a:rPr lang="en-US">
                <a:solidFill>
                  <a:srgbClr val="33CCFF"/>
                </a:solidFill>
              </a:rPr>
              <a:t>GotFocus </a:t>
            </a:r>
            <a:r>
              <a:rPr lang="en-US"/>
              <a:t>and </a:t>
            </a:r>
            <a:r>
              <a:rPr lang="en-US">
                <a:solidFill>
                  <a:srgbClr val="33CCFF"/>
                </a:solidFill>
              </a:rPr>
              <a:t>LostFocus </a:t>
            </a:r>
            <a:r>
              <a:rPr lang="en-US"/>
              <a:t>event handlers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50" name="Google Shape;450;p4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51" name="Google Shape;451;p4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52" name="Google Shape;452;p4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58" name="Google Shape;458;p4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Closed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Closed  event occurs when the form is closed and before the  Dispose event.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Use the Closed  event procedure to verify that the form should be closed or to specify actions that take place when closing the form.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also include form-level validation code for closing the form or saving data to a file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59" name="Google Shape;459;p4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60" name="Google Shape;460;p4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61" name="Google Shape;461;p4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>
            <a:spLocks noGrp="1"/>
          </p:cNvSpPr>
          <p:nvPr>
            <p:ph type="title"/>
          </p:nvPr>
        </p:nvSpPr>
        <p:spPr>
          <a:xfrm>
            <a:off x="357809" y="192652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Dispose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.NET framework does not support the Terminate event.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Termination code must execute inside the Dispose method, before the call to  base.Dispose().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protected override void Dispose( bool disposing )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{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 // Termination code goes here.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if( disposing )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{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   if (components != null)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  {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  components.Dispose();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  }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}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base.Dispose( disposing );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/>
              <a:t>} 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 Dispose method is called automatically for the main form in an application;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you must call it explicitly for any other form.</a:t>
            </a:r>
            <a:endParaRPr/>
          </a:p>
          <a:p>
            <a:pPr marL="463550" lvl="0" indent="-2908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468" name="Google Shape;468;p4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69" name="Google Shape;469;p4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70" name="Google Shape;470;p4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Methods …</a:t>
            </a:r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Hide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 Hide method removes a form from the  screen without removing it from memory.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hidden form’s controls are not accessible to the user, but they are available to the running application.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When a form is hidden , the user cannot interact with the application until all code  in the event procedure that caused the form to be hidden has finished executing.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If the form is not already loaded into memory when the  Hide method is called,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 Hide method loads the form but doesn’t display it. 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 i="1">
                <a:solidFill>
                  <a:srgbClr val="33CCFF"/>
                </a:solidFill>
              </a:rPr>
              <a:t>formInstanceName</a:t>
            </a:r>
            <a:r>
              <a:rPr lang="en-US">
                <a:solidFill>
                  <a:srgbClr val="33CCFF"/>
                </a:solidFill>
              </a:rPr>
              <a:t>.Hide();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477" name="Google Shape;477;p4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78" name="Google Shape;478;p4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79" name="Google Shape;479;p4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How to Handle Form Events</a:t>
            </a:r>
            <a:endParaRPr/>
          </a:p>
        </p:txBody>
      </p:sp>
      <p:sp>
        <p:nvSpPr>
          <p:cNvPr id="485" name="Google Shape;485;p4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486" name="Google Shape;486;p4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487" name="Google Shape;487;p4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488" name="Google Shape;488;p44" descr="properti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162" y="1713899"/>
            <a:ext cx="4240869" cy="464244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 descr="Events"/>
          <p:cNvSpPr/>
          <p:nvPr/>
        </p:nvSpPr>
        <p:spPr>
          <a:xfrm>
            <a:off x="7323592" y="1082074"/>
            <a:ext cx="1752600" cy="533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4" descr="Events"/>
          <p:cNvSpPr/>
          <p:nvPr/>
        </p:nvSpPr>
        <p:spPr>
          <a:xfrm>
            <a:off x="2478156" y="1108230"/>
            <a:ext cx="1752600" cy="533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44"/>
          <p:cNvCxnSpPr/>
          <p:nvPr/>
        </p:nvCxnSpPr>
        <p:spPr>
          <a:xfrm flipH="1">
            <a:off x="6122651" y="1374930"/>
            <a:ext cx="1179102" cy="108588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2" name="Google Shape;492;p44"/>
          <p:cNvCxnSpPr/>
          <p:nvPr/>
        </p:nvCxnSpPr>
        <p:spPr>
          <a:xfrm>
            <a:off x="4230756" y="1438233"/>
            <a:ext cx="1564926" cy="102257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Events …</a:t>
            </a:r>
            <a:endParaRPr/>
          </a:p>
        </p:txBody>
      </p:sp>
      <p:sp>
        <p:nvSpPr>
          <p:cNvPr id="498" name="Google Shape;498;p4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An </a:t>
            </a:r>
            <a:r>
              <a:rPr lang="en-US" b="1" i="1">
                <a:solidFill>
                  <a:srgbClr val="00B0F0"/>
                </a:solidFill>
              </a:rPr>
              <a:t>event handler  </a:t>
            </a:r>
            <a:r>
              <a:rPr lang="en-US"/>
              <a:t>is a segment of code that is called when a corresponding event occurs.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For example,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&gt;"/>
            </a:pPr>
            <a:r>
              <a:rPr lang="en-US"/>
              <a:t>you can write code in an event handler for the Activated event of a form </a:t>
            </a:r>
            <a:endParaRPr/>
          </a:p>
          <a:p>
            <a:pPr marL="1484313" lvl="3" indent="-2190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to perform operations such as updating the data displayed in the controls of the form when the form is activated.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.NET Framework uses a standard naming </a:t>
            </a:r>
            <a:r>
              <a:rPr lang="en-US">
                <a:solidFill>
                  <a:srgbClr val="33CCFF"/>
                </a:solidFill>
              </a:rPr>
              <a:t>convention</a:t>
            </a:r>
            <a:r>
              <a:rPr lang="en-US"/>
              <a:t> for event handlers.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</a:t>
            </a:r>
            <a:r>
              <a:rPr lang="en-US" i="1">
                <a:solidFill>
                  <a:srgbClr val="33CCFF"/>
                </a:solidFill>
              </a:rPr>
              <a:t>convention</a:t>
            </a:r>
            <a:r>
              <a:rPr lang="en-US">
                <a:solidFill>
                  <a:srgbClr val="33CCFF"/>
                </a:solidFill>
              </a:rPr>
              <a:t> </a:t>
            </a:r>
            <a:r>
              <a:rPr lang="en-US"/>
              <a:t>is to combine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</a:t>
            </a:r>
            <a:r>
              <a:rPr lang="en-US" i="1">
                <a:solidFill>
                  <a:srgbClr val="33CCFF"/>
                </a:solidFill>
              </a:rPr>
              <a:t>name of the object </a:t>
            </a:r>
            <a:r>
              <a:rPr lang="en-US"/>
              <a:t>that sends the event,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an </a:t>
            </a:r>
            <a:r>
              <a:rPr lang="en-US" i="1">
                <a:solidFill>
                  <a:srgbClr val="33CCFF"/>
                </a:solidFill>
              </a:rPr>
              <a:t>underscore</a:t>
            </a:r>
            <a:r>
              <a:rPr lang="en-US"/>
              <a:t>,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</a:t>
            </a:r>
            <a:r>
              <a:rPr lang="en-US">
                <a:solidFill>
                  <a:srgbClr val="33CCFF"/>
                </a:solidFill>
              </a:rPr>
              <a:t> </a:t>
            </a:r>
            <a:r>
              <a:rPr lang="en-US" i="1">
                <a:solidFill>
                  <a:srgbClr val="33CCFF"/>
                </a:solidFill>
              </a:rPr>
              <a:t>name of the event</a:t>
            </a:r>
            <a:r>
              <a:rPr lang="en-US"/>
              <a:t>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For example, the  Click event of a form named Form1 would be named  </a:t>
            </a:r>
            <a:r>
              <a:rPr lang="en-US" b="1" i="1">
                <a:solidFill>
                  <a:srgbClr val="33CCFF"/>
                </a:solidFill>
              </a:rPr>
              <a:t>Form1_Click</a:t>
            </a:r>
            <a:r>
              <a:rPr lang="en-US"/>
              <a:t> .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499" name="Google Shape;499;p4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00" name="Google Shape;500;p4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01" name="Google Shape;501;p4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Form Events …</a:t>
            </a:r>
            <a:endParaRPr/>
          </a:p>
        </p:txBody>
      </p:sp>
      <p:sp>
        <p:nvSpPr>
          <p:cNvPr id="507" name="Google Shape;507;p4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 sz="2800"/>
              <a:t>Open the Properties windows for the form for which you want to add an event handler.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 sz="2800"/>
              <a:t>Click the Event icon         in the Properties window to view the events.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 sz="2800"/>
              <a:t>Double-click the event to add an event handler.</a:t>
            </a:r>
            <a:endParaRPr/>
          </a:p>
          <a:p>
            <a:pPr marL="74295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✔"/>
            </a:pPr>
            <a:r>
              <a:rPr lang="en-US" sz="2400"/>
              <a:t>When you create a form by using Windows Forms Designer, </a:t>
            </a:r>
            <a:endParaRPr sz="2400"/>
          </a:p>
          <a:p>
            <a:pPr marL="12065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&gt;"/>
            </a:pPr>
            <a:r>
              <a:rPr lang="en-US" sz="2000"/>
              <a:t>the Designer generates a lot of code that you would have to write if you were creating a form on your own.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Note: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Avoid modifying or deleting the Windows Forms Designer generated code.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If you do, can end up with errors in your project</a:t>
            </a:r>
            <a:endParaRPr/>
          </a:p>
        </p:txBody>
      </p:sp>
      <p:sp>
        <p:nvSpPr>
          <p:cNvPr id="508" name="Google Shape;508;p4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09" name="Google Shape;509;p4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10" name="Google Shape;510;p4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511" name="Google Shape;511;p46" descr="eventic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7929" y="1846730"/>
            <a:ext cx="5334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Add Controls to a Form</a:t>
            </a:r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19" name="Google Shape;519;p4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520" name="Google Shape;520;p47" descr="toolbox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2589" y="914459"/>
            <a:ext cx="4191000" cy="54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7" descr="for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2189" y="1828858"/>
            <a:ext cx="37338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7"/>
          <p:cNvSpPr/>
          <p:nvPr/>
        </p:nvSpPr>
        <p:spPr>
          <a:xfrm rot="635347">
            <a:off x="3215271" y="2214675"/>
            <a:ext cx="5109841" cy="879292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to a Form …</a:t>
            </a:r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Controls are objects that are contained in form objects.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Buttons, TextBoxes, and Labels are examples of controls.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There are two ways to add controls to a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first way allows you to add several controls quickly and then size and position them individually.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second way gives you more initial control over the size and position of the control.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29" name="Google Shape;529;p4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30" name="Google Shape;530;p4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to a Form …</a:t>
            </a:r>
            <a:endParaRPr/>
          </a:p>
        </p:txBody>
      </p:sp>
      <p:sp>
        <p:nvSpPr>
          <p:cNvPr id="537" name="Google Shape;537;p4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rgbClr val="00B0F0"/>
                </a:solidFill>
              </a:rPr>
              <a:t>To add controls to a form and then size and position them:</a:t>
            </a:r>
            <a:endParaRPr>
              <a:solidFill>
                <a:srgbClr val="00B0F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If the Toolbox is not open, on the  View menu, click Toolbox. 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In the Toolbox, double-click the control that you want to add.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This places an instance of the control at the default size in the upper left corner of the active object.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When adding multiple controls in this manner, they are placed on top of each other.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After the controls are added, you can reposition and resize them: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reposition the control, click the control to select it, and then drag the control to the correct position.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resize the control, click the control to select it, drag one of the eight sizing handles until the control is properly sized.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38" name="Google Shape;538;p4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39" name="Google Shape;539;p4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40" name="Google Shape;540;p4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to a Form …</a:t>
            </a:r>
            <a:endParaRPr/>
          </a:p>
        </p:txBody>
      </p:sp>
      <p:sp>
        <p:nvSpPr>
          <p:cNvPr id="546" name="Google Shape;546;p5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rgbClr val="00B0F0"/>
                </a:solidFill>
              </a:rPr>
              <a:t>To size and position controls while you add them to a form:</a:t>
            </a:r>
            <a:endParaRPr>
              <a:solidFill>
                <a:srgbClr val="00B0F0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If the Toolbox is not open, on the  View menu, click Toolbox. 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In the Toolbox, click the control that you want to add.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Move the mouse pointer over the form.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pointer symbol changes to a crosshair.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Position the crosshair where you want the upper left corner of the control.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Click and drag the crosshair where you want the lower right corner.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rectangle that indicates the control’s size and location is drawn on the screen.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47" name="Google Shape;547;p5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48" name="Google Shape;548;p5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49" name="Google Shape;549;p5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to a Form …</a:t>
            </a:r>
            <a:endParaRPr/>
          </a:p>
        </p:txBody>
      </p:sp>
      <p:sp>
        <p:nvSpPr>
          <p:cNvPr id="555" name="Google Shape;555;p5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 startAt="6"/>
            </a:pPr>
            <a:r>
              <a:rPr lang="en-US"/>
              <a:t>When the control is correctly sized, release the mouse button.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sized control appears in the correct location on the form.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 startAt="6"/>
            </a:pPr>
            <a:r>
              <a:rPr lang="en-US"/>
              <a:t>You can reposition or resize the control after you have released the mouse button: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reposition the control, click the control to select it, and then drag the control to the correct position.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resize the control, click the control to select it, and drag one of the eight sizing handles until the control is properly sized.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56" name="Google Shape;556;p5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57" name="Google Shape;557;p5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58" name="Google Shape;558;p5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How to Add Menus to a Form </a:t>
            </a:r>
            <a:endParaRPr/>
          </a:p>
        </p:txBody>
      </p:sp>
      <p:sp>
        <p:nvSpPr>
          <p:cNvPr id="564" name="Google Shape;564;p5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Menus provide a structured way for users to access the commands and tools contained in an application.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Proper planning and design of menus and toolbars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is essential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ensures proper functionality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accessibility of your application to users.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65" name="Google Shape;565;p5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66" name="Google Shape;566;p5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67" name="Google Shape;567;p5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Menu to a form …</a:t>
            </a:r>
            <a:endParaRPr/>
          </a:p>
        </p:txBody>
      </p:sp>
      <p:sp>
        <p:nvSpPr>
          <p:cNvPr id="573" name="Google Shape;573;p5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74" name="Google Shape;574;p5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75" name="Google Shape;575;p5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pic>
        <p:nvPicPr>
          <p:cNvPr id="576" name="Google Shape;576;p53" descr="menu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156" y="1037413"/>
            <a:ext cx="6804212" cy="5103159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3"/>
          <p:cNvSpPr/>
          <p:nvPr/>
        </p:nvSpPr>
        <p:spPr>
          <a:xfrm rot="-6157926">
            <a:off x="5601485" y="1831109"/>
            <a:ext cx="356925" cy="2115497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Menu to a form …</a:t>
            </a:r>
            <a:endParaRPr/>
          </a:p>
        </p:txBody>
      </p:sp>
      <p:sp>
        <p:nvSpPr>
          <p:cNvPr id="583" name="Google Shape;583;p5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82612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⮚"/>
            </a:pPr>
            <a:r>
              <a:rPr lang="en-US"/>
              <a:t>A menu control properties</a:t>
            </a:r>
            <a:endParaRPr b="1"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b="1">
                <a:solidFill>
                  <a:srgbClr val="00B0F0"/>
                </a:solidFill>
              </a:rPr>
              <a:t>Name</a:t>
            </a:r>
            <a:endParaRPr>
              <a:solidFill>
                <a:srgbClr val="00B0F0"/>
              </a:solidFill>
            </a:endParaRPr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identifies the menu control in code.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b="1">
                <a:solidFill>
                  <a:srgbClr val="00B0F0"/>
                </a:solidFill>
              </a:rPr>
              <a:t>Text</a:t>
            </a:r>
            <a:endParaRPr>
              <a:solidFill>
                <a:srgbClr val="00B0F0"/>
              </a:solidFill>
            </a:endParaRPr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text that appears on the menu bar at run time.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b="1">
                <a:solidFill>
                  <a:srgbClr val="00B0F0"/>
                </a:solidFill>
              </a:rPr>
              <a:t>Items</a:t>
            </a:r>
            <a:endParaRPr>
              <a:solidFill>
                <a:srgbClr val="00B0F0"/>
              </a:solidFill>
            </a:endParaRPr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collection of items to display on the Toolstrips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add menus to a form: </a:t>
            </a:r>
            <a:endParaRPr/>
          </a:p>
          <a:p>
            <a:pPr marL="1343660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/>
              <a:t>If the Toolbox is not open, on the  View menu, click Toolbox. </a:t>
            </a:r>
            <a:endParaRPr/>
          </a:p>
          <a:p>
            <a:pPr marL="1343660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/>
              <a:t>In the Toolbox, double-click the MenuStrip control.  </a:t>
            </a:r>
            <a:endParaRPr/>
          </a:p>
          <a:p>
            <a:pPr marL="1343660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/>
              <a:t>In the  Text box, on the newly created menu, type the text for the first menu’s title. This title will appear on the menu bar.  </a:t>
            </a:r>
            <a:endParaRPr/>
          </a:p>
          <a:p>
            <a:pPr marL="1343660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/>
              <a:t>In the  Name box, in the Properties window, type the name that you will use to refer to the menu control in code.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84" name="Google Shape;584;p5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85" name="Google Shape;585;p5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86" name="Google Shape;586;p5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Customize the Controls Toolbox</a:t>
            </a:r>
            <a:endParaRPr/>
          </a:p>
        </p:txBody>
      </p:sp>
      <p:sp>
        <p:nvSpPr>
          <p:cNvPr id="592" name="Google Shape;592;p5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Customize the Controls Toolbox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Right-click the Toolbox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Click-Choose Items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Click the .NET Framework Components  tab or the  COM Components tab,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select the required controls.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593" name="Google Shape;593;p5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594" name="Google Shape;594;p5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595" name="Google Shape;595;p5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a Form and Adding Controls</a:t>
            </a:r>
            <a:endParaRPr/>
          </a:p>
        </p:txBody>
      </p:sp>
      <p:sp>
        <p:nvSpPr>
          <p:cNvPr id="601" name="Google Shape;601;p5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Set the properties of a form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Create a new project with name- </a:t>
            </a:r>
            <a:r>
              <a:rPr lang="en-US">
                <a:solidFill>
                  <a:srgbClr val="00B0F0"/>
                </a:solidFill>
              </a:rPr>
              <a:t>CreatingForms</a:t>
            </a:r>
            <a:endParaRPr>
              <a:solidFill>
                <a:srgbClr val="00B0F0"/>
              </a:solidFill>
            </a:endParaRPr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Open the </a:t>
            </a:r>
            <a:r>
              <a:rPr lang="en-US">
                <a:solidFill>
                  <a:srgbClr val="00B0F0"/>
                </a:solidFill>
              </a:rPr>
              <a:t>CreatingForms.cs</a:t>
            </a:r>
            <a:r>
              <a:rPr lang="en-US"/>
              <a:t> file in Design view. 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the Properties window is not visible, on the  View menu, click Properties Window. 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Set the remaining form properties to the indicated values.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02" name="Google Shape;602;p5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03" name="Google Shape;603;p5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04" name="Google Shape;604;p5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605" name="Google Shape;60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8659" y="3536577"/>
            <a:ext cx="64008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to a form</a:t>
            </a:r>
            <a:endParaRPr/>
          </a:p>
        </p:txBody>
      </p:sp>
      <p:sp>
        <p:nvSpPr>
          <p:cNvPr id="611" name="Google Shape;611;p5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Add controls to the form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the Toolbox is not visible, on the  View menu, click Toolbox.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In the Toolbox, double-click the </a:t>
            </a:r>
            <a:r>
              <a:rPr lang="en-US" b="1"/>
              <a:t>Label</a:t>
            </a:r>
            <a:r>
              <a:rPr lang="en-US"/>
              <a:t> control to add it to the form.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Double-click the  </a:t>
            </a:r>
            <a:r>
              <a:rPr lang="en-US" b="1"/>
              <a:t>Button</a:t>
            </a:r>
            <a:r>
              <a:rPr lang="en-US"/>
              <a:t>  control to add it to the form.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Double-click the  </a:t>
            </a:r>
            <a:r>
              <a:rPr lang="en-US" b="1"/>
              <a:t>Button</a:t>
            </a:r>
            <a:r>
              <a:rPr lang="en-US"/>
              <a:t>  control again to add a second button to the form.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Position the Label control near the top center of the form.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Position the buttons next to each other near the bottom of the form—with button</a:t>
            </a:r>
            <a:r>
              <a:rPr lang="en-US" b="1" u="sng"/>
              <a:t>1</a:t>
            </a:r>
            <a:r>
              <a:rPr lang="en-US"/>
              <a:t> on the left and  button</a:t>
            </a:r>
            <a:r>
              <a:rPr lang="en-US" b="1" u="sng"/>
              <a:t>2</a:t>
            </a:r>
            <a:r>
              <a:rPr lang="en-US"/>
              <a:t>  on the right.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12" name="Google Shape;612;p5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13" name="Google Shape;613;p5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14" name="Google Shape;614;p5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Properties </a:t>
            </a:r>
            <a:endParaRPr/>
          </a:p>
        </p:txBody>
      </p:sp>
      <p:sp>
        <p:nvSpPr>
          <p:cNvPr id="620" name="Google Shape;620;p5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Set the properties of the controls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Click the  Label1  control.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Set the following properties for the Label1  control to the values provided.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21" name="Google Shape;621;p5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22" name="Google Shape;622;p5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23" name="Google Shape;623;p5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624" name="Google Shape;62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9679" y="2393948"/>
            <a:ext cx="7502877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Properties …</a:t>
            </a:r>
            <a:endParaRPr/>
          </a:p>
        </p:txBody>
      </p:sp>
      <p:sp>
        <p:nvSpPr>
          <p:cNvPr id="630" name="Google Shape;630;p5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46138" lvl="1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 startAt="3"/>
            </a:pPr>
            <a:r>
              <a:rPr lang="en-US"/>
              <a:t>Click Button1.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 startAt="3"/>
            </a:pPr>
            <a:r>
              <a:rPr lang="en-US"/>
              <a:t>Set the following properties for the Button1 control to the values provided in the following table.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31" name="Google Shape;631;p5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32" name="Google Shape;632;p5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33" name="Google Shape;633;p5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634" name="Google Shape;63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8588" y="2649070"/>
            <a:ext cx="587828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Properties </a:t>
            </a:r>
            <a:endParaRPr/>
          </a:p>
        </p:txBody>
      </p:sp>
      <p:sp>
        <p:nvSpPr>
          <p:cNvPr id="640" name="Google Shape;640;p6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46138" lvl="1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 startAt="5"/>
            </a:pPr>
            <a:r>
              <a:rPr lang="en-US"/>
              <a:t>Click Button2.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 startAt="5"/>
            </a:pPr>
            <a:r>
              <a:rPr lang="en-US"/>
              <a:t>Set the following properties for the Button2 control to the values provided in the following table.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41" name="Google Shape;641;p6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42" name="Google Shape;642;p6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43" name="Google Shape;643;p6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644" name="Google Shape;64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8510" y="2641599"/>
            <a:ext cx="6088063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Controls Properties </a:t>
            </a:r>
            <a:endParaRPr/>
          </a:p>
        </p:txBody>
      </p:sp>
      <p:sp>
        <p:nvSpPr>
          <p:cNvPr id="650" name="Google Shape;650;p6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846138" lvl="1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Double-click the  Say Hello button to create the Click event handler.</a:t>
            </a:r>
            <a:endParaRPr/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Calibri"/>
              <a:buAutoNum type="arabicPeriod" startAt="7"/>
            </a:pPr>
            <a:r>
              <a:rPr lang="en-US" sz="2600"/>
              <a:t>In the  Click event handler for HelloButton, add the following line of code: </a:t>
            </a:r>
            <a:endParaRPr/>
          </a:p>
          <a:p>
            <a:pPr marL="795338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00"/>
              <a:buNone/>
            </a:pPr>
            <a:r>
              <a:rPr lang="en-US" sz="2600">
                <a:solidFill>
                  <a:srgbClr val="00B0F0"/>
                </a:solidFill>
              </a:rPr>
              <a:t>OutputLabel.Text = "Hello, World!"; </a:t>
            </a:r>
            <a:endParaRPr/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Switch back to Design view of the form. </a:t>
            </a:r>
            <a:endParaRPr/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Double click the  Exit  button to create the Click event handler. </a:t>
            </a:r>
            <a:endParaRPr/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In the  Click event handler for  ExitButton , add the following line of code: 	</a:t>
            </a:r>
            <a:endParaRPr sz="3000"/>
          </a:p>
          <a:p>
            <a:pPr marL="795338" lvl="2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00"/>
              <a:buNone/>
            </a:pPr>
            <a:r>
              <a:rPr lang="en-US" sz="2600">
                <a:solidFill>
                  <a:srgbClr val="00B0F0"/>
                </a:solidFill>
              </a:rPr>
              <a:t>this.Close(); </a:t>
            </a:r>
            <a:endParaRPr sz="2600">
              <a:solidFill>
                <a:srgbClr val="00B0F0"/>
              </a:solidFill>
            </a:endParaRPr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Switch back to Design view of the form. </a:t>
            </a:r>
            <a:endParaRPr/>
          </a:p>
          <a:p>
            <a:pPr marL="846138" lvl="1" indent="-514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00"/>
              <a:buFont typeface="Calibri"/>
              <a:buAutoNum type="arabicPeriod" startAt="7"/>
            </a:pPr>
            <a:r>
              <a:rPr lang="en-US" sz="3000"/>
              <a:t>Set the </a:t>
            </a:r>
            <a:r>
              <a:rPr lang="en-US" sz="3000">
                <a:solidFill>
                  <a:srgbClr val="00B0F0"/>
                </a:solidFill>
              </a:rPr>
              <a:t>AcceptButton</a:t>
            </a:r>
            <a:r>
              <a:rPr lang="en-US" sz="3000"/>
              <a:t>  property to  HelloButton and the  </a:t>
            </a:r>
            <a:r>
              <a:rPr lang="en-US" sz="3000">
                <a:solidFill>
                  <a:srgbClr val="00B0F0"/>
                </a:solidFill>
              </a:rPr>
              <a:t>CancelButton</a:t>
            </a:r>
            <a:r>
              <a:rPr lang="en-US" sz="3000"/>
              <a:t>  </a:t>
            </a:r>
            <a:r>
              <a:rPr lang="en-US"/>
              <a:t>property to  ExitButton . 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51" name="Google Shape;651;p6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52" name="Google Shape;652;p6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53" name="Google Shape;653;p6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Build App</a:t>
            </a:r>
            <a:endParaRPr/>
          </a:p>
        </p:txBody>
      </p:sp>
      <p:sp>
        <p:nvSpPr>
          <p:cNvPr id="659" name="Google Shape;659;p6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 Build and run the application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1. To build the application, click the  Build menu, and  then click  Build Solution 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2. Run the application by pressing F5.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60" name="Google Shape;660;p6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61" name="Google Shape;661;p6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62" name="Google Shape;662;p6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an Inherited Form </a:t>
            </a:r>
            <a:endParaRPr/>
          </a:p>
        </p:txBody>
      </p:sp>
      <p:sp>
        <p:nvSpPr>
          <p:cNvPr id="668" name="Google Shape;668;p6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Creating new Windows Forms by inheriting from base forms is an efficient way to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duplicate your best efforts without going through the process of entirely recreating a form every time you require it.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process of inheriting a form from an existing one is called </a:t>
            </a:r>
            <a:r>
              <a:rPr lang="en-US" b="1" i="1">
                <a:solidFill>
                  <a:srgbClr val="00B0F0"/>
                </a:solidFill>
              </a:rPr>
              <a:t>Visual Inheritance</a:t>
            </a:r>
            <a:r>
              <a:rPr lang="en-US"/>
              <a:t>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Access Modifiers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>
                <a:solidFill>
                  <a:srgbClr val="00B0F0"/>
                </a:solidFill>
              </a:rPr>
              <a:t>Private</a:t>
            </a:r>
            <a:r>
              <a:rPr lang="en-US"/>
              <a:t>:- Read-only to a child form, all of its property values in the property browser are disabled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>
                <a:solidFill>
                  <a:srgbClr val="00B0F0"/>
                </a:solidFill>
              </a:rPr>
              <a:t>Protected</a:t>
            </a:r>
            <a:r>
              <a:rPr lang="en-US"/>
              <a:t>:- Accessible within the class and from any class that inherits from the class that declared this member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>
                <a:solidFill>
                  <a:srgbClr val="00B0F0"/>
                </a:solidFill>
              </a:rPr>
              <a:t>Public</a:t>
            </a:r>
            <a:r>
              <a:rPr lang="en-US"/>
              <a:t>:-Most permissive level.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/>
              <a:t>Public controls have full accessibility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69" name="Google Shape;669;p6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70" name="Google Shape;670;p6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71" name="Google Shape;671;p6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Inherited Forms …</a:t>
            </a:r>
            <a:endParaRPr/>
          </a:p>
        </p:txBody>
      </p:sp>
      <p:sp>
        <p:nvSpPr>
          <p:cNvPr id="677" name="Google Shape;677;p6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There are two ways of implementing Visual Inheritance in a Visual Studio .NET project.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create an inherited form programmatically: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Create a new project in Visual Studio .NET.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Add another form, or view the code of Form1, which is created by default.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In the class definition, add a reference to the form to inherit from. </a:t>
            </a:r>
            <a:endParaRPr/>
          </a:p>
          <a:p>
            <a:pPr marL="1435100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reference should include the namespace that contains the form, followed by a period, and then the name of the base form itself. </a:t>
            </a:r>
            <a:endParaRPr/>
          </a:p>
          <a:p>
            <a:pPr marL="1265238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B0F0"/>
                </a:solidFill>
              </a:rPr>
              <a:t>public class Form2 : Namespace1.Form1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form now takes on the characteristics of the inherited form.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It contains the controls that were on the inherited form, the code, and the properties.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78" name="Google Shape;678;p6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79" name="Google Shape;679;p6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80" name="Google Shape;680;p6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Inherited Forms …</a:t>
            </a:r>
            <a:endParaRPr/>
          </a:p>
        </p:txBody>
      </p:sp>
      <p:sp>
        <p:nvSpPr>
          <p:cNvPr id="686" name="Google Shape;686;p6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create an inherited form by using the Inheritance Picker  dialog box: 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On the  Project menu, click Add Windows Form .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In the Categories pane, click Windows Form Items, and in the Templates pane, click Inherited Form . </a:t>
            </a:r>
            <a:endParaRPr/>
          </a:p>
          <a:p>
            <a:pPr marL="1313942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In the Name box, type a name, and then click Open. </a:t>
            </a:r>
            <a:endParaRPr/>
          </a:p>
          <a:p>
            <a:pPr marL="1313942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This will open the Inheritance Picker  dialog box.</a:t>
            </a:r>
            <a:endParaRPr/>
          </a:p>
          <a:p>
            <a:pPr marL="850392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Click Browse, and locate the compiled executable of the project that contains your form. </a:t>
            </a:r>
            <a:endParaRPr/>
          </a:p>
          <a:p>
            <a:pPr marL="1313942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Click  OK. </a:t>
            </a:r>
            <a:endParaRPr/>
          </a:p>
          <a:p>
            <a:pPr marL="1313942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new form should now be added into the project and be based on your inherited form. </a:t>
            </a:r>
            <a:endParaRPr/>
          </a:p>
          <a:p>
            <a:pPr marL="1313942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It contains the controls on the base form.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687" name="Google Shape;687;p6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88" name="Google Shape;688;p6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89" name="Google Shape;689;p6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on a Form</a:t>
            </a:r>
            <a:endParaRPr/>
          </a:p>
        </p:txBody>
      </p:sp>
      <p:sp>
        <p:nvSpPr>
          <p:cNvPr id="695" name="Google Shape;695;p6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Arrange Controls on a Form by Using the Format Menu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Set the Tab Order for Controls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Anchor a Control in Windows Forms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Dock a Control in Windows Forms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to resize and position controls </a:t>
            </a:r>
            <a:endParaRPr/>
          </a:p>
        </p:txBody>
      </p:sp>
      <p:sp>
        <p:nvSpPr>
          <p:cNvPr id="696" name="Google Shape;696;p6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697" name="Google Shape;697;p6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698" name="Google Shape;698;p6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04" name="Google Shape;704;p6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Often you want to change the position and dimensions of controls at run time.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Currently, you handle the resize event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calculate the new position, width, and height, and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call some methods like  Move or  SetWindowPos.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Windows Forms library offers two very helpful concepts to simplify these proceedings: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/>
              <a:t>anchoring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/>
              <a:t>docking.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In addition, Visual Studio .NET provides the  Format menu,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which allows you to arrange controls on a form.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05" name="Google Shape;705;p6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06" name="Google Shape;706;p6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07" name="Google Shape;707;p6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13" name="Google Shape;713;p6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b="1">
                <a:solidFill>
                  <a:srgbClr val="00B0F0"/>
                </a:solidFill>
              </a:rPr>
              <a:t>Using the Format Menu</a:t>
            </a:r>
            <a:endParaRPr>
              <a:solidFill>
                <a:srgbClr val="00B0F0"/>
              </a:solidFill>
            </a:endParaRPr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use the Format menu or the Layout Toolbar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align, layer, and lock controls on a form.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 Format menu provides many options for organizing controls.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you use the Format menu options for organizing controls,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select controls so that the last control that you select is the primary control to which the others are aligned.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primary control has dark sizing handles whereas other controls have light sizing handles around them.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14" name="Google Shape;714;p6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15" name="Google Shape;715;p6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16" name="Google Shape;716;p6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22" name="Google Shape;722;p6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23" name="Google Shape;723;p6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24" name="Google Shape;724;p6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pic>
        <p:nvPicPr>
          <p:cNvPr id="725" name="Google Shape;725;p6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14830" y="927847"/>
            <a:ext cx="8873820" cy="485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31" name="Google Shape;731;p7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/>
              <a:t>In the Windows Forms Designer,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open the form that contains the controls that you want to position.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Select the controls that you want to align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so that the last control that you select is the primary control to which the others are aligned.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On the  Format menu, point to  Align, and then click any of the seven choices available.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32" name="Google Shape;732;p7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33" name="Google Shape;733;p7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34" name="Google Shape;734;p7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pic>
        <p:nvPicPr>
          <p:cNvPr id="735" name="Google Shape;735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5356" y="3884818"/>
            <a:ext cx="4267200" cy="2471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41" name="Google Shape;741;p7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creating complex user interfaces, you may want to layer controls on a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layer controls on a form: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1.   Select a control.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/>
              <a:t>2.   On the  Format menu, point to  Order, and then click  Bring To Front or Send To Back 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lock all controls on a form.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This prevents any accidental moving or resizing of controls if you are setting other properties for controls.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lock all controls on a form,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on the  Format menu, click Lock Controls.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42" name="Google Shape;742;p7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43" name="Google Shape;743;p7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44" name="Google Shape;744;p7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50" name="Google Shape;750;p7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How to Set the Tab Order for Controls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On the  View menu, select Tab Order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Click a control to change its tab order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Or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 the  TabIndex property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 the  TabStop property to  True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51" name="Google Shape;751;p7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52" name="Google Shape;752;p7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53" name="Google Shape;753;p7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pic>
        <p:nvPicPr>
          <p:cNvPr id="754" name="Google Shape;754;p72" descr="tabord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2612" y="940903"/>
            <a:ext cx="416404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60" name="Google Shape;760;p7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tab order is the order in which a user moves focus from one control to another by pressing the </a:t>
            </a:r>
            <a:r>
              <a:rPr lang="en-US" b="1">
                <a:solidFill>
                  <a:srgbClr val="00B0F0"/>
                </a:solidFill>
              </a:rPr>
              <a:t>TAB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key.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Each form has its own tab order.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By default, the tab order is the same as the order in which you created the controls.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Tab  order numbering begins with zero.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You can set tab order in the Properties window by using the </a:t>
            </a:r>
            <a:r>
              <a:rPr lang="en-US">
                <a:solidFill>
                  <a:srgbClr val="00B0F0"/>
                </a:solidFill>
              </a:rPr>
              <a:t>TabIndex </a:t>
            </a:r>
            <a:r>
              <a:rPr lang="en-US"/>
              <a:t>property.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  </a:t>
            </a:r>
            <a:r>
              <a:rPr lang="en-US">
                <a:solidFill>
                  <a:srgbClr val="00B0F0"/>
                </a:solidFill>
              </a:rPr>
              <a:t>TabIndex </a:t>
            </a:r>
            <a:r>
              <a:rPr lang="en-US"/>
              <a:t>property of a control determines where it is positioned in the tab order.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By default, the first control drawn has a TabIndex value of  0 , the second has a TabIndex of  1 , and so on.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761" name="Google Shape;761;p7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62" name="Google Shape;762;p7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63" name="Google Shape;763;p7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69" name="Google Shape;769;p7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set the tab order by using the View menu: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On the  View menu, click Tab Order.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Click the controls sequentially to establish the tab order that you want.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When you are finished, on the View menu, click Tab Order. 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set the tab order by using the TabIndex property: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Select the control.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Set the TabIndex property to the required value. </a:t>
            </a:r>
            <a:endParaRPr/>
          </a:p>
          <a:p>
            <a:pPr marL="88011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Set the TabStop property to  True.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By turning off the </a:t>
            </a:r>
            <a:r>
              <a:rPr lang="en-US" b="1">
                <a:solidFill>
                  <a:srgbClr val="00B0F0"/>
                </a:solidFill>
              </a:rPr>
              <a:t>TabStop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property,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you enable a control be passed over in the tab order of the form.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A control in which the </a:t>
            </a:r>
            <a:r>
              <a:rPr lang="en-US">
                <a:solidFill>
                  <a:srgbClr val="00B0F0"/>
                </a:solidFill>
              </a:rPr>
              <a:t>TabStop </a:t>
            </a:r>
            <a:r>
              <a:rPr lang="en-US"/>
              <a:t>property has been set to  </a:t>
            </a:r>
            <a:r>
              <a:rPr lang="en-US">
                <a:solidFill>
                  <a:srgbClr val="00B0F0"/>
                </a:solidFill>
              </a:rPr>
              <a:t>False</a:t>
            </a:r>
            <a:r>
              <a:rPr lang="en-US"/>
              <a:t>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still maintains its position in the tab order,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even though the control is skipped when you cycle through the controls with the TAB key.</a:t>
            </a: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770" name="Google Shape;770;p7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71" name="Google Shape;771;p7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72" name="Google Shape;772;p7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78" name="Google Shape;778;p7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Anchoring</a:t>
            </a:r>
            <a:endParaRPr>
              <a:solidFill>
                <a:srgbClr val="00B0F0"/>
              </a:solidFill>
            </a:endParaRPr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Ensures that the edges of the control remain in the same position with respect to the parent container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To anchor a control to the form</a:t>
            </a:r>
            <a:endParaRPr>
              <a:solidFill>
                <a:srgbClr val="00B0F0"/>
              </a:solidFill>
            </a:endParaRPr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 its </a:t>
            </a:r>
            <a:r>
              <a:rPr lang="en-US" b="1">
                <a:solidFill>
                  <a:srgbClr val="00B0F0"/>
                </a:solidFill>
              </a:rPr>
              <a:t>Anchor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property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Default value: </a:t>
            </a:r>
            <a:r>
              <a:rPr lang="en-US" b="1"/>
              <a:t>Top</a:t>
            </a:r>
            <a:r>
              <a:rPr lang="en-US"/>
              <a:t>, </a:t>
            </a:r>
            <a:r>
              <a:rPr lang="en-US" b="1"/>
              <a:t>Left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Other Styles: </a:t>
            </a:r>
            <a:r>
              <a:rPr lang="en-US" b="1"/>
              <a:t>Bottom</a:t>
            </a:r>
            <a:r>
              <a:rPr lang="en-US"/>
              <a:t>, </a:t>
            </a:r>
            <a:r>
              <a:rPr lang="en-US" b="1"/>
              <a:t>Right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79" name="Google Shape;779;p7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80" name="Google Shape;780;p7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81" name="Google Shape;781;p7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87" name="Google Shape;787;p7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If you are designing a form that the user can resize at run time,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controls on the form should resize and reposition properly.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a control is anchored to a form (or another container) and the form is resized,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control maintains the distance between the control and the anchor positions (which is the initial position).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use the </a:t>
            </a:r>
            <a:r>
              <a:rPr lang="en-US" b="1"/>
              <a:t>Anchor</a:t>
            </a:r>
            <a:r>
              <a:rPr lang="en-US"/>
              <a:t> property editor to anchor.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88" name="Google Shape;788;p7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89" name="Google Shape;789;p7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90" name="Google Shape;790;p7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796" name="Google Shape;796;p7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>
                <a:solidFill>
                  <a:srgbClr val="00B0F0"/>
                </a:solidFill>
              </a:rPr>
              <a:t>To anchor a control on a form: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Select the control that you want to anchor. 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In the </a:t>
            </a:r>
            <a:r>
              <a:rPr lang="en-US" b="1">
                <a:solidFill>
                  <a:srgbClr val="00B0F0"/>
                </a:solidFill>
              </a:rPr>
              <a:t>Properties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window, 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click the </a:t>
            </a:r>
            <a:r>
              <a:rPr lang="en-US" b="1">
                <a:solidFill>
                  <a:srgbClr val="00B0F0"/>
                </a:solidFill>
              </a:rPr>
              <a:t>Anchor</a:t>
            </a:r>
            <a:r>
              <a:rPr lang="en-US" b="1"/>
              <a:t> </a:t>
            </a:r>
            <a:r>
              <a:rPr lang="en-US"/>
              <a:t>property, and then 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click the </a:t>
            </a:r>
            <a:r>
              <a:rPr lang="en-US" b="1"/>
              <a:t>Anchor</a:t>
            </a:r>
            <a:r>
              <a:rPr lang="en-US"/>
              <a:t> arrow.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</a:t>
            </a:r>
            <a:r>
              <a:rPr lang="en-US" b="1"/>
              <a:t>Anchor</a:t>
            </a:r>
            <a:r>
              <a:rPr lang="en-US"/>
              <a:t> property editor is displayed; it contains a top bar, left bar, right bar, and bottom bar. 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To set an anchor, click the top, left, right, or bottom bar in the </a:t>
            </a:r>
            <a:r>
              <a:rPr lang="en-US" b="1"/>
              <a:t>Anchor </a:t>
            </a:r>
            <a:r>
              <a:rPr lang="en-US"/>
              <a:t>property editor.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Controls are anchored to the top and left by default.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clear  a side of the control that has been anchored, click the bar on that side.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797" name="Google Shape;797;p7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798" name="Google Shape;798;p7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799" name="Google Shape;799;p7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805" name="Google Shape;805;p7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>
                <a:solidFill>
                  <a:srgbClr val="00B0F0"/>
                </a:solidFill>
              </a:rPr>
              <a:t>Docking</a:t>
            </a:r>
            <a:endParaRPr>
              <a:solidFill>
                <a:srgbClr val="00B0F0"/>
              </a:solidFill>
            </a:endParaRPr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Enables you to glue the edges of a control to the edges of its parent control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 b="1"/>
              <a:t>To dock a control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 the Dock property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06" name="Google Shape;806;p7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07" name="Google Shape;807;p7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08" name="Google Shape;808;p7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814" name="Google Shape;814;p7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dock controls to the edges of your form.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For example,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Windows Explorer docks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</a:t>
            </a:r>
            <a:r>
              <a:rPr lang="en-US" b="1"/>
              <a:t>TreeView</a:t>
            </a:r>
            <a:r>
              <a:rPr lang="en-US"/>
              <a:t> control to the left side of the window and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</a:t>
            </a:r>
            <a:r>
              <a:rPr lang="en-US" b="1"/>
              <a:t>ListView</a:t>
            </a:r>
            <a:r>
              <a:rPr lang="en-US"/>
              <a:t> control to the right side of the window.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Use the </a:t>
            </a:r>
            <a:r>
              <a:rPr lang="en-US" b="1">
                <a:solidFill>
                  <a:srgbClr val="00B0F0"/>
                </a:solidFill>
              </a:rPr>
              <a:t>Dock</a:t>
            </a:r>
            <a:r>
              <a:rPr lang="en-US" b="1"/>
              <a:t> </a:t>
            </a:r>
            <a:r>
              <a:rPr lang="en-US"/>
              <a:t>property for all visible Windows Forms controls to define the docking mode.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If you use the </a:t>
            </a:r>
            <a:r>
              <a:rPr lang="en-US" b="1">
                <a:solidFill>
                  <a:srgbClr val="00B0F0"/>
                </a:solidFill>
              </a:rPr>
              <a:t>Dock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property, a control is coupled with </a:t>
            </a:r>
            <a:r>
              <a:rPr lang="en-US">
                <a:solidFill>
                  <a:srgbClr val="00B0F0"/>
                </a:solidFill>
              </a:rPr>
              <a:t>two</a:t>
            </a:r>
            <a:r>
              <a:rPr lang="en-US"/>
              <a:t> edges of the container.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Then, the control is horizontally or vertically resized when the container is resized.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15" name="Google Shape;815;p7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16" name="Google Shape;816;p7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17" name="Google Shape;817;p7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823" name="Google Shape;823;p8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In real life, you do not indicate the edges, you indicate a border.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If you dock a control to the left border,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it is connected with the top left and bottom left edge.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value of the </a:t>
            </a:r>
            <a:r>
              <a:rPr lang="en-US" b="1">
                <a:solidFill>
                  <a:srgbClr val="00B0F0"/>
                </a:solidFill>
              </a:rPr>
              <a:t>Dock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property is one of the </a:t>
            </a:r>
            <a:r>
              <a:rPr lang="en-US" b="1">
                <a:solidFill>
                  <a:srgbClr val="00B0F0"/>
                </a:solidFill>
              </a:rPr>
              <a:t>DockStyle </a:t>
            </a:r>
            <a:r>
              <a:rPr lang="en-US"/>
              <a:t>values.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 special case is </a:t>
            </a:r>
            <a:r>
              <a:rPr lang="en-US" b="1">
                <a:solidFill>
                  <a:srgbClr val="00B0F0"/>
                </a:solidFill>
              </a:rPr>
              <a:t>DockStyle.Fill</a:t>
            </a:r>
            <a:r>
              <a:rPr lang="en-US"/>
              <a:t>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This value docks the control to all edges.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control fills in the complete client area of the container.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24" name="Google Shape;824;p8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25" name="Google Shape;825;p8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26" name="Google Shape;826;p8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Organizing Controls …</a:t>
            </a:r>
            <a:endParaRPr/>
          </a:p>
        </p:txBody>
      </p:sp>
      <p:sp>
        <p:nvSpPr>
          <p:cNvPr id="832" name="Google Shape;832;p8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dock a control on a form: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Select the control that you want to dock. 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In the </a:t>
            </a:r>
            <a:r>
              <a:rPr lang="en-US">
                <a:solidFill>
                  <a:srgbClr val="00B0F0"/>
                </a:solidFill>
              </a:rPr>
              <a:t>Properties</a:t>
            </a:r>
            <a:r>
              <a:rPr lang="en-US"/>
              <a:t> window, click the arrow to the right of the </a:t>
            </a:r>
            <a:r>
              <a:rPr lang="en-US" b="1">
                <a:solidFill>
                  <a:srgbClr val="00B0F0"/>
                </a:solidFill>
              </a:rPr>
              <a:t>Dock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property. 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The </a:t>
            </a:r>
            <a:r>
              <a:rPr lang="en-US" b="1"/>
              <a:t>Dock</a:t>
            </a:r>
            <a:r>
              <a:rPr lang="en-US"/>
              <a:t> property editor is displayed; it contains a series of buttons that represent the edges and the center of the form.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Click the button that represents the edge of the form where you want to dock the control. 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To fill the contents of the control’s form or container  control, click the </a:t>
            </a:r>
            <a:r>
              <a:rPr lang="en-US" b="1"/>
              <a:t>Fill </a:t>
            </a:r>
            <a:r>
              <a:rPr lang="en-US"/>
              <a:t>(center) button. 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Click </a:t>
            </a:r>
            <a:r>
              <a:rPr lang="en-US" b="1"/>
              <a:t>None</a:t>
            </a:r>
            <a:r>
              <a:rPr lang="en-US"/>
              <a:t> to disable docking.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control is automatically resized to fit the boundaries of the docked edge.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33" name="Google Shape;833;p8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34" name="Google Shape;834;p8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35" name="Google Shape;835;p8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MDI Applications</a:t>
            </a:r>
            <a:endParaRPr/>
          </a:p>
        </p:txBody>
      </p:sp>
      <p:sp>
        <p:nvSpPr>
          <p:cNvPr id="841" name="Google Shape;841;p8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creating Windows-based applications,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use different styles for the user interface.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Your application can have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single-document interface (SDI) or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multiple-document interface (MDI), or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you can create an explorer-style interface.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n-US"/>
              <a:t>For more information about different types of application interfaces, see the .NET Framework software development kit (SDK).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42" name="Google Shape;842;p8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43" name="Google Shape;843;p8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44" name="Google Shape;844;p8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3"/>
          <p:cNvSpPr txBox="1">
            <a:spLocks noGrp="1"/>
          </p:cNvSpPr>
          <p:nvPr>
            <p:ph type="title"/>
          </p:nvPr>
        </p:nvSpPr>
        <p:spPr>
          <a:xfrm>
            <a:off x="357809" y="234056"/>
            <a:ext cx="11463129" cy="667092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SDI Vs MDI</a:t>
            </a:r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1"/>
          </p:nvPr>
        </p:nvSpPr>
        <p:spPr>
          <a:xfrm>
            <a:off x="954741" y="1007582"/>
            <a:ext cx="5042833" cy="55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F0"/>
                </a:solidFill>
              </a:rPr>
              <a:t>SDI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851" name="Google Shape;851;p83"/>
          <p:cNvSpPr txBox="1">
            <a:spLocks noGrp="1"/>
          </p:cNvSpPr>
          <p:nvPr>
            <p:ph type="body" idx="2"/>
          </p:nvPr>
        </p:nvSpPr>
        <p:spPr>
          <a:xfrm>
            <a:off x="839788" y="1666050"/>
            <a:ext cx="5157787" cy="452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/>
              <a:t>Only one document is visible at a time.</a:t>
            </a:r>
            <a:endParaRPr sz="4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/>
              <a:t>Must close one document before opening another.</a:t>
            </a:r>
            <a:endParaRPr sz="4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 b="1"/>
              <a:t>Example</a:t>
            </a:r>
            <a:r>
              <a:rPr lang="en-US"/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✔"/>
            </a:pPr>
            <a:r>
              <a:rPr lang="en-US"/>
              <a:t>Microsoft WordPad </a:t>
            </a:r>
            <a:endParaRPr/>
          </a:p>
          <a:p>
            <a:pPr marL="22860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52" name="Google Shape;852;p83"/>
          <p:cNvSpPr txBox="1">
            <a:spLocks noGrp="1"/>
          </p:cNvSpPr>
          <p:nvPr>
            <p:ph type="body" idx="3"/>
          </p:nvPr>
        </p:nvSpPr>
        <p:spPr>
          <a:xfrm>
            <a:off x="6172200" y="1007582"/>
            <a:ext cx="5183188" cy="55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F0"/>
                </a:solidFill>
              </a:rPr>
              <a:t>MDI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853" name="Google Shape;853;p83"/>
          <p:cNvSpPr txBox="1">
            <a:spLocks noGrp="1"/>
          </p:cNvSpPr>
          <p:nvPr>
            <p:ph type="body" idx="4"/>
          </p:nvPr>
        </p:nvSpPr>
        <p:spPr>
          <a:xfrm>
            <a:off x="6172200" y="1666050"/>
            <a:ext cx="5183188" cy="452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/>
              <a:t>Several documents are visible at the same time.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/>
              <a:t>Each document is displayed in its own window.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Char char="⮚"/>
            </a:pPr>
            <a:r>
              <a:rPr lang="en-US" b="1"/>
              <a:t>Example</a:t>
            </a:r>
            <a:r>
              <a:rPr lang="en-US"/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Noto Sans Symbols"/>
              <a:buChar char="✔"/>
            </a:pPr>
            <a:r>
              <a:rPr lang="en-US"/>
              <a:t>Microsoft Excel</a:t>
            </a:r>
            <a:endParaRPr/>
          </a:p>
          <a:p>
            <a:pPr marL="22860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9CC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54" name="Google Shape;854;p8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55" name="Google Shape;855;p8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56" name="Google Shape;856;p8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Applications</a:t>
            </a:r>
            <a:endParaRPr/>
          </a:p>
        </p:txBody>
      </p:sp>
      <p:sp>
        <p:nvSpPr>
          <p:cNvPr id="862" name="Google Shape;862;p8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create a parent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Create a new project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Set the  </a:t>
            </a:r>
            <a:r>
              <a:rPr lang="en-US">
                <a:solidFill>
                  <a:srgbClr val="00B0F0"/>
                </a:solidFill>
              </a:rPr>
              <a:t>IsMdiContainer </a:t>
            </a:r>
            <a:r>
              <a:rPr lang="en-US"/>
              <a:t>property to True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Add a menu item to invoke the child form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create a child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Add a new form to the project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call a child form from a parent form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protected void MenuItem1_onClick(object sender, EventArgs e)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{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Form2 newChildForm = new Form2();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//set parent Form 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newChildForm.MdiParen = this;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//display the child form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newChildForm.Show();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00B0F0"/>
                </a:solidFill>
              </a:rPr>
              <a:t>}</a:t>
            </a:r>
            <a:endParaRPr/>
          </a:p>
        </p:txBody>
      </p:sp>
      <p:sp>
        <p:nvSpPr>
          <p:cNvPr id="863" name="Google Shape;863;p8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64" name="Google Shape;864;p8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65" name="Google Shape;865;p8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There are three main steps involved in creating an MDI application: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creating a parent form,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creating a child form, and </a:t>
            </a:r>
            <a:endParaRPr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calling the child form from a parent form.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Char char="⮚"/>
            </a:pPr>
            <a:r>
              <a:rPr lang="en-US"/>
              <a:t>To create the parent form at design time: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The Parent form in an MDI application is the form that contains the MDI child  windows.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Child windows are used for interacting with users in an MDI application.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Create a new project.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Select the default </a:t>
            </a:r>
            <a:r>
              <a:rPr lang="en-US">
                <a:solidFill>
                  <a:srgbClr val="00B0F0"/>
                </a:solidFill>
              </a:rPr>
              <a:t>Form</a:t>
            </a:r>
            <a:r>
              <a:rPr lang="en-US"/>
              <a:t>, In the Properties window, set the  </a:t>
            </a:r>
            <a:r>
              <a:rPr lang="en-US">
                <a:solidFill>
                  <a:srgbClr val="00B0F0"/>
                </a:solidFill>
              </a:rPr>
              <a:t>IsMdiContainer</a:t>
            </a:r>
            <a:r>
              <a:rPr lang="en-US"/>
              <a:t>  of the Form property to True.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✔"/>
            </a:pPr>
            <a:r>
              <a:rPr lang="en-US"/>
              <a:t>This designates the form as an MDI container for child windows.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463550" lvl="0" indent="-2755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Noto Sans Symbols"/>
              <a:buNone/>
            </a:pPr>
            <a:endParaRPr/>
          </a:p>
        </p:txBody>
      </p:sp>
      <p:sp>
        <p:nvSpPr>
          <p:cNvPr id="872" name="Google Shape;872;p8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73" name="Google Shape;873;p8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74" name="Google Shape;874;p8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846138" lvl="1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en-US"/>
              <a:t>From the Toolbox, drag a MainMenu component to  the form. </a:t>
            </a:r>
            <a:endParaRPr/>
          </a:p>
          <a:p>
            <a:pPr marL="1309688" lvl="2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You need a menu to invoke the child forms from the parent form.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en-US"/>
              <a:t>Set the </a:t>
            </a:r>
            <a:r>
              <a:rPr lang="en-US">
                <a:solidFill>
                  <a:srgbClr val="00B0F0"/>
                </a:solidFill>
              </a:rPr>
              <a:t>MdiList </a:t>
            </a:r>
            <a:r>
              <a:rPr lang="en-US"/>
              <a:t>property of the  Windows menu item to  True.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MDI child forms are critical for MDI applications because users interact with  the application through child forms. 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create the child form at design time: </a:t>
            </a:r>
            <a:endParaRPr/>
          </a:p>
          <a:p>
            <a:pPr marL="82296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In the same project that contains the parent form, create a new form.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n-US"/>
              <a:t>You can also create an MDI form by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Click Project Menu/Right click on Project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Add =&gt; Add Windows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Select </a:t>
            </a:r>
            <a:r>
              <a:rPr lang="en-US">
                <a:solidFill>
                  <a:srgbClr val="00B0F0"/>
                </a:solidFill>
              </a:rPr>
              <a:t>MDI Parent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Set the MDI Form as a startup Form</a:t>
            </a:r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7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call the child form  from the parent form: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Create a Click event handler for the  New  menu item on the parent form.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Insert code similar to the following code to create a new MDI child form when the user clicks the  New  menu item.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pic>
        <p:nvPicPr>
          <p:cNvPr id="893" name="Google Shape;893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341" y="3171451"/>
            <a:ext cx="75438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899" name="Google Shape;899;p88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How Parent and Child Forms Interact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list the available child windows that are owned by the parent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Create a menu item (Windows) and set its  </a:t>
            </a:r>
            <a:r>
              <a:rPr lang="en-US">
                <a:solidFill>
                  <a:srgbClr val="00B0F0"/>
                </a:solidFill>
              </a:rPr>
              <a:t>MdiList </a:t>
            </a:r>
            <a:r>
              <a:rPr lang="en-US"/>
              <a:t>property to True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determine the active MDI child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Use the </a:t>
            </a:r>
            <a:r>
              <a:rPr lang="en-US">
                <a:solidFill>
                  <a:srgbClr val="00B0F0"/>
                </a:solidFill>
              </a:rPr>
              <a:t>ActiveMdiChild </a:t>
            </a:r>
            <a:r>
              <a:rPr lang="en-US"/>
              <a:t>property</a:t>
            </a:r>
            <a:endParaRPr/>
          </a:p>
          <a:p>
            <a:pPr marL="774065" lvl="3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</a:pP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arrange child windows on the parent form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Call the LayoutMdimethod</a:t>
            </a:r>
            <a:endParaRPr/>
          </a:p>
        </p:txBody>
      </p:sp>
      <p:sp>
        <p:nvSpPr>
          <p:cNvPr id="900" name="Google Shape;900;p88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01" name="Google Shape;901;p88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02" name="Google Shape;902;p88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9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08" name="Google Shape;908;p89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In an MDI application,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a parent form has several child forms, and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each of the  child forms interacts with the parent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Visual Studio .NET includes several properties that allow parent and child forms in an MDI application to interact.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An easy way to keep track of the different MDI child windows an application has open is to use a  Window list.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functionality to keep track of all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open MDI child forms as well as which child form has focus is part of Visual Studio .NET and is set with the MdiList property of a menu item.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909" name="Google Shape;909;p89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10" name="Google Shape;910;p89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11" name="Google Shape;911;p89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0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17" name="Google Shape;917;p90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 b="1"/>
              <a:t>To list the child windows of a parent form by using the Window list: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Add a MainMenu component to the parent form. 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Add the following top-level menu items to the  MainMenu component by using the Menu Designer.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 u="sng"/>
              <a:t>       MenuItem			Text___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      menuItem1			&amp;File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/>
              <a:t>      menuItem2		           &amp;Windows</a:t>
            </a:r>
            <a:endParaRPr/>
          </a:p>
          <a:p>
            <a:pPr marL="846138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en-US"/>
              <a:t>Set the MdiList property of the  Windows menu item to  True. </a:t>
            </a:r>
            <a:endParaRPr/>
          </a:p>
          <a:p>
            <a:pPr marL="795338" lvl="1" indent="-1603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918" name="Google Shape;918;p90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19" name="Google Shape;919;p90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20" name="Google Shape;920;p90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1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26" name="Google Shape;926;p91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When you are completing certain procedures in an application,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it is important to determine the active form.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Because an MDI application can have many instances of the same child form,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 procedure must know which form to use.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To specify the correct form,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use the  </a:t>
            </a:r>
            <a:r>
              <a:rPr lang="en-US">
                <a:solidFill>
                  <a:srgbClr val="00B0F0"/>
                </a:solidFill>
              </a:rPr>
              <a:t>ActiveMdiChild</a:t>
            </a:r>
            <a:r>
              <a:rPr lang="en-US"/>
              <a:t>  property,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which returns the child form that has the focus or that was most recently active. 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Use the following code to determine the active child form.</a:t>
            </a:r>
            <a:endParaRPr/>
          </a:p>
          <a:p>
            <a:pPr marL="795338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B0F0"/>
                </a:solidFill>
              </a:rPr>
              <a:t>Form activeChild = this.ActiveMdiChild;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927" name="Google Shape;927;p91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28" name="Google Shape;928;p91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29" name="Google Shape;929;p91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92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35" name="Google Shape;935;p92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Arranging child windows on the parent form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arrange child windows on a parent form,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you can use the </a:t>
            </a:r>
            <a:r>
              <a:rPr lang="en-US">
                <a:solidFill>
                  <a:srgbClr val="00B0F0"/>
                </a:solidFill>
              </a:rPr>
              <a:t>LayoutMdi</a:t>
            </a:r>
            <a:r>
              <a:rPr lang="en-US"/>
              <a:t>  method with the </a:t>
            </a:r>
            <a:r>
              <a:rPr lang="en-US">
                <a:solidFill>
                  <a:srgbClr val="00B0F0"/>
                </a:solidFill>
              </a:rPr>
              <a:t>MdiLayout </a:t>
            </a:r>
            <a:r>
              <a:rPr lang="en-US"/>
              <a:t>enumeration to rearrange the child forms in an MDI parent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There are four different  </a:t>
            </a:r>
            <a:r>
              <a:rPr lang="en-US">
                <a:solidFill>
                  <a:srgbClr val="00B0F0"/>
                </a:solidFill>
              </a:rPr>
              <a:t>MdiLayout </a:t>
            </a:r>
            <a:r>
              <a:rPr lang="en-US"/>
              <a:t>enumeration values that can be used by the </a:t>
            </a:r>
            <a:r>
              <a:rPr lang="en-US">
                <a:solidFill>
                  <a:srgbClr val="00B0F0"/>
                </a:solidFill>
              </a:rPr>
              <a:t>LayoutMdi</a:t>
            </a:r>
            <a:r>
              <a:rPr lang="en-US"/>
              <a:t>  method.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These values help you display the form as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cascading,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horizontally or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vertically tiled, or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as child form icons arranged along the lower portion of the MDI form. </a:t>
            </a:r>
            <a:endParaRPr/>
          </a:p>
          <a:p>
            <a:pPr marL="795338" lvl="1" indent="-3381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✔"/>
            </a:pPr>
            <a:r>
              <a:rPr lang="en-US"/>
              <a:t>To arrange child forms, in an event, </a:t>
            </a:r>
            <a:endParaRPr/>
          </a:p>
          <a:p>
            <a:pPr marL="1258888" lvl="2" indent="-34448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&gt;"/>
            </a:pPr>
            <a:r>
              <a:rPr lang="en-US"/>
              <a:t>use the  LayoutMdi  method to set the MdiLayout enumeration for the MDI parent form.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936" name="Google Shape;936;p92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37" name="Google Shape;937;p92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38" name="Google Shape;938;p92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3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44" name="Google Shape;944;p93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You can use the following members of the MdiLayout enumeration when calling the LayoutMdi  method of the Form class. 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945" name="Google Shape;945;p93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46" name="Google Shape;946;p93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47" name="Google Shape;947;p93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  <p:pic>
        <p:nvPicPr>
          <p:cNvPr id="948" name="Google Shape;94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156" y="1988457"/>
            <a:ext cx="7772401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4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Creating MDI Application ...</a:t>
            </a:r>
            <a:endParaRPr/>
          </a:p>
        </p:txBody>
      </p:sp>
      <p:sp>
        <p:nvSpPr>
          <p:cNvPr id="954" name="Google Shape;954;p94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The following example uses the Cascade setting of the  </a:t>
            </a:r>
            <a:r>
              <a:rPr lang="en-US">
                <a:solidFill>
                  <a:srgbClr val="00B0F0"/>
                </a:solidFill>
              </a:rPr>
              <a:t>MdiLayout </a:t>
            </a:r>
            <a:r>
              <a:rPr lang="en-US"/>
              <a:t>enumeration for the child windows of the MDI parent form (</a:t>
            </a:r>
            <a:r>
              <a:rPr lang="en-US">
                <a:solidFill>
                  <a:srgbClr val="00B0F0"/>
                </a:solidFill>
              </a:rPr>
              <a:t>Form1</a:t>
            </a:r>
            <a:r>
              <a:rPr lang="en-US"/>
              <a:t>).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B0F0"/>
                </a:solidFill>
              </a:rPr>
              <a:t>protected void CascadeWindows_Click(object sender, System.EventArgs e)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B0F0"/>
                </a:solidFill>
              </a:rPr>
              <a:t>{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B0F0"/>
                </a:solidFill>
              </a:rPr>
              <a:t>Form1.LayoutMdi(MdiLayout.Cascade);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B0F0"/>
                </a:solidFill>
              </a:rPr>
              <a:t>}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955" name="Google Shape;955;p94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56" name="Google Shape;956;p94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57" name="Google Shape;957;p94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95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More information on</a:t>
            </a:r>
            <a:endParaRPr/>
          </a:p>
        </p:txBody>
      </p:sp>
      <p:sp>
        <p:nvSpPr>
          <p:cNvPr id="963" name="Google Shape;963;p95"/>
          <p:cNvSpPr txBox="1">
            <a:spLocks noGrp="1"/>
          </p:cNvSpPr>
          <p:nvPr>
            <p:ph type="body" idx="1"/>
          </p:nvPr>
        </p:nvSpPr>
        <p:spPr>
          <a:xfrm>
            <a:off x="357809" y="940904"/>
            <a:ext cx="11463129" cy="541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John Sharp. Microsoft Visual C# 2013 Step by Step, 2015 Microsoft Press USA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Joel Murach, Anne Boehm. Murach C# 2012, Mike Murach &amp; Associates Inc USA, 2013</a:t>
            </a:r>
            <a:endParaRPr/>
          </a:p>
          <a:p>
            <a:pPr marL="463550" lvl="0" indent="-463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Char char="⮚"/>
            </a:pPr>
            <a:r>
              <a:rPr lang="en-US"/>
              <a:t>Microsoft Corporation. Microsoft Visual Studio 2012 Product Guide, 2012</a:t>
            </a:r>
            <a:endParaRPr/>
          </a:p>
          <a:p>
            <a:pPr marL="46355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964" name="Google Shape;964;p95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4/13/2017</a:t>
            </a:r>
            <a:endParaRPr/>
          </a:p>
        </p:txBody>
      </p:sp>
      <p:sp>
        <p:nvSpPr>
          <p:cNvPr id="965" name="Google Shape;965;p95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Driven Programming with C#</a:t>
            </a:r>
            <a:endParaRPr/>
          </a:p>
        </p:txBody>
      </p:sp>
      <p:sp>
        <p:nvSpPr>
          <p:cNvPr id="966" name="Google Shape;966;p95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96"/>
          <p:cNvSpPr txBox="1">
            <a:spLocks noGrp="1"/>
          </p:cNvSpPr>
          <p:nvPr>
            <p:ph type="title"/>
          </p:nvPr>
        </p:nvSpPr>
        <p:spPr>
          <a:xfrm>
            <a:off x="357809" y="206099"/>
            <a:ext cx="11463130" cy="615536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endParaRPr/>
          </a:p>
        </p:txBody>
      </p:sp>
      <p:sp>
        <p:nvSpPr>
          <p:cNvPr id="972" name="Google Shape;972;p96"/>
          <p:cNvSpPr txBox="1">
            <a:spLocks noGrp="1"/>
          </p:cNvSpPr>
          <p:nvPr>
            <p:ph type="body" idx="1"/>
          </p:nvPr>
        </p:nvSpPr>
        <p:spPr>
          <a:xfrm>
            <a:off x="357809" y="2285999"/>
            <a:ext cx="11463129" cy="221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400">
                <a:solidFill>
                  <a:schemeClr val="accent1"/>
                </a:solidFill>
                <a:latin typeface="Algerian"/>
                <a:ea typeface="Algerian"/>
                <a:cs typeface="Algerian"/>
                <a:sym typeface="Algerian"/>
              </a:rPr>
              <a:t>QUESTions</a:t>
            </a:r>
            <a:endParaRPr sz="5400">
              <a:solidFill>
                <a:schemeClr val="accent1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600"/>
              <a:buNone/>
            </a:pPr>
            <a:r>
              <a:rPr lang="en-US" sz="9600" b="1">
                <a:solidFill>
                  <a:srgbClr val="F7CAAC"/>
                </a:solidFill>
                <a:latin typeface="Algerian"/>
                <a:ea typeface="Algerian"/>
                <a:cs typeface="Algerian"/>
                <a:sym typeface="Algerian"/>
              </a:rPr>
              <a:t>?</a:t>
            </a:r>
            <a:endParaRPr sz="9600" b="1">
              <a:solidFill>
                <a:srgbClr val="F7CAA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973" name="Google Shape;973;p96"/>
          <p:cNvSpPr txBox="1">
            <a:spLocks noGrp="1"/>
          </p:cNvSpPr>
          <p:nvPr>
            <p:ph type="dt" idx="10"/>
          </p:nvPr>
        </p:nvSpPr>
        <p:spPr>
          <a:xfrm>
            <a:off x="357809" y="6356350"/>
            <a:ext cx="2120347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96"/>
          <p:cNvSpPr txBox="1">
            <a:spLocks noGrp="1"/>
          </p:cNvSpPr>
          <p:nvPr>
            <p:ph type="ftr" idx="11"/>
          </p:nvPr>
        </p:nvSpPr>
        <p:spPr>
          <a:xfrm>
            <a:off x="2478157" y="6356350"/>
            <a:ext cx="6414052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96"/>
          <p:cNvSpPr txBox="1">
            <a:spLocks noGrp="1"/>
          </p:cNvSpPr>
          <p:nvPr>
            <p:ph type="sldNum" idx="12"/>
          </p:nvPr>
        </p:nvSpPr>
        <p:spPr>
          <a:xfrm>
            <a:off x="8892209" y="6356349"/>
            <a:ext cx="2928729" cy="3651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7750</Words>
  <Application>Microsoft Office PowerPoint</Application>
  <PresentationFormat>Widescreen</PresentationFormat>
  <Paragraphs>1069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3" baseType="lpstr">
      <vt:lpstr>Algerian</vt:lpstr>
      <vt:lpstr>Arial</vt:lpstr>
      <vt:lpstr>Calibri</vt:lpstr>
      <vt:lpstr>Consolas</vt:lpstr>
      <vt:lpstr>Courier New</vt:lpstr>
      <vt:lpstr>Noto Sans Symbols</vt:lpstr>
      <vt:lpstr>Office Theme</vt:lpstr>
      <vt:lpstr>Event Driven Programming</vt:lpstr>
      <vt:lpstr>Objectives </vt:lpstr>
      <vt:lpstr>Contents</vt:lpstr>
      <vt:lpstr>Elements of Event Driven Programming </vt:lpstr>
      <vt:lpstr>Event </vt:lpstr>
      <vt:lpstr>Event …</vt:lpstr>
      <vt:lpstr>Event …</vt:lpstr>
      <vt:lpstr>Event Model in the .NET Framework</vt:lpstr>
      <vt:lpstr>Delegates </vt:lpstr>
      <vt:lpstr>Delegate …</vt:lpstr>
      <vt:lpstr>Delegate …</vt:lpstr>
      <vt:lpstr>Delegate …</vt:lpstr>
      <vt:lpstr>Event Handler </vt:lpstr>
      <vt:lpstr>Event handler …</vt:lpstr>
      <vt:lpstr>Event handler …</vt:lpstr>
      <vt:lpstr>Event handler …</vt:lpstr>
      <vt:lpstr>Developing Event Driven App</vt:lpstr>
      <vt:lpstr>Design the GUI</vt:lpstr>
      <vt:lpstr>Windows Form Controls</vt:lpstr>
      <vt:lpstr>Windows Form Controls …</vt:lpstr>
      <vt:lpstr>Windows Form Controls …</vt:lpstr>
      <vt:lpstr>Windows Form Controls …</vt:lpstr>
      <vt:lpstr>Windows Form Controls …</vt:lpstr>
      <vt:lpstr>Working with Windows Forms</vt:lpstr>
      <vt:lpstr>Windows Forms</vt:lpstr>
      <vt:lpstr>Windows Forms …</vt:lpstr>
      <vt:lpstr>How to create a Form</vt:lpstr>
      <vt:lpstr>Windows Forms …</vt:lpstr>
      <vt:lpstr>Windows Forms …</vt:lpstr>
      <vt:lpstr>Forms Properties </vt:lpstr>
      <vt:lpstr>Form Properties …</vt:lpstr>
      <vt:lpstr>Form Properties … </vt:lpstr>
      <vt:lpstr>Form Properties … </vt:lpstr>
      <vt:lpstr>Form events and methods </vt:lpstr>
      <vt:lpstr>Form events and methods …</vt:lpstr>
      <vt:lpstr>Form Methods …</vt:lpstr>
      <vt:lpstr>Form Methods …</vt:lpstr>
      <vt:lpstr>Form Methods …</vt:lpstr>
      <vt:lpstr>Form Methods …</vt:lpstr>
      <vt:lpstr>Form Methods …</vt:lpstr>
      <vt:lpstr>Form Methods …</vt:lpstr>
      <vt:lpstr>Form Methods …</vt:lpstr>
      <vt:lpstr>Form Methods …</vt:lpstr>
      <vt:lpstr>How to Handle Form Events</vt:lpstr>
      <vt:lpstr>Form Events …</vt:lpstr>
      <vt:lpstr>Form Events …</vt:lpstr>
      <vt:lpstr>Add Controls to a Form</vt:lpstr>
      <vt:lpstr>Controls to a Form …</vt:lpstr>
      <vt:lpstr>Controls to a Form …</vt:lpstr>
      <vt:lpstr>Controls to a Form …</vt:lpstr>
      <vt:lpstr>Controls to a Form …</vt:lpstr>
      <vt:lpstr>How to Add Menus to a Form </vt:lpstr>
      <vt:lpstr>Menu to a form …</vt:lpstr>
      <vt:lpstr>Menu to a form …</vt:lpstr>
      <vt:lpstr>Customize the Controls Toolbox</vt:lpstr>
      <vt:lpstr>Creating a Form and Adding Controls</vt:lpstr>
      <vt:lpstr>Controls to a form</vt:lpstr>
      <vt:lpstr>Controls Properties </vt:lpstr>
      <vt:lpstr>Controls Properties …</vt:lpstr>
      <vt:lpstr>Controls Properties </vt:lpstr>
      <vt:lpstr>Controls Properties </vt:lpstr>
      <vt:lpstr>Build App</vt:lpstr>
      <vt:lpstr>Creating an Inherited Form </vt:lpstr>
      <vt:lpstr>Inherited Forms …</vt:lpstr>
      <vt:lpstr>Inherited Forms …</vt:lpstr>
      <vt:lpstr>Organizing Controls on a Form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Organizing Controls …</vt:lpstr>
      <vt:lpstr>MDI Applications</vt:lpstr>
      <vt:lpstr>SDI Vs MDI</vt:lpstr>
      <vt:lpstr>Creating MDI Applications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Creating MDI Application ...</vt:lpstr>
      <vt:lpstr>More information 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Driven Programming</dc:title>
  <dc:creator>ChalewT.</dc:creator>
  <cp:lastModifiedBy>Binyam</cp:lastModifiedBy>
  <cp:revision>1</cp:revision>
  <dcterms:created xsi:type="dcterms:W3CDTF">2016-02-19T04:19:28Z</dcterms:created>
  <dcterms:modified xsi:type="dcterms:W3CDTF">2025-10-12T00:48:38Z</dcterms:modified>
</cp:coreProperties>
</file>