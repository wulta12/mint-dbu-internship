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5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7" r:id="rId39"/>
    <p:sldId id="293" r:id="rId40"/>
    <p:sldId id="299" r:id="rId41"/>
    <p:sldId id="300" r:id="rId42"/>
    <p:sldId id="301" r:id="rId43"/>
    <p:sldId id="302" r:id="rId44"/>
    <p:sldId id="303" r:id="rId45"/>
    <p:sldId id="304" r:id="rId46"/>
    <p:sldId id="294" r:id="rId47"/>
    <p:sldId id="295" r:id="rId48"/>
    <p:sldId id="30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28897-9B0F-405C-A64B-B4A1B96BF576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481A8-CC70-4A72-B569-C9CC7A212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DF3AE-F74C-4ACE-8B30-76E37EC7D7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593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6B3DF6-4D67-411A-82A8-17A52784D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86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4D238-D9AB-4E06-B0E6-4EA99DABD6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1269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FFDE3F-D277-42CF-A01C-CAB71C0389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280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979B7D-6BAF-4985-95A6-DAB3F3EF41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6730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CD2EE5-BE80-4BCB-BBAF-A2F129F78E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166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2246D-57A3-420F-8A6F-634B89C146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25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DE5385-4B90-4185-8E35-EB57281664A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056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7A9302-9F7F-4E6C-969A-D202727FA9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531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F3545-ADDC-42FF-82FC-239094A27E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667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D0B01B-B22D-4558-89CA-FF508033FD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6222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E12918-C0D5-44E6-8342-DAC50970E9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862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267EB-672D-4351-9138-42257A63AA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170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53A4B-2488-4743-AB15-4271690672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078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9955D8-5ECE-4E7E-925B-42D673BD77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823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E8AE84-4805-4B37-A05A-463EBC8224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9666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A88461-45E5-4CE5-9393-61B8425C08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74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110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88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10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57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47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6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77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27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5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26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10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625600" y="533400"/>
            <a:ext cx="9448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4" descr="C:\Documents and Settings\Greg Byrd\My Documents\ece206\mh-slides\tit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456776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3600" y="2286000"/>
            <a:ext cx="6908800" cy="2133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2338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E9D6-5943-4913-B40B-8DE284F4D986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87301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DA35-081C-4B36-B6B0-5BEF1163FAFE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82133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76319-6F5D-4A20-910E-32F4BC00646A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15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ACFA0-BB5A-47F0-9B3B-FE9423403FF4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8926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FD20C-E2F3-4DE2-83BE-E878C2AA4C07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68316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7858-95E1-4A1E-98A4-07BAC3D632B3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93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14B7-2F2A-4A67-A514-3C2432111048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007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A4F24-3ED3-4F55-8EF7-982ED2310B3A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0048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3EEC0-50B1-462D-B348-566794CAEE75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2698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C519-3442-450B-A6C9-64839F3B1D06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08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D1E3D-6DEE-439C-A575-E66788E3A390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6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D1DB5-5F5A-494F-AB81-1A9CF51844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2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6A72E39-7B03-4F1C-BB22-769D899E170F}" type="datetime1">
              <a:rPr lang="en-US" smtClean="0">
                <a:solidFill>
                  <a:srgbClr val="696464"/>
                </a:solidFill>
              </a:rPr>
              <a:pPr/>
              <a:t>11/17/2025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>
                <a:solidFill>
                  <a:srgbClr val="696464"/>
                </a:solidFill>
              </a:rPr>
              <a:t>System &amp; Network Administration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D07AAFF-C290-48D9-9651-DFCF519F33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562" y="2099953"/>
            <a:ext cx="10264876" cy="1143000"/>
          </a:xfrm>
        </p:spPr>
        <p:txBody>
          <a:bodyPr>
            <a:noAutofit/>
          </a:bodyPr>
          <a:lstStyle/>
          <a:p>
            <a:r>
              <a:rPr lang="en-GB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</a:t>
            </a:r>
            <a:r>
              <a:rPr lang="en-GB" sz="4000" b="1" dirty="0" smtClean="0">
                <a:solidFill>
                  <a:srgbClr val="FF0000"/>
                </a:solidFill>
              </a:rPr>
              <a:t/>
            </a:r>
            <a:br>
              <a:rPr lang="en-GB" sz="4000" b="1" dirty="0" smtClean="0">
                <a:solidFill>
                  <a:srgbClr val="FF0000"/>
                </a:solidFill>
              </a:rPr>
            </a:br>
            <a:r>
              <a:rPr lang="en-GB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System and Network Administration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</a:t>
            </a:r>
            <a:r>
              <a:rPr lang="en-US" dirty="0" err="1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Asferaw</a:t>
            </a:r>
            <a:r>
              <a:rPr lang="en-US" dirty="0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               </a:t>
            </a:r>
            <a:endParaRPr lang="en-US" dirty="0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3740764" y="3966779"/>
            <a:ext cx="4114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  <a:defRPr sz="32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sz="2000" dirty="0" smtClean="0">
                <a:solidFill>
                  <a:srgbClr val="002060"/>
                </a:solidFill>
                <a:latin typeface="Arial"/>
              </a:rPr>
              <a:t>By Dr. Samuel </a:t>
            </a:r>
            <a:r>
              <a:rPr lang="en-US" sz="2000" dirty="0" err="1" smtClean="0">
                <a:solidFill>
                  <a:srgbClr val="002060"/>
                </a:solidFill>
                <a:latin typeface="Arial"/>
              </a:rPr>
              <a:t>Asferaw</a:t>
            </a:r>
            <a:endParaRPr lang="en-US" sz="2000" dirty="0" smtClean="0">
              <a:solidFill>
                <a:srgbClr val="002060"/>
              </a:solidFill>
              <a:latin typeface="Arial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GB" sz="2000" dirty="0" smtClean="0">
                <a:solidFill>
                  <a:srgbClr val="002060"/>
                </a:solidFill>
                <a:latin typeface="Arial"/>
              </a:rPr>
              <a:t>2025/2026</a:t>
            </a:r>
            <a:endParaRPr lang="en-US" sz="2000" dirty="0">
              <a:solidFill>
                <a:srgbClr val="002060"/>
              </a:solidFill>
              <a:latin typeface="Arial"/>
            </a:endParaRPr>
          </a:p>
        </p:txBody>
      </p:sp>
      <p:pic>
        <p:nvPicPr>
          <p:cNvPr id="10" name="Picture 12" descr="Description: Description: C:\Users\DELL3010\Desktop\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793" y="5130086"/>
            <a:ext cx="280828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385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274638"/>
            <a:ext cx="6552728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Topics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dirty="0" smtClean="0"/>
              <a:t>What is system administration?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dirty="0" smtClean="0"/>
              <a:t>What do </a:t>
            </a:r>
            <a:r>
              <a:rPr lang="en-US" dirty="0" err="1" smtClean="0"/>
              <a:t>sysadmins</a:t>
            </a:r>
            <a:r>
              <a:rPr lang="en-US" dirty="0" smtClean="0"/>
              <a:t> do?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dirty="0" smtClean="0"/>
              <a:t>Administration Challenges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dirty="0" smtClean="0"/>
              <a:t>Principles and First Steps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dirty="0" smtClean="0"/>
              <a:t>Organizations and Certifications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dirty="0" smtClean="0"/>
              <a:t>Maturity and Complexity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dirty="0" smtClean="0"/>
              <a:t>SAGE Code of Ethics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GB" dirty="0" smtClean="0"/>
              <a:t>X-Windows Operating Systems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7244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What is a Computer Network system?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791497" y="1356519"/>
            <a:ext cx="10609006" cy="106680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sz="2800" b="1" dirty="0" smtClean="0"/>
              <a:t>	</a:t>
            </a:r>
            <a:r>
              <a:rPr lang="en-US" sz="2800" b="1" dirty="0" smtClean="0">
                <a:solidFill>
                  <a:srgbClr val="FF0000"/>
                </a:solidFill>
              </a:rPr>
              <a:t>Computer </a:t>
            </a:r>
            <a:r>
              <a:rPr lang="en-US" sz="2800" b="1" dirty="0">
                <a:solidFill>
                  <a:srgbClr val="FF0000"/>
                </a:solidFill>
              </a:rPr>
              <a:t>Network </a:t>
            </a:r>
            <a:r>
              <a:rPr lang="en-US" sz="2800" b="1" dirty="0" smtClean="0"/>
              <a:t>System</a:t>
            </a:r>
            <a:r>
              <a:rPr lang="en-US" sz="2800" dirty="0"/>
              <a:t>: An organized collection of computers interacting with a group of users looking for services to accomplish work.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2855640" y="2667000"/>
            <a:ext cx="6440760" cy="3332802"/>
            <a:chOff x="1331640" y="2667000"/>
            <a:chExt cx="6440760" cy="3332802"/>
          </a:xfrm>
        </p:grpSpPr>
        <p:sp>
          <p:nvSpPr>
            <p:cNvPr id="5126" name="Oval 5"/>
            <p:cNvSpPr>
              <a:spLocks noChangeArrowheads="1"/>
            </p:cNvSpPr>
            <p:nvPr/>
          </p:nvSpPr>
          <p:spPr bwMode="auto">
            <a:xfrm>
              <a:off x="1447800" y="2667000"/>
              <a:ext cx="2057400" cy="838200"/>
            </a:xfrm>
            <a:prstGeom prst="ellipse">
              <a:avLst/>
            </a:prstGeom>
            <a:solidFill>
              <a:srgbClr val="E30D9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2800" dirty="0">
                  <a:solidFill>
                    <a:prstClr val="black"/>
                  </a:solidFill>
                  <a:latin typeface="Helvetica"/>
                </a:rPr>
                <a:t>Servers</a:t>
              </a:r>
            </a:p>
          </p:txBody>
        </p:sp>
        <p:sp>
          <p:nvSpPr>
            <p:cNvPr id="5127" name="Oval 12"/>
            <p:cNvSpPr>
              <a:spLocks noChangeArrowheads="1"/>
            </p:cNvSpPr>
            <p:nvPr/>
          </p:nvSpPr>
          <p:spPr bwMode="auto">
            <a:xfrm>
              <a:off x="1331640" y="4724400"/>
              <a:ext cx="2249760" cy="838200"/>
            </a:xfrm>
            <a:prstGeom prst="ellipse">
              <a:avLst/>
            </a:prstGeom>
            <a:solidFill>
              <a:srgbClr val="E30D9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2800" dirty="0">
                  <a:solidFill>
                    <a:prstClr val="black"/>
                  </a:solidFill>
                  <a:latin typeface="Helvetica"/>
                </a:rPr>
                <a:t>Services</a:t>
              </a:r>
            </a:p>
          </p:txBody>
        </p:sp>
        <p:sp>
          <p:nvSpPr>
            <p:cNvPr id="5128" name="Oval 13"/>
            <p:cNvSpPr>
              <a:spLocks noChangeArrowheads="1"/>
            </p:cNvSpPr>
            <p:nvPr/>
          </p:nvSpPr>
          <p:spPr bwMode="auto">
            <a:xfrm>
              <a:off x="5715000" y="2667000"/>
              <a:ext cx="2057400" cy="838200"/>
            </a:xfrm>
            <a:prstGeom prst="ellipse">
              <a:avLst/>
            </a:prstGeom>
            <a:solidFill>
              <a:srgbClr val="00B0F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Helvetica"/>
                </a:rPr>
                <a:t> </a:t>
              </a:r>
              <a:r>
                <a:rPr lang="en-US" sz="2800" dirty="0">
                  <a:solidFill>
                    <a:prstClr val="black"/>
                  </a:solidFill>
                  <a:latin typeface="Helvetica"/>
                </a:rPr>
                <a:t>PCs</a:t>
              </a:r>
            </a:p>
          </p:txBody>
        </p:sp>
        <p:sp>
          <p:nvSpPr>
            <p:cNvPr id="5129" name="Oval 14"/>
            <p:cNvSpPr>
              <a:spLocks noChangeArrowheads="1"/>
            </p:cNvSpPr>
            <p:nvPr/>
          </p:nvSpPr>
          <p:spPr bwMode="auto">
            <a:xfrm>
              <a:off x="5715000" y="4724400"/>
              <a:ext cx="2057400" cy="838200"/>
            </a:xfrm>
            <a:prstGeom prst="ellipse">
              <a:avLst/>
            </a:prstGeom>
            <a:solidFill>
              <a:srgbClr val="00B0F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2800" dirty="0">
                  <a:solidFill>
                    <a:prstClr val="black"/>
                  </a:solidFill>
                  <a:latin typeface="Helvetica"/>
                </a:rPr>
                <a:t> Users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3779912" y="3429000"/>
              <a:ext cx="1800200" cy="1524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rgbClr val="E30D9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rgbClr val="FF0000"/>
                  </a:solidFill>
                  <a:latin typeface="Helvetica"/>
                </a:rPr>
                <a:t>Network</a:t>
              </a:r>
            </a:p>
          </p:txBody>
        </p:sp>
        <p:cxnSp>
          <p:nvCxnSpPr>
            <p:cNvPr id="5131" name="Straight Arrow Connector 17"/>
            <p:cNvCxnSpPr>
              <a:cxnSpLocks noChangeShapeType="1"/>
            </p:cNvCxnSpPr>
            <p:nvPr/>
          </p:nvCxnSpPr>
          <p:spPr bwMode="auto">
            <a:xfrm rot="5400000" flipH="1" flipV="1">
              <a:off x="1981201" y="4114800"/>
              <a:ext cx="1066800" cy="3175"/>
            </a:xfrm>
            <a:prstGeom prst="straightConnector1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5132" name="TextBox 19"/>
            <p:cNvSpPr txBox="1">
              <a:spLocks noChangeArrowheads="1"/>
            </p:cNvSpPr>
            <p:nvPr/>
          </p:nvSpPr>
          <p:spPr bwMode="auto">
            <a:xfrm rot="16200000">
              <a:off x="2053659" y="4041874"/>
              <a:ext cx="74090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Helvetica"/>
                </a:rPr>
                <a:t>run on</a:t>
              </a:r>
            </a:p>
          </p:txBody>
        </p:sp>
        <p:cxnSp>
          <p:nvCxnSpPr>
            <p:cNvPr id="5133" name="Straight Connector 21"/>
            <p:cNvCxnSpPr>
              <a:cxnSpLocks noChangeShapeType="1"/>
              <a:stCxn id="5126" idx="5"/>
              <a:endCxn id="16" idx="1"/>
            </p:cNvCxnSpPr>
            <p:nvPr/>
          </p:nvCxnSpPr>
          <p:spPr bwMode="auto">
            <a:xfrm>
              <a:off x="3203901" y="3382449"/>
              <a:ext cx="839644" cy="269735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5134" name="Straight Connector 23"/>
            <p:cNvCxnSpPr>
              <a:cxnSpLocks noChangeShapeType="1"/>
              <a:stCxn id="16" idx="7"/>
              <a:endCxn id="5128" idx="3"/>
            </p:cNvCxnSpPr>
            <p:nvPr/>
          </p:nvCxnSpPr>
          <p:spPr bwMode="auto">
            <a:xfrm flipV="1">
              <a:off x="5316479" y="3382449"/>
              <a:ext cx="699820" cy="269735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5135" name="Straight Connector 31"/>
            <p:cNvCxnSpPr>
              <a:cxnSpLocks noChangeShapeType="1"/>
              <a:stCxn id="16" idx="3"/>
              <a:endCxn id="5127" idx="6"/>
            </p:cNvCxnSpPr>
            <p:nvPr/>
          </p:nvCxnSpPr>
          <p:spPr bwMode="auto">
            <a:xfrm flipH="1">
              <a:off x="3581400" y="4729816"/>
              <a:ext cx="462145" cy="413684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5136" name="Straight Connector 33"/>
            <p:cNvCxnSpPr>
              <a:cxnSpLocks noChangeShapeType="1"/>
              <a:stCxn id="16" idx="5"/>
              <a:endCxn id="5129" idx="2"/>
            </p:cNvCxnSpPr>
            <p:nvPr/>
          </p:nvCxnSpPr>
          <p:spPr bwMode="auto">
            <a:xfrm>
              <a:off x="5316479" y="4729816"/>
              <a:ext cx="398521" cy="413684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5137" name="Straight Arrow Connector 34"/>
            <p:cNvCxnSpPr>
              <a:cxnSpLocks noChangeShapeType="1"/>
            </p:cNvCxnSpPr>
            <p:nvPr/>
          </p:nvCxnSpPr>
          <p:spPr bwMode="auto">
            <a:xfrm rot="5400000" flipH="1" flipV="1">
              <a:off x="6249194" y="4114006"/>
              <a:ext cx="1066800" cy="1588"/>
            </a:xfrm>
            <a:prstGeom prst="straightConnector1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5138" name="TextBox 35"/>
            <p:cNvSpPr txBox="1">
              <a:spLocks noChangeArrowheads="1"/>
            </p:cNvSpPr>
            <p:nvPr/>
          </p:nvSpPr>
          <p:spPr bwMode="auto">
            <a:xfrm rot="16200000">
              <a:off x="6333626" y="3965674"/>
              <a:ext cx="5629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Helvetica"/>
                </a:rPr>
                <a:t>Use </a:t>
              </a:r>
            </a:p>
          </p:txBody>
        </p:sp>
        <p:cxnSp>
          <p:nvCxnSpPr>
            <p:cNvPr id="5139" name="Straight Arrow Connector 39"/>
            <p:cNvCxnSpPr>
              <a:cxnSpLocks noChangeShapeType="1"/>
            </p:cNvCxnSpPr>
            <p:nvPr/>
          </p:nvCxnSpPr>
          <p:spPr bwMode="auto">
            <a:xfrm>
              <a:off x="3733800" y="5589240"/>
              <a:ext cx="1828800" cy="1588"/>
            </a:xfrm>
            <a:prstGeom prst="straightConnector1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5140" name="TextBox 40"/>
            <p:cNvSpPr txBox="1">
              <a:spLocks noChangeArrowheads="1"/>
            </p:cNvSpPr>
            <p:nvPr/>
          </p:nvSpPr>
          <p:spPr bwMode="auto">
            <a:xfrm>
              <a:off x="3563888" y="5661248"/>
              <a:ext cx="258115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prstClr val="black"/>
                  </a:solidFill>
                  <a:latin typeface="Helvetica"/>
                </a:rPr>
                <a:t>help to accomplish work</a:t>
              </a:r>
            </a:p>
          </p:txBody>
        </p: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9132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2060"/>
                </a:solidFill>
              </a:rPr>
              <a:t>System State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b="1" dirty="0"/>
              <a:t>System policy: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specification</a:t>
            </a:r>
            <a:r>
              <a:rPr lang="en-US" sz="2800" dirty="0"/>
              <a:t> of a system’s configuration and its </a:t>
            </a:r>
            <a:r>
              <a:rPr lang="en-US" sz="2800" b="1" dirty="0"/>
              <a:t>acceptable usage</a:t>
            </a:r>
            <a:r>
              <a:rPr lang="en-US" sz="2800" dirty="0"/>
              <a:t>.</a:t>
            </a:r>
          </a:p>
          <a:p>
            <a:pPr>
              <a:buFontTx/>
              <a:buNone/>
            </a:pPr>
            <a:r>
              <a:rPr lang="en-US" sz="2800" b="1" dirty="0"/>
              <a:t>System state S(t): </a:t>
            </a:r>
            <a:r>
              <a:rPr lang="en-US" sz="2800" dirty="0"/>
              <a:t>the </a:t>
            </a:r>
            <a:r>
              <a:rPr lang="en-US" sz="2800" b="1" dirty="0">
                <a:solidFill>
                  <a:srgbClr val="FF0000"/>
                </a:solidFill>
              </a:rPr>
              <a:t>current</a:t>
            </a:r>
            <a:r>
              <a:rPr lang="en-US" sz="2800" dirty="0"/>
              <a:t> configuration (files, kernel, memory or CPU usage) of a system.</a:t>
            </a:r>
          </a:p>
          <a:p>
            <a:pPr>
              <a:buFontTx/>
              <a:buNone/>
            </a:pPr>
            <a:r>
              <a:rPr lang="en-US" sz="2800" b="1" dirty="0"/>
              <a:t>Ideal states S*(t): </a:t>
            </a:r>
            <a:r>
              <a:rPr lang="en-US" sz="2800" b="1" dirty="0">
                <a:solidFill>
                  <a:srgbClr val="FF0000"/>
                </a:solidFill>
              </a:rPr>
              <a:t>states of the system that match the system policy</a:t>
            </a:r>
            <a:r>
              <a:rPr lang="en-US" sz="2800" dirty="0"/>
              <a:t>.  </a:t>
            </a:r>
            <a:r>
              <a:rPr lang="en-US" sz="2800" b="1" dirty="0"/>
              <a:t>Over time, the system state </a:t>
            </a:r>
            <a:r>
              <a:rPr lang="en-US" sz="2800" b="1" dirty="0">
                <a:solidFill>
                  <a:srgbClr val="FF0000"/>
                </a:solidFill>
              </a:rPr>
              <a:t>shifts</a:t>
            </a:r>
            <a:r>
              <a:rPr lang="en-US" sz="2800" b="1" dirty="0"/>
              <a:t> away from the ideal state.</a:t>
            </a:r>
          </a:p>
          <a:p>
            <a:pPr>
              <a:buFontTx/>
              <a:buNone/>
            </a:pPr>
            <a:r>
              <a:rPr lang="en-US" sz="2800" b="1" dirty="0"/>
              <a:t>System administration: </a:t>
            </a:r>
            <a:r>
              <a:rPr lang="en-US" sz="2800" dirty="0"/>
              <a:t>modifying the system to bring it closer to S*(t).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6149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What do </a:t>
            </a:r>
            <a:r>
              <a:rPr lang="en-US" b="1" dirty="0" err="1" smtClean="0">
                <a:solidFill>
                  <a:srgbClr val="002060"/>
                </a:solidFill>
              </a:rPr>
              <a:t>sysadmins</a:t>
            </a:r>
            <a:r>
              <a:rPr lang="en-US" b="1" dirty="0" smtClean="0">
                <a:solidFill>
                  <a:srgbClr val="002060"/>
                </a:solidFill>
              </a:rPr>
              <a:t> do?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8153400" cy="4800600"/>
          </a:xfrm>
        </p:spPr>
        <p:txBody>
          <a:bodyPr>
            <a:normAutofit fontScale="92500"/>
          </a:bodyPr>
          <a:lstStyle/>
          <a:p>
            <a:pPr eaLnBrk="1" hangingPunct="1">
              <a:buFontTx/>
              <a:buNone/>
            </a:pPr>
            <a:r>
              <a:rPr lang="en-US" sz="2800" b="1" dirty="0"/>
              <a:t>Small org</a:t>
            </a:r>
            <a:r>
              <a:rPr lang="en-US" sz="2800" dirty="0"/>
              <a:t>: </a:t>
            </a:r>
            <a:r>
              <a:rPr lang="en-US" sz="2800" dirty="0" err="1"/>
              <a:t>sysadmin</a:t>
            </a:r>
            <a:r>
              <a:rPr lang="en-US" sz="2800" dirty="0"/>
              <a:t> can be entire IT staff</a:t>
            </a:r>
          </a:p>
          <a:p>
            <a:pPr lvl="1" eaLnBrk="1" hangingPunct="1"/>
            <a:r>
              <a:rPr lang="en-US" dirty="0" smtClean="0"/>
              <a:t>Phone support</a:t>
            </a:r>
          </a:p>
          <a:p>
            <a:pPr lvl="1" eaLnBrk="1" hangingPunct="1"/>
            <a:r>
              <a:rPr lang="en-US" dirty="0" smtClean="0"/>
              <a:t>Order and install software and hardware</a:t>
            </a:r>
          </a:p>
          <a:p>
            <a:pPr lvl="1" eaLnBrk="1" hangingPunct="1"/>
            <a:r>
              <a:rPr lang="en-US" dirty="0" smtClean="0"/>
              <a:t>Fix anything that breaks from phones to servers</a:t>
            </a:r>
          </a:p>
          <a:p>
            <a:pPr lvl="1" eaLnBrk="1" hangingPunct="1"/>
            <a:r>
              <a:rPr lang="en-US" dirty="0" smtClean="0"/>
              <a:t>Develop software</a:t>
            </a:r>
          </a:p>
          <a:p>
            <a:pPr eaLnBrk="1" hangingPunct="1">
              <a:buFontTx/>
              <a:buNone/>
            </a:pPr>
            <a:r>
              <a:rPr lang="en-US" sz="2800" b="1" dirty="0"/>
              <a:t>Large org</a:t>
            </a:r>
            <a:r>
              <a:rPr lang="en-US" sz="2800" dirty="0"/>
              <a:t>: </a:t>
            </a:r>
            <a:r>
              <a:rPr lang="en-US" sz="2800" dirty="0" err="1"/>
              <a:t>sysadmin</a:t>
            </a:r>
            <a:r>
              <a:rPr lang="en-US" sz="2800" dirty="0"/>
              <a:t> is one of many IT staff</a:t>
            </a:r>
          </a:p>
          <a:p>
            <a:pPr lvl="1" eaLnBrk="1" hangingPunct="1"/>
            <a:r>
              <a:rPr lang="en-US" dirty="0" smtClean="0"/>
              <a:t>Specialists instead of “jack of all trades”</a:t>
            </a:r>
          </a:p>
          <a:p>
            <a:pPr lvl="1" eaLnBrk="1" hangingPunct="1"/>
            <a:r>
              <a:rPr lang="en-US" dirty="0" smtClean="0"/>
              <a:t>Database admin, Network admin, Fileserver admin, Help desk worker, Programmers, Logistics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3681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What do </a:t>
            </a:r>
            <a:r>
              <a:rPr lang="en-US" b="1" dirty="0" err="1" smtClean="0">
                <a:solidFill>
                  <a:srgbClr val="002060"/>
                </a:solidFill>
              </a:rPr>
              <a:t>sysadmins</a:t>
            </a:r>
            <a:r>
              <a:rPr lang="en-US" b="1" dirty="0" smtClean="0">
                <a:solidFill>
                  <a:srgbClr val="002060"/>
                </a:solidFill>
              </a:rPr>
              <a:t> do? … 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224" y="1412776"/>
            <a:ext cx="8229600" cy="4896544"/>
          </a:xfrm>
        </p:spPr>
        <p:txBody>
          <a:bodyPr>
            <a:normAutofit lnSpcReduction="10000"/>
          </a:bodyPr>
          <a:lstStyle/>
          <a:p>
            <a:pPr marL="609600" indent="-609600">
              <a:buFontTx/>
              <a:buAutoNum type="arabicPeriod"/>
            </a:pPr>
            <a:r>
              <a:rPr lang="en-US" sz="2800" dirty="0"/>
              <a:t>Add and remove users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Add and remove hardware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Perform backups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Install new software systems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Troubleshooting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System monitoring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Auditing security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Help users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Communicate</a:t>
            </a:r>
          </a:p>
          <a:p>
            <a:pPr marL="609600" indent="-609600">
              <a:buNone/>
            </a:pPr>
            <a:r>
              <a:rPr lang="en-US" sz="2800" b="1" dirty="0">
                <a:solidFill>
                  <a:srgbClr val="FF0000"/>
                </a:solidFill>
              </a:rPr>
              <a:t>All are common activities for </a:t>
            </a:r>
            <a:r>
              <a:rPr lang="en-US" sz="2800" b="1" dirty="0" err="1">
                <a:solidFill>
                  <a:srgbClr val="FF0000"/>
                </a:solidFill>
              </a:rPr>
              <a:t>sysadmin</a:t>
            </a:r>
            <a:r>
              <a:rPr lang="en-US" sz="2800" b="1" dirty="0">
                <a:solidFill>
                  <a:srgbClr val="FF0000"/>
                </a:solidFill>
              </a:rPr>
              <a:t>.</a:t>
            </a:r>
            <a:endParaRPr lang="en-US" sz="2800" dirty="0">
              <a:solidFill>
                <a:srgbClr val="FF0000"/>
              </a:solidFill>
            </a:endParaRPr>
          </a:p>
          <a:p>
            <a:pPr marL="609600" indent="-609600">
              <a:buFontTx/>
              <a:buAutoNum type="arabicPeriod"/>
            </a:pPr>
            <a:endParaRPr lang="en-US" sz="2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9927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1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8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User Account Management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Creating user accounts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Consistency requires automation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Startup (dot) files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Removing user accounts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Consistency requires automation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Many accounts across different systems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Namespace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Usernames and UIDs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Multiple namespaces or SSI?</a:t>
            </a:r>
          </a:p>
          <a:p>
            <a:pPr lvl="1" indent="-742950">
              <a:lnSpc>
                <a:spcPct val="90000"/>
              </a:lnSpc>
              <a:buNone/>
            </a:pPr>
            <a:endParaRPr lang="en-US" dirty="0" smtClean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84232" y="1268760"/>
            <a:ext cx="2448272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0873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04112" y="836712"/>
            <a:ext cx="338437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512" y="125760"/>
            <a:ext cx="699512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Hardware Management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515616"/>
            <a:ext cx="8077200" cy="4793704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800" dirty="0"/>
              <a:t>Adding and removing hardware</a:t>
            </a:r>
          </a:p>
          <a:p>
            <a:pPr lvl="1" eaLnBrk="1" hangingPunct="1"/>
            <a:r>
              <a:rPr lang="en-US" sz="2400" dirty="0"/>
              <a:t>Configuration, cabling, etc.</a:t>
            </a:r>
          </a:p>
          <a:p>
            <a:pPr eaLnBrk="1" hangingPunct="1">
              <a:buFontTx/>
              <a:buNone/>
            </a:pPr>
            <a:r>
              <a:rPr lang="en-US" sz="2800" dirty="0"/>
              <a:t>Purchase</a:t>
            </a:r>
          </a:p>
          <a:p>
            <a:pPr lvl="1" eaLnBrk="1" hangingPunct="1"/>
            <a:r>
              <a:rPr lang="en-US" sz="2400" dirty="0"/>
              <a:t>Evaluate and purchase servers + other hardware</a:t>
            </a:r>
          </a:p>
          <a:p>
            <a:pPr eaLnBrk="1" hangingPunct="1">
              <a:buFontTx/>
              <a:buNone/>
            </a:pPr>
            <a:r>
              <a:rPr lang="en-US" sz="2800" dirty="0"/>
              <a:t>Capacity planning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</a:rPr>
              <a:t>How many servers?  How much bandwidth, storage?</a:t>
            </a:r>
          </a:p>
          <a:p>
            <a:pPr eaLnBrk="1" hangingPunct="1">
              <a:buFontTx/>
              <a:buNone/>
            </a:pPr>
            <a:r>
              <a:rPr lang="en-US" sz="2800" dirty="0"/>
              <a:t>Data Center management</a:t>
            </a:r>
          </a:p>
          <a:p>
            <a:pPr lvl="1" eaLnBrk="1" hangingPunct="1"/>
            <a:r>
              <a:rPr lang="en-US" sz="2400" dirty="0"/>
              <a:t>Power, environment (cooling, fire alarm)</a:t>
            </a:r>
          </a:p>
          <a:p>
            <a:pPr eaLnBrk="1" hangingPunct="1">
              <a:buFontTx/>
              <a:buNone/>
            </a:pPr>
            <a:r>
              <a:rPr lang="en-US" sz="2800" dirty="0"/>
              <a:t>Virtualization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</a:rPr>
              <a:t>When can virtual servers be used vs. physical?</a:t>
            </a:r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9412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0016" y="2420888"/>
            <a:ext cx="4427984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Data Backups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mtClean="0"/>
              <a:t>Backup strategy and policies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Scheduling: when and how often?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Capacity planning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Location: on-site vs. off-site.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mtClean="0"/>
              <a:t>Monitoring backups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Checking logs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Verifying media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mtClean="0"/>
              <a:t>Performing restores when requested</a:t>
            </a:r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84232" y="476672"/>
            <a:ext cx="216024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3675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002060"/>
                </a:solidFill>
              </a:rPr>
              <a:t>Software Installation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1600201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sz="2800" dirty="0"/>
              <a:t>Evaluation of software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Automated consistent OS installs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Desktop vs. server OS image needs.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Installation of software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Purchase, find, or </a:t>
            </a:r>
          </a:p>
          <a:p>
            <a:pPr lvl="1" indent="-20638">
              <a:lnSpc>
                <a:spcPct val="90000"/>
              </a:lnSpc>
              <a:buNone/>
            </a:pPr>
            <a:r>
              <a:rPr lang="en-US" sz="2400" dirty="0"/>
              <a:t>build custom software.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Managing software installations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Distributing software to multiple hosts.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Managing multiple versions of a software pkg.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/>
              <a:t>Patching and updating software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36160" y="1268760"/>
            <a:ext cx="3096344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2449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916832"/>
            <a:ext cx="4536504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5760"/>
            <a:ext cx="8229600" cy="854968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System Monitoring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1052736"/>
            <a:ext cx="8579296" cy="5256584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buFontTx/>
              <a:buNone/>
            </a:pPr>
            <a:r>
              <a:rPr lang="en-US" b="1" dirty="0" smtClean="0"/>
              <a:t>Automatically monitor systems for</a:t>
            </a:r>
          </a:p>
          <a:p>
            <a:pPr lvl="1" eaLnBrk="1" hangingPunct="1"/>
            <a:r>
              <a:rPr lang="en-US" b="1" dirty="0" smtClean="0"/>
              <a:t>Problems (disk full, error logs, security)</a:t>
            </a:r>
          </a:p>
          <a:p>
            <a:pPr lvl="1" eaLnBrk="1" hangingPunct="1"/>
            <a:r>
              <a:rPr lang="en-US" b="1" dirty="0" smtClean="0"/>
              <a:t>Performance (CPU, </a:t>
            </a:r>
            <a:r>
              <a:rPr lang="en-US" b="1" dirty="0" err="1" smtClean="0"/>
              <a:t>mem</a:t>
            </a:r>
            <a:r>
              <a:rPr lang="en-US" b="1" dirty="0" smtClean="0"/>
              <a:t>, disk, network)</a:t>
            </a:r>
          </a:p>
          <a:p>
            <a:pPr>
              <a:buNone/>
            </a:pPr>
            <a:r>
              <a:rPr lang="en-US" b="1" dirty="0" smtClean="0"/>
              <a:t>Security</a:t>
            </a:r>
          </a:p>
          <a:p>
            <a:pPr lvl="1"/>
            <a:r>
              <a:rPr lang="en-US" b="1" dirty="0" smtClean="0"/>
              <a:t>Passwords</a:t>
            </a:r>
          </a:p>
          <a:p>
            <a:pPr lvl="1"/>
            <a:r>
              <a:rPr lang="en-US" b="1" dirty="0" smtClean="0"/>
              <a:t>Break-ins</a:t>
            </a:r>
          </a:p>
          <a:p>
            <a:pPr>
              <a:buNone/>
            </a:pPr>
            <a:r>
              <a:rPr lang="en-US" b="1" dirty="0" smtClean="0"/>
              <a:t>Capacity</a:t>
            </a:r>
          </a:p>
          <a:p>
            <a:pPr lvl="1"/>
            <a:r>
              <a:rPr lang="en-US" b="1" dirty="0" smtClean="0"/>
              <a:t>Disk, RAM, CPU, network</a:t>
            </a:r>
          </a:p>
          <a:p>
            <a:pPr>
              <a:buNone/>
            </a:pPr>
            <a:r>
              <a:rPr lang="en-US" b="1" dirty="0" smtClean="0"/>
              <a:t>System logs</a:t>
            </a:r>
          </a:p>
          <a:p>
            <a:pPr lvl="1"/>
            <a:r>
              <a:rPr lang="en-US" b="1" dirty="0" smtClean="0"/>
              <a:t>Examination</a:t>
            </a:r>
          </a:p>
          <a:p>
            <a:pPr lvl="1"/>
            <a:r>
              <a:rPr lang="en-US" b="1" dirty="0" smtClean="0"/>
              <a:t>Periodic rotation and truncation</a:t>
            </a:r>
          </a:p>
          <a:p>
            <a:pPr lvl="1"/>
            <a:r>
              <a:rPr lang="en-US" b="1" dirty="0" smtClean="0"/>
              <a:t>Archival storage (at least </a:t>
            </a:r>
          </a:p>
          <a:p>
            <a:pPr lvl="1">
              <a:buNone/>
            </a:pPr>
            <a:r>
              <a:rPr lang="en-US" b="1" dirty="0" smtClean="0"/>
              <a:t>	summaries)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Provides data for capacity planning</a:t>
            </a:r>
          </a:p>
          <a:p>
            <a:pPr lvl="1" eaLnBrk="1" hangingPunct="1"/>
            <a:r>
              <a:rPr lang="en-US" b="1" dirty="0" smtClean="0"/>
              <a:t>Determine need for resources</a:t>
            </a:r>
          </a:p>
          <a:p>
            <a:pPr lvl="1" eaLnBrk="1" hangingPunct="1"/>
            <a:r>
              <a:rPr lang="en-US" b="1" dirty="0" smtClean="0"/>
              <a:t>Establish case to bring to management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2056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00811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052737"/>
            <a:ext cx="8229600" cy="507342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None/>
            </a:pPr>
            <a:r>
              <a:rPr lang="en-US" dirty="0" smtClean="0"/>
              <a:t>Problem identification, diagnosis, and resolution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By user notification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By log files or monitoring programs</a:t>
            </a:r>
          </a:p>
          <a:p>
            <a:pPr>
              <a:lnSpc>
                <a:spcPct val="90000"/>
              </a:lnSpc>
              <a:buNone/>
            </a:pPr>
            <a:r>
              <a:rPr lang="en-US" b="1" dirty="0" smtClean="0">
                <a:solidFill>
                  <a:srgbClr val="FF0000"/>
                </a:solidFill>
              </a:rPr>
              <a:t>Finding the root cause of problems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Provide temporary solution if necessary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Solve the root problem to permanently eliminate</a:t>
            </a:r>
          </a:p>
          <a:p>
            <a:pPr lvl="2"/>
            <a:r>
              <a:rPr lang="en-US" dirty="0" smtClean="0"/>
              <a:t>Often </a:t>
            </a:r>
            <a:r>
              <a:rPr lang="en-US" dirty="0"/>
              <a:t>quite difficult!</a:t>
            </a:r>
          </a:p>
          <a:p>
            <a:pPr lvl="1">
              <a:buNone/>
            </a:pPr>
            <a:r>
              <a:rPr lang="en-US" dirty="0" smtClean="0"/>
              <a:t>Often </a:t>
            </a:r>
            <a:r>
              <a:rPr lang="en-US" dirty="0"/>
              <a:t>requires</a:t>
            </a:r>
          </a:p>
          <a:p>
            <a:pPr lvl="1"/>
            <a:r>
              <a:rPr lang="en-US" dirty="0" smtClean="0"/>
              <a:t>Broad </a:t>
            </a:r>
            <a:r>
              <a:rPr lang="en-US" dirty="0"/>
              <a:t>and thorough</a:t>
            </a:r>
          </a:p>
          <a:p>
            <a:pPr lvl="1">
              <a:buNone/>
            </a:pPr>
            <a:r>
              <a:rPr lang="en-US" dirty="0" smtClean="0"/>
              <a:t>	system </a:t>
            </a:r>
            <a:r>
              <a:rPr lang="en-US" dirty="0"/>
              <a:t>knowledge</a:t>
            </a:r>
          </a:p>
          <a:p>
            <a:pPr lvl="1"/>
            <a:r>
              <a:rPr lang="en-US" dirty="0" smtClean="0"/>
              <a:t>Outside </a:t>
            </a:r>
            <a:r>
              <a:rPr lang="en-US" dirty="0"/>
              <a:t>experts</a:t>
            </a:r>
          </a:p>
          <a:p>
            <a:pPr lvl="1"/>
            <a:r>
              <a:rPr lang="en-US" dirty="0" smtClean="0"/>
              <a:t>Luck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7968" y="3501008"/>
            <a:ext cx="454875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703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2144" y="1124744"/>
            <a:ext cx="313184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143000"/>
          </a:xfrm>
        </p:spPr>
        <p:txBody>
          <a:bodyPr/>
          <a:lstStyle/>
          <a:p>
            <a:r>
              <a:rPr lang="en-US" b="1" dirty="0"/>
              <a:t>User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888232"/>
            <a:ext cx="8229600" cy="47091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Time intensive!</a:t>
            </a:r>
          </a:p>
          <a:p>
            <a:r>
              <a:rPr lang="en-US" dirty="0" smtClean="0"/>
              <a:t>Techniques</a:t>
            </a:r>
            <a:endParaRPr lang="en-US" dirty="0"/>
          </a:p>
          <a:p>
            <a:pPr lvl="1"/>
            <a:r>
              <a:rPr lang="en-US" dirty="0" smtClean="0"/>
              <a:t>Help </a:t>
            </a:r>
            <a:r>
              <a:rPr lang="en-US" dirty="0"/>
              <a:t>desks</a:t>
            </a:r>
          </a:p>
          <a:p>
            <a:pPr lvl="1"/>
            <a:r>
              <a:rPr lang="en-US" dirty="0" smtClean="0"/>
              <a:t>Trouble-ticket </a:t>
            </a:r>
            <a:r>
              <a:rPr lang="en-US" dirty="0"/>
              <a:t>systems</a:t>
            </a:r>
          </a:p>
          <a:p>
            <a:r>
              <a:rPr lang="en-US" dirty="0" smtClean="0"/>
              <a:t>Software </a:t>
            </a:r>
            <a:r>
              <a:rPr lang="en-US" dirty="0"/>
              <a:t>availability and usage</a:t>
            </a:r>
          </a:p>
          <a:p>
            <a:r>
              <a:rPr lang="en-US" dirty="0" smtClean="0"/>
              <a:t>Software </a:t>
            </a:r>
            <a:r>
              <a:rPr lang="en-US" dirty="0"/>
              <a:t>configuration settings</a:t>
            </a:r>
          </a:p>
          <a:p>
            <a:r>
              <a:rPr lang="en-US" dirty="0" smtClean="0"/>
              <a:t>Hardware </a:t>
            </a:r>
            <a:r>
              <a:rPr lang="en-US" dirty="0"/>
              <a:t>usage, maintenance, and troubleshooting</a:t>
            </a:r>
          </a:p>
          <a:p>
            <a:r>
              <a:rPr lang="en-US" b="1" dirty="0" smtClean="0"/>
              <a:t>User documentation and training</a:t>
            </a:r>
          </a:p>
          <a:p>
            <a:pPr lvl="1"/>
            <a:r>
              <a:rPr lang="en-US" dirty="0" smtClean="0"/>
              <a:t>Policies and procedures</a:t>
            </a:r>
          </a:p>
          <a:p>
            <a:r>
              <a:rPr lang="en-US" dirty="0" smtClean="0"/>
              <a:t>Schedule and communicate downtimes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3080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84232" y="779562"/>
            <a:ext cx="2483768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36" y="171135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System logging and audit facilities</a:t>
            </a:r>
          </a:p>
          <a:p>
            <a:pPr lvl="1"/>
            <a:r>
              <a:rPr lang="en-US" dirty="0" smtClean="0"/>
              <a:t>Evaluation </a:t>
            </a:r>
            <a:r>
              <a:rPr lang="en-US" dirty="0"/>
              <a:t>and implementation</a:t>
            </a:r>
          </a:p>
          <a:p>
            <a:pPr lvl="1"/>
            <a:r>
              <a:rPr lang="en-US" dirty="0" smtClean="0"/>
              <a:t>Monitoring </a:t>
            </a:r>
            <a:r>
              <a:rPr lang="en-US" dirty="0"/>
              <a:t>and analysis</a:t>
            </a:r>
          </a:p>
          <a:p>
            <a:pPr lvl="1"/>
            <a:r>
              <a:rPr lang="en-US" dirty="0" smtClean="0"/>
              <a:t>Traps</a:t>
            </a:r>
            <a:r>
              <a:rPr lang="en-US" dirty="0"/>
              <a:t>, auditing and monitoring programs</a:t>
            </a:r>
          </a:p>
          <a:p>
            <a:r>
              <a:rPr lang="en-US" b="1" dirty="0" smtClean="0"/>
              <a:t>Unexpected </a:t>
            </a:r>
            <a:r>
              <a:rPr lang="en-US" b="1" dirty="0"/>
              <a:t>or unauthorized </a:t>
            </a:r>
            <a:r>
              <a:rPr lang="en-US" b="1" dirty="0" smtClean="0"/>
              <a:t>user </a:t>
            </a:r>
            <a:r>
              <a:rPr lang="en-US" b="1" dirty="0"/>
              <a:t>detection</a:t>
            </a:r>
          </a:p>
          <a:p>
            <a:r>
              <a:rPr lang="en-US" dirty="0" smtClean="0"/>
              <a:t>Monitoring </a:t>
            </a:r>
            <a:r>
              <a:rPr lang="en-US" dirty="0"/>
              <a:t>of security advisories</a:t>
            </a:r>
          </a:p>
          <a:p>
            <a:pPr lvl="1"/>
            <a:r>
              <a:rPr lang="en-US" dirty="0" smtClean="0"/>
              <a:t>Security </a:t>
            </a:r>
            <a:r>
              <a:rPr lang="en-US" dirty="0"/>
              <a:t>holes and weaknesses</a:t>
            </a:r>
          </a:p>
          <a:p>
            <a:pPr lvl="1"/>
            <a:r>
              <a:rPr lang="en-US" dirty="0" smtClean="0"/>
              <a:t>Live </a:t>
            </a:r>
            <a:r>
              <a:rPr lang="en-US" dirty="0"/>
              <a:t>exploits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0325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99"/>
                </a:solidFill>
              </a:rPr>
              <a:t>Communicate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981200" y="1451918"/>
            <a:ext cx="8229600" cy="471338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dirty="0"/>
              <a:t>Customers</a:t>
            </a:r>
          </a:p>
          <a:p>
            <a:pPr lvl="1"/>
            <a:r>
              <a:rPr lang="en-US" sz="2400" dirty="0"/>
              <a:t>Keep customer appraised of process</a:t>
            </a:r>
          </a:p>
          <a:p>
            <a:pPr lvl="2"/>
            <a:r>
              <a:rPr lang="en-US" sz="2000" dirty="0"/>
              <a:t>When you’ve started working on a request</a:t>
            </a:r>
          </a:p>
          <a:p>
            <a:pPr lvl="2"/>
            <a:r>
              <a:rPr lang="en-US" sz="2000" dirty="0"/>
              <a:t>When you make progress, need feedback</a:t>
            </a:r>
          </a:p>
          <a:p>
            <a:pPr lvl="2"/>
            <a:r>
              <a:rPr lang="en-US" sz="2000" dirty="0"/>
              <a:t>When you’ve finished</a:t>
            </a:r>
          </a:p>
          <a:p>
            <a:pPr lvl="1"/>
            <a:r>
              <a:rPr lang="en-US" sz="2400" dirty="0"/>
              <a:t>Communicate system status</a:t>
            </a:r>
          </a:p>
          <a:p>
            <a:pPr lvl="2"/>
            <a:r>
              <a:rPr lang="en-US" sz="2000" dirty="0"/>
              <a:t>Uptime, scheduled downtimes, failures</a:t>
            </a:r>
          </a:p>
          <a:p>
            <a:pPr lvl="1"/>
            <a:r>
              <a:rPr lang="en-US" sz="2400" dirty="0"/>
              <a:t>Meet regularly with customer managers</a:t>
            </a:r>
          </a:p>
          <a:p>
            <a:pPr>
              <a:buFontTx/>
              <a:buNone/>
            </a:pPr>
            <a:r>
              <a:rPr lang="en-US" sz="2800" dirty="0"/>
              <a:t>Managers</a:t>
            </a:r>
          </a:p>
          <a:p>
            <a:pPr lvl="1"/>
            <a:r>
              <a:rPr lang="en-US" sz="2400" dirty="0"/>
              <a:t>Meet regularly with your manager</a:t>
            </a:r>
          </a:p>
          <a:p>
            <a:pPr lvl="1"/>
            <a:r>
              <a:rPr lang="en-US" sz="2400" b="1" dirty="0"/>
              <a:t>Write weekly status reports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3546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002060"/>
                </a:solidFill>
              </a:rPr>
              <a:t>Specialized Skills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04528"/>
            <a:ext cx="79248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/>
              <a:t>Heterogeneous Environments</a:t>
            </a:r>
          </a:p>
          <a:p>
            <a:pPr marL="442913" lvl="1" indent="14288">
              <a:lnSpc>
                <a:spcPct val="80000"/>
              </a:lnSpc>
              <a:buNone/>
            </a:pPr>
            <a:r>
              <a:rPr lang="en-US" sz="2400" dirty="0"/>
              <a:t>Integrating </a:t>
            </a:r>
            <a:r>
              <a:rPr lang="en-US" sz="2400" b="1" dirty="0"/>
              <a:t>multiple-</a:t>
            </a:r>
            <a:r>
              <a:rPr lang="en-US" sz="2400" b="1" dirty="0" err="1"/>
              <a:t>OSes</a:t>
            </a:r>
            <a:r>
              <a:rPr lang="en-US" sz="2400" dirty="0"/>
              <a:t>, hardware types, or network protocols, distributed sites.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/>
              <a:t>Databases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SQL RDMS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/>
              <a:t>Networking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Complex routing, high speed networks, voice.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/>
              <a:t>Security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Firewalls, authentication, biometrics, cryptography.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/>
              <a:t>Storage</a:t>
            </a:r>
          </a:p>
          <a:p>
            <a:pPr marL="442913" lvl="1" indent="14288">
              <a:lnSpc>
                <a:spcPct val="80000"/>
              </a:lnSpc>
              <a:buNone/>
            </a:pPr>
            <a:r>
              <a:rPr lang="en-US" sz="2400" dirty="0"/>
              <a:t>Network Attached Storage (NAS), Storage Area Networks (SANs), cloud storage.</a:t>
            </a:r>
            <a:endParaRPr lang="en-US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/>
              <a:t>Virtualization and Cloud Computing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VMware, cloud architectures.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24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152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  <a:ea typeface="ＭＳ Ｐゴシック" pitchFamily="-111" charset="-128"/>
              </a:rPr>
              <a:t>Practice of </a:t>
            </a:r>
            <a:r>
              <a:rPr lang="en-US" b="1" dirty="0" err="1" smtClean="0"/>
              <a:t>sysadmin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36" y="1600201"/>
            <a:ext cx="843528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Common practice may not be good practice</a:t>
            </a:r>
          </a:p>
          <a:p>
            <a:pPr lvl="1"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There are three reasons for common practice:</a:t>
            </a:r>
          </a:p>
          <a:p>
            <a:pPr lvl="2"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Someone did it and others followed blindly;</a:t>
            </a:r>
          </a:p>
          <a:p>
            <a:pPr lvl="2"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Believe it is good after careful thought;</a:t>
            </a:r>
          </a:p>
          <a:p>
            <a:pPr lvl="2"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An arbitrary choice had to be made;</a:t>
            </a:r>
          </a:p>
          <a:p>
            <a:pPr lvl="1"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Think for yourself</a:t>
            </a:r>
          </a:p>
          <a:p>
            <a:pPr lvl="1"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Pay attention to experts but don’t automatically believe anyone</a:t>
            </a:r>
          </a:p>
          <a:p>
            <a:pPr lvl="1"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Every choice needs a reason</a:t>
            </a:r>
            <a:endParaRPr lang="en-US" sz="32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112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143000"/>
          </a:xfrm>
        </p:spPr>
        <p:txBody>
          <a:bodyPr/>
          <a:lstStyle/>
          <a:p>
            <a:r>
              <a:rPr lang="en-GB" b="1" dirty="0" smtClean="0">
                <a:solidFill>
                  <a:srgbClr val="002060"/>
                </a:solidFill>
                <a:ea typeface="ＭＳ Ｐゴシック" pitchFamily="-111" charset="-128"/>
              </a:rPr>
              <a:t>Practice of </a:t>
            </a:r>
            <a:r>
              <a:rPr lang="en-US" b="1" dirty="0" err="1" smtClean="0"/>
              <a:t>sysadmin</a:t>
            </a:r>
            <a:r>
              <a:rPr lang="en-GB" b="1" dirty="0" smtClean="0">
                <a:solidFill>
                  <a:srgbClr val="002060"/>
                </a:solidFill>
                <a:ea typeface="ＭＳ Ｐゴシック" pitchFamily="-111" charset="-128"/>
              </a:rPr>
              <a:t> ...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48965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sz="2800" b="1" dirty="0">
                <a:solidFill>
                  <a:srgbClr val="00B050"/>
                </a:solidFill>
                <a:ea typeface="ＭＳ Ｐゴシック" pitchFamily="-111" charset="-128"/>
              </a:rPr>
              <a:t>Good practices</a:t>
            </a:r>
            <a:endParaRPr lang="en-GB" sz="2400" b="1" dirty="0">
              <a:solidFill>
                <a:srgbClr val="00B050"/>
              </a:solidFill>
              <a:ea typeface="ＭＳ Ｐゴシック" pitchFamily="-111" charset="-128"/>
            </a:endParaRP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Look for answers in </a:t>
            </a:r>
            <a:r>
              <a:rPr lang="en-GB" sz="2400" b="1" dirty="0">
                <a:ea typeface="ＭＳ Ｐゴシック" pitchFamily="-111" charset="-128"/>
              </a:rPr>
              <a:t>manuals, newsgroups, and archive of mailing lists</a:t>
            </a:r>
          </a:p>
          <a:p>
            <a:pPr lvl="2">
              <a:lnSpc>
                <a:spcPct val="90000"/>
              </a:lnSpc>
            </a:pPr>
            <a:r>
              <a:rPr lang="en-GB" sz="2000" b="1" dirty="0">
                <a:solidFill>
                  <a:srgbClr val="FF0000"/>
                </a:solidFill>
                <a:ea typeface="ＭＳ Ｐゴシック" pitchFamily="-111" charset="-128"/>
              </a:rPr>
              <a:t>Usually </a:t>
            </a:r>
            <a:r>
              <a:rPr lang="en-GB" sz="3200" b="1" dirty="0">
                <a:solidFill>
                  <a:srgbClr val="FF0000"/>
                </a:solidFill>
                <a:ea typeface="ＭＳ Ｐゴシック" pitchFamily="-111" charset="-128"/>
              </a:rPr>
              <a:t>“</a:t>
            </a:r>
            <a:r>
              <a:rPr lang="en-GB" sz="3200" b="1" dirty="0" err="1">
                <a:solidFill>
                  <a:srgbClr val="FF0000"/>
                </a:solidFill>
                <a:ea typeface="ＭＳ Ｐゴシック" pitchFamily="-111" charset="-128"/>
              </a:rPr>
              <a:t>google</a:t>
            </a:r>
            <a:r>
              <a:rPr lang="en-GB" sz="3200" b="1" dirty="0">
                <a:solidFill>
                  <a:srgbClr val="FF0000"/>
                </a:solidFill>
                <a:ea typeface="ＭＳ Ｐゴシック" pitchFamily="-111" charset="-128"/>
              </a:rPr>
              <a:t>” </a:t>
            </a:r>
            <a:r>
              <a:rPr lang="en-GB" sz="2000" b="1" dirty="0">
                <a:solidFill>
                  <a:srgbClr val="FF0000"/>
                </a:solidFill>
                <a:ea typeface="ＭＳ Ｐゴシック" pitchFamily="-111" charset="-128"/>
              </a:rPr>
              <a:t>helps for most common problems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Use controlled trial and error for diagnosis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Listen to people who tell us there is a problem. It might be true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Write down problems and solutions in a log book, and write down experiences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Take responsibilities for our actions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Remember to tidy things up regularly</a:t>
            </a:r>
          </a:p>
          <a:p>
            <a:pPr lvl="1">
              <a:lnSpc>
                <a:spcPct val="90000"/>
              </a:lnSpc>
            </a:pPr>
            <a:r>
              <a:rPr lang="en-GB" sz="2400" b="1" dirty="0">
                <a:solidFill>
                  <a:srgbClr val="FF0000"/>
                </a:solidFill>
                <a:ea typeface="ＭＳ Ｐゴシック" pitchFamily="-111" charset="-128"/>
              </a:rPr>
              <a:t>After learning something new, ask yourself </a:t>
            </a:r>
            <a:r>
              <a:rPr lang="en-GB" sz="2400" b="1" i="1" dirty="0">
                <a:solidFill>
                  <a:srgbClr val="FF0000"/>
                </a:solidFill>
                <a:ea typeface="ＭＳ Ｐゴシック" pitchFamily="-111" charset="-128"/>
              </a:rPr>
              <a:t>“How does this apply to my work?”</a:t>
            </a:r>
            <a:endParaRPr lang="en-GB" sz="2000" b="1" dirty="0">
              <a:solidFill>
                <a:srgbClr val="FF0000"/>
              </a:solidFill>
              <a:ea typeface="ＭＳ Ｐゴシック" pitchFamily="-111" charset="-128"/>
            </a:endParaRP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2753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rgbClr val="002060"/>
                </a:solidFill>
                <a:ea typeface="ＭＳ Ｐゴシック" pitchFamily="-111" charset="-128"/>
              </a:rPr>
              <a:t>System administrator (</a:t>
            </a:r>
            <a:r>
              <a:rPr lang="en-GB" b="1" dirty="0" err="1" smtClean="0">
                <a:solidFill>
                  <a:srgbClr val="002060"/>
                </a:solidFill>
                <a:ea typeface="ＭＳ Ｐゴシック" pitchFamily="-111" charset="-128"/>
              </a:rPr>
              <a:t>sysadmin</a:t>
            </a:r>
            <a:r>
              <a:rPr lang="en-GB" b="1" dirty="0" smtClean="0">
                <a:solidFill>
                  <a:srgbClr val="002060"/>
                </a:solidFill>
                <a:ea typeface="ＭＳ Ｐゴシック" pitchFamily="-111" charset="-128"/>
              </a:rPr>
              <a:t>)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b="1" dirty="0">
                <a:solidFill>
                  <a:srgbClr val="FF0000"/>
                </a:solidFill>
                <a:ea typeface="ＭＳ Ｐゴシック" pitchFamily="-111" charset="-128"/>
              </a:rPr>
              <a:t>Successful System Administrators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No stereotypes, “White/black Cats Theory”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Normally if one can keep the users happy she is successful (which is very difficult)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Life-long learning skills. One’s proud knowledge and expertise today may be obsolete tomorrow (Be prepared to be jobless if you do not keep learning)</a:t>
            </a:r>
          </a:p>
          <a:p>
            <a:pPr>
              <a:lnSpc>
                <a:spcPct val="90000"/>
              </a:lnSpc>
            </a:pPr>
            <a:r>
              <a:rPr lang="en-GB" sz="2800" b="1" dirty="0">
                <a:solidFill>
                  <a:srgbClr val="FF0000"/>
                </a:solidFill>
                <a:ea typeface="ＭＳ Ｐゴシック" pitchFamily="-111" charset="-128"/>
              </a:rPr>
              <a:t>Some myths for new </a:t>
            </a:r>
            <a:r>
              <a:rPr lang="en-GB" sz="2800" b="1" dirty="0" err="1">
                <a:solidFill>
                  <a:srgbClr val="002060"/>
                </a:solidFill>
                <a:ea typeface="ＭＳ Ｐゴシック" pitchFamily="-111" charset="-128"/>
              </a:rPr>
              <a:t>sysadmin</a:t>
            </a:r>
            <a:endParaRPr lang="en-GB" sz="2800" b="1" dirty="0">
              <a:solidFill>
                <a:srgbClr val="FF0000"/>
              </a:solidFill>
              <a:ea typeface="ＭＳ Ｐゴシック" pitchFamily="-111" charset="-128"/>
            </a:endParaRP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There exists a right answer for every problem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Things should always work in the way we expect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ea typeface="ＭＳ Ｐゴシック" pitchFamily="-111" charset="-128"/>
              </a:rPr>
              <a:t>Every problem should have a happy end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0702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  <a:ea typeface="ＭＳ Ｐゴシック" pitchFamily="-111" charset="-128"/>
              </a:rPr>
              <a:t>Challenges of System Administration 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Not only just installing system/software, also about </a:t>
            </a:r>
            <a:r>
              <a:rPr lang="en-GB" b="1" dirty="0" smtClean="0">
                <a:solidFill>
                  <a:srgbClr val="FF0000"/>
                </a:solidFill>
                <a:ea typeface="ＭＳ Ｐゴシック" pitchFamily="-111" charset="-128"/>
              </a:rPr>
              <a:t>planning and designing an efficient community of computers</a:t>
            </a:r>
            <a:endParaRPr lang="en-GB" dirty="0" smtClean="0">
              <a:ea typeface="ＭＳ Ｐゴシック" pitchFamily="-111" charset="-128"/>
            </a:endParaRPr>
          </a:p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Design a logical and efficient network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Easy upgrade for a large number of computers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Decide what and where services are installed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Plan and implement security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Provide a comfortable environment for users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Develop ways of fixing problems and errors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ea typeface="ＭＳ Ｐゴシック" pitchFamily="-111" charset="-128"/>
              </a:rPr>
              <a:t>Keep track of new technology and software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668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8784976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  <a:ea typeface="ＭＳ Ｐゴシック" pitchFamily="-111" charset="-128"/>
              </a:rPr>
              <a:t>Challenges of System Administration ...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268760"/>
            <a:ext cx="8712968" cy="50405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Need</a:t>
            </a:r>
          </a:p>
          <a:p>
            <a:pPr lvl="1"/>
            <a:r>
              <a:rPr lang="en-US" dirty="0" smtClean="0"/>
              <a:t>Broad </a:t>
            </a:r>
            <a:r>
              <a:rPr lang="en-US" dirty="0"/>
              <a:t>knowledge of hardware and software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balance conflicting requirements</a:t>
            </a:r>
          </a:p>
          <a:p>
            <a:pPr lvl="2"/>
            <a:r>
              <a:rPr lang="en-US" sz="2600" dirty="0"/>
              <a:t>Short-term vs. long-term needs</a:t>
            </a:r>
          </a:p>
          <a:p>
            <a:pPr lvl="2"/>
            <a:r>
              <a:rPr lang="en-US" sz="2600" dirty="0"/>
              <a:t>End-user vs. organizational requirements</a:t>
            </a:r>
          </a:p>
          <a:p>
            <a:pPr lvl="2"/>
            <a:r>
              <a:rPr lang="en-US" sz="2600" dirty="0"/>
              <a:t>Service provider vs. police model</a:t>
            </a:r>
          </a:p>
          <a:p>
            <a:pPr lvl="1"/>
            <a:r>
              <a:rPr lang="en-US" dirty="0" smtClean="0"/>
              <a:t>To </a:t>
            </a:r>
            <a:r>
              <a:rPr lang="en-US" dirty="0"/>
              <a:t>work well and efficiently </a:t>
            </a:r>
            <a:r>
              <a:rPr lang="en-US" b="1" dirty="0"/>
              <a:t>under pressure</a:t>
            </a:r>
          </a:p>
          <a:p>
            <a:pPr lvl="1"/>
            <a:r>
              <a:rPr lang="en-US" dirty="0" smtClean="0"/>
              <a:t>24x7 </a:t>
            </a:r>
            <a:r>
              <a:rPr lang="en-US" dirty="0"/>
              <a:t>availability</a:t>
            </a:r>
          </a:p>
          <a:p>
            <a:pPr lvl="1"/>
            <a:r>
              <a:rPr lang="en-US" dirty="0" smtClean="0"/>
              <a:t>Flexibility</a:t>
            </a:r>
            <a:r>
              <a:rPr lang="en-US" dirty="0"/>
              <a:t>, tolerance, and patience</a:t>
            </a:r>
          </a:p>
          <a:p>
            <a:pPr lvl="1"/>
            <a:r>
              <a:rPr lang="en-US" dirty="0" smtClean="0"/>
              <a:t>Good </a:t>
            </a:r>
            <a:r>
              <a:rPr lang="en-US" dirty="0"/>
              <a:t>communication skills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People </a:t>
            </a:r>
            <a:r>
              <a:rPr lang="en-US" b="1" dirty="0">
                <a:solidFill>
                  <a:srgbClr val="FF0000"/>
                </a:solidFill>
              </a:rPr>
              <a:t>think of </a:t>
            </a:r>
            <a:r>
              <a:rPr lang="en-US" b="1" dirty="0" err="1">
                <a:solidFill>
                  <a:srgbClr val="FF0000"/>
                </a:solidFill>
              </a:rPr>
              <a:t>sysadmins</a:t>
            </a:r>
            <a:r>
              <a:rPr lang="en-US" b="1" dirty="0">
                <a:solidFill>
                  <a:srgbClr val="FF0000"/>
                </a:solidFill>
              </a:rPr>
              <a:t> only when things don't work!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7991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Principles of SA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82296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Simplicity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Choose the simplest solution that solves the entire problem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Work towards a predictable system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Clarity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Choose a straightforward solution that’s easy to change, maintain, debug, and explain to other SAs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Generality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Choose reusable solutions that scale up; use open protocols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Automation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Use software to replace human effort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Communication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Be sure that you’re solving the right problems and that people know what you’re doing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Basics First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Solve basic infrastructure problems before advanced ones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1756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0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0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04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04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04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04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5344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b="1" dirty="0">
                <a:solidFill>
                  <a:srgbClr val="002060"/>
                </a:solidFill>
              </a:rPr>
              <a:t>Qualities of a Successful </a:t>
            </a:r>
            <a:r>
              <a:rPr lang="en-US" sz="4000" b="1" dirty="0" err="1">
                <a:solidFill>
                  <a:srgbClr val="002060"/>
                </a:solidFill>
              </a:rPr>
              <a:t>Sysadmin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sz="2800" b="1" dirty="0"/>
              <a:t>Customer oriented</a:t>
            </a:r>
          </a:p>
          <a:p>
            <a:pPr lvl="1" eaLnBrk="1" hangingPunct="1"/>
            <a:r>
              <a:rPr lang="en-US" sz="2400" dirty="0"/>
              <a:t>Ability to deal with interrupts, time pressure</a:t>
            </a:r>
          </a:p>
          <a:p>
            <a:pPr lvl="1" eaLnBrk="1" hangingPunct="1"/>
            <a:r>
              <a:rPr lang="en-US" sz="2400" dirty="0"/>
              <a:t>Communication skills</a:t>
            </a:r>
          </a:p>
          <a:p>
            <a:pPr lvl="1" eaLnBrk="1" hangingPunct="1"/>
            <a:r>
              <a:rPr lang="en-US" sz="2400" b="1" dirty="0">
                <a:solidFill>
                  <a:srgbClr val="00B050"/>
                </a:solidFill>
              </a:rPr>
              <a:t>Service provider, </a:t>
            </a:r>
            <a:r>
              <a:rPr lang="en-US" sz="2400" b="1" dirty="0">
                <a:solidFill>
                  <a:srgbClr val="FF0000"/>
                </a:solidFill>
              </a:rPr>
              <a:t>not system police</a:t>
            </a:r>
          </a:p>
          <a:p>
            <a:pPr eaLnBrk="1" hangingPunct="1">
              <a:buFontTx/>
              <a:buNone/>
            </a:pPr>
            <a:r>
              <a:rPr lang="en-US" sz="2800" b="1" dirty="0"/>
              <a:t>Technical knowledge</a:t>
            </a:r>
          </a:p>
          <a:p>
            <a:pPr lvl="1" eaLnBrk="1" hangingPunct="1"/>
            <a:r>
              <a:rPr lang="en-US" sz="2400" dirty="0"/>
              <a:t>Hardware, network, and software knowledge</a:t>
            </a:r>
          </a:p>
          <a:p>
            <a:pPr lvl="1" eaLnBrk="1" hangingPunct="1"/>
            <a:r>
              <a:rPr lang="en-US" sz="2400" dirty="0"/>
              <a:t>Debugging and troubleshooting skills</a:t>
            </a:r>
          </a:p>
          <a:p>
            <a:pPr eaLnBrk="1" hangingPunct="1">
              <a:buFontTx/>
              <a:buNone/>
            </a:pPr>
            <a:r>
              <a:rPr lang="en-US" sz="2800" b="1" dirty="0"/>
              <a:t>Time management</a:t>
            </a:r>
          </a:p>
          <a:p>
            <a:pPr lvl="1" eaLnBrk="1" hangingPunct="1"/>
            <a:r>
              <a:rPr lang="en-US" sz="2400" dirty="0"/>
              <a:t>Automate everything possible</a:t>
            </a:r>
          </a:p>
          <a:p>
            <a:pPr lvl="1" eaLnBrk="1" hangingPunct="1"/>
            <a:r>
              <a:rPr lang="en-US" sz="2400" dirty="0"/>
              <a:t>Ability to prioritize tasks: urgency and importance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0434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002060"/>
                </a:solidFill>
              </a:rPr>
              <a:t>First Steps to Better SA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Use a request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Customers know what you’re doing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You know what you’re doing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Manage quick requests right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Handle emergencies quickly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Use request system to avoid interruptions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Policies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How do people get help?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What is the scope of responsibility for SA team?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What is our definition of emergency?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Start every host in a known state</a:t>
            </a:r>
            <a:r>
              <a:rPr lang="en-US" sz="2800" dirty="0"/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1839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002060"/>
                </a:solidFill>
              </a:rPr>
              <a:t>Types of Sites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84785"/>
            <a:ext cx="8229600" cy="4641379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/>
              <a:t>Small</a:t>
            </a:r>
          </a:p>
          <a:p>
            <a:pPr lvl="1" eaLnBrk="1" hangingPunct="1">
              <a:buFontTx/>
              <a:buNone/>
            </a:pPr>
            <a:r>
              <a:rPr lang="en-US" sz="2400" dirty="0"/>
              <a:t>2-10 computers, 1 OS, 2-20 users.</a:t>
            </a:r>
          </a:p>
          <a:p>
            <a:pPr lvl="1" eaLnBrk="1" hangingPunct="1">
              <a:buFontTx/>
              <a:buNone/>
            </a:pPr>
            <a:r>
              <a:rPr lang="en-US" sz="2400" dirty="0"/>
              <a:t>Small staff size requires outsourcing to obtain most specialized skills.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Midsized</a:t>
            </a:r>
          </a:p>
          <a:p>
            <a:pPr lvl="1" eaLnBrk="1" hangingPunct="1">
              <a:buFontTx/>
              <a:buNone/>
            </a:pPr>
            <a:r>
              <a:rPr lang="en-US" sz="2400" dirty="0"/>
              <a:t>11-100 computers, 1-3 </a:t>
            </a:r>
            <a:r>
              <a:rPr lang="en-US" sz="2400" dirty="0" err="1"/>
              <a:t>OSes</a:t>
            </a:r>
            <a:r>
              <a:rPr lang="en-US" sz="2400" dirty="0"/>
              <a:t>, 21-100 users. 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Large</a:t>
            </a:r>
          </a:p>
          <a:p>
            <a:pPr lvl="1" eaLnBrk="1" hangingPunct="1">
              <a:buFontTx/>
              <a:buNone/>
            </a:pPr>
            <a:r>
              <a:rPr lang="en-US" sz="2400" dirty="0"/>
              <a:t>100+ computers, multiples </a:t>
            </a:r>
            <a:r>
              <a:rPr lang="en-US" sz="2400" dirty="0" err="1"/>
              <a:t>OSes</a:t>
            </a:r>
            <a:r>
              <a:rPr lang="en-US" sz="2400" dirty="0"/>
              <a:t>, 100+ users</a:t>
            </a:r>
          </a:p>
          <a:p>
            <a:pPr lvl="1" eaLnBrk="1" hangingPunct="1">
              <a:buFontTx/>
              <a:buNone/>
            </a:pPr>
            <a:r>
              <a:rPr lang="en-US" sz="2400" dirty="0"/>
              <a:t>Outsources to reduce costs, some specializations.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39538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Organizations Working on SA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83358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/>
              <a:t>USENIX</a:t>
            </a:r>
            <a:r>
              <a:rPr lang="en-US" dirty="0" smtClean="0"/>
              <a:t>: Advanced Computing Systems Association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LISA</a:t>
            </a:r>
            <a:r>
              <a:rPr lang="en-US" dirty="0" smtClean="0"/>
              <a:t>: Large Installation System Administration 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SAGE</a:t>
            </a:r>
            <a:r>
              <a:rPr lang="en-US" dirty="0" smtClean="0"/>
              <a:t>: System Administration Guild</a:t>
            </a:r>
          </a:p>
          <a:p>
            <a:pPr eaLnBrk="1" hangingPunct="1">
              <a:buFontTx/>
              <a:buNone/>
            </a:pPr>
            <a:r>
              <a:rPr lang="en-US" b="1" dirty="0" smtClean="0">
                <a:solidFill>
                  <a:srgbClr val="FF0000"/>
                </a:solidFill>
              </a:rPr>
              <a:t>LOPSA</a:t>
            </a:r>
            <a:r>
              <a:rPr lang="en-US" dirty="0" smtClean="0"/>
              <a:t>: League of Professional System Administrators </a:t>
            </a:r>
          </a:p>
          <a:p>
            <a:pPr eaLnBrk="1" hangingPunct="1">
              <a:buFontTx/>
              <a:buNone/>
            </a:pPr>
            <a:endParaRPr 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26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611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Certifications for SA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83358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 smtClean="0"/>
              <a:t>CCNA, CCNP, CCIE (Cisco)</a:t>
            </a:r>
          </a:p>
          <a:p>
            <a:pPr eaLnBrk="1" hangingPunct="1"/>
            <a:r>
              <a:rPr lang="en-US" dirty="0" err="1" smtClean="0"/>
              <a:t>cSAGE</a:t>
            </a:r>
            <a:r>
              <a:rPr lang="en-US" dirty="0" smtClean="0"/>
              <a:t> (SAGE)</a:t>
            </a:r>
          </a:p>
          <a:p>
            <a:pPr eaLnBrk="1" hangingPunct="1"/>
            <a:r>
              <a:rPr lang="en-US" dirty="0" smtClean="0"/>
              <a:t>MCSA (Microsoft)</a:t>
            </a:r>
          </a:p>
          <a:p>
            <a:pPr eaLnBrk="1" hangingPunct="1"/>
            <a:r>
              <a:rPr lang="en-US" dirty="0" smtClean="0"/>
              <a:t>RHCE (Red Hat)</a:t>
            </a:r>
          </a:p>
          <a:p>
            <a:pPr eaLnBrk="1" hangingPunct="1"/>
            <a:r>
              <a:rPr lang="en-US" dirty="0" smtClean="0"/>
              <a:t>SCSA (Sun)</a:t>
            </a:r>
          </a:p>
          <a:p>
            <a:pPr eaLnBrk="1" hangingPunct="1"/>
            <a:r>
              <a:rPr lang="en-US" dirty="0" smtClean="0"/>
              <a:t>VCP (VMware)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3399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002060"/>
                </a:solidFill>
              </a:rPr>
              <a:t>SAGE Job Descriptions</a:t>
            </a:r>
            <a:r>
              <a:rPr lang="en-US" smtClean="0"/>
              <a:t>	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00809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 smtClean="0"/>
              <a:t>Novice SA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OS familiarity, help desk skills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 smtClean="0"/>
              <a:t>Junior SA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Can use OS system administration tools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 smtClean="0"/>
              <a:t>Intermediate SA</a:t>
            </a:r>
          </a:p>
          <a:p>
            <a:pPr marL="442913" lvl="1" indent="14288">
              <a:lnSpc>
                <a:spcPct val="90000"/>
              </a:lnSpc>
              <a:buNone/>
            </a:pPr>
            <a:r>
              <a:rPr lang="en-US" sz="2400" dirty="0"/>
              <a:t>Understanding of distributed computing, common servers, automate small tasks, independent action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b="1" dirty="0" smtClean="0"/>
              <a:t>Senior SA</a:t>
            </a:r>
            <a:endParaRPr lang="en-US" sz="2800" b="1" dirty="0"/>
          </a:p>
          <a:p>
            <a:pPr marL="442913" lvl="1" indent="14288">
              <a:lnSpc>
                <a:spcPct val="80000"/>
              </a:lnSpc>
              <a:buNone/>
            </a:pPr>
            <a:r>
              <a:rPr lang="en-US" sz="2400" b="1" dirty="0"/>
              <a:t>Understanding of scaling issues</a:t>
            </a:r>
            <a:r>
              <a:rPr lang="en-US" sz="2400" dirty="0"/>
              <a:t>, including capacity planning, </a:t>
            </a:r>
            <a:r>
              <a:rPr lang="en-US" sz="2400" b="1" dirty="0"/>
              <a:t>solve problems by addressing root cause</a:t>
            </a:r>
            <a:r>
              <a:rPr lang="en-US" sz="2400" dirty="0"/>
              <a:t>, higher level programming abilities, write proposals for purchasing, </a:t>
            </a:r>
            <a:r>
              <a:rPr lang="en-US" sz="2400" b="1" dirty="0">
                <a:solidFill>
                  <a:srgbClr val="FF0000"/>
                </a:solidFill>
              </a:rPr>
              <a:t>data center planning</a:t>
            </a:r>
            <a:r>
              <a:rPr lang="en-US" sz="2400" dirty="0"/>
              <a:t>, etc.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28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783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2060"/>
                </a:solidFill>
              </a:rPr>
              <a:t>SA Maturity Model (SAMM)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209800" y="1219200"/>
            <a:ext cx="7924800" cy="48006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Times"/>
              <a:buAutoNum type="arabicPeriod"/>
            </a:pPr>
            <a:r>
              <a:rPr lang="en-US" dirty="0" smtClean="0"/>
              <a:t>Ad Hoc</a:t>
            </a:r>
          </a:p>
          <a:p>
            <a:pPr marL="914400" lvl="1" indent="-514350">
              <a:buNone/>
            </a:pPr>
            <a:r>
              <a:rPr lang="en-US" dirty="0" smtClean="0"/>
              <a:t>Ad-hoc non-repeatable solutions, firefighting.</a:t>
            </a:r>
          </a:p>
          <a:p>
            <a:pPr marL="514350" indent="-514350">
              <a:buFont typeface="Times"/>
              <a:buAutoNum type="arabicPeriod"/>
            </a:pPr>
            <a:r>
              <a:rPr lang="en-US" dirty="0" smtClean="0"/>
              <a:t>Repeatable</a:t>
            </a:r>
          </a:p>
          <a:p>
            <a:pPr marL="914400" lvl="1" indent="-514350">
              <a:buNone/>
            </a:pPr>
            <a:r>
              <a:rPr lang="en-US" dirty="0" smtClean="0"/>
              <a:t>Some repeatable processes.</a:t>
            </a:r>
          </a:p>
          <a:p>
            <a:pPr marL="514350" indent="-514350">
              <a:buFont typeface="Times"/>
              <a:buAutoNum type="arabicPeriod"/>
            </a:pPr>
            <a:r>
              <a:rPr lang="en-US" dirty="0" smtClean="0"/>
              <a:t>Defined</a:t>
            </a:r>
          </a:p>
          <a:p>
            <a:pPr marL="914400" lvl="1" indent="-514350">
              <a:buNone/>
            </a:pPr>
            <a:r>
              <a:rPr lang="en-US" dirty="0" smtClean="0"/>
              <a:t>Documented standard processes</a:t>
            </a:r>
          </a:p>
          <a:p>
            <a:pPr marL="514350" indent="-514350">
              <a:buFont typeface="Times"/>
              <a:buAutoNum type="arabicPeriod"/>
            </a:pPr>
            <a:r>
              <a:rPr lang="en-US" dirty="0" smtClean="0"/>
              <a:t>Managed</a:t>
            </a:r>
          </a:p>
          <a:p>
            <a:pPr marL="914400" lvl="1" indent="-514350">
              <a:buNone/>
            </a:pPr>
            <a:r>
              <a:rPr lang="en-US" dirty="0" smtClean="0"/>
              <a:t>Process effectiveness measured, adapted.</a:t>
            </a:r>
          </a:p>
          <a:p>
            <a:pPr marL="514350" indent="-514350">
              <a:buFont typeface="Times"/>
              <a:buAutoNum type="arabicPeriod"/>
            </a:pPr>
            <a:r>
              <a:rPr lang="en-US" dirty="0" smtClean="0"/>
              <a:t>Optimized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919536" y="1340768"/>
            <a:ext cx="72008" cy="4248472"/>
          </a:xfrm>
          <a:prstGeom prst="straightConnector1">
            <a:avLst/>
          </a:prstGeom>
          <a:ln w="25400">
            <a:solidFill>
              <a:srgbClr val="E30D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8772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2060"/>
                </a:solidFill>
              </a:rPr>
              <a:t>Maturity and Complexity</a:t>
            </a:r>
          </a:p>
        </p:txBody>
      </p:sp>
      <p:cxnSp>
        <p:nvCxnSpPr>
          <p:cNvPr id="26629" name="Straight Connector 6"/>
          <p:cNvCxnSpPr>
            <a:cxnSpLocks noChangeShapeType="1"/>
          </p:cNvCxnSpPr>
          <p:nvPr/>
        </p:nvCxnSpPr>
        <p:spPr bwMode="auto">
          <a:xfrm rot="5400000">
            <a:off x="77788" y="3581400"/>
            <a:ext cx="4265612" cy="1588"/>
          </a:xfrm>
          <a:prstGeom prst="line">
            <a:avLst/>
          </a:prstGeom>
          <a:noFill/>
          <a:ln w="12700" algn="ctr">
            <a:solidFill>
              <a:srgbClr val="E30D9C"/>
            </a:solidFill>
            <a:round/>
            <a:headEnd type="triangle" w="med" len="med"/>
            <a:tailEnd/>
          </a:ln>
        </p:spPr>
      </p:cxnSp>
      <p:cxnSp>
        <p:nvCxnSpPr>
          <p:cNvPr id="26630" name="Straight Connector 8"/>
          <p:cNvCxnSpPr>
            <a:cxnSpLocks noChangeShapeType="1"/>
          </p:cNvCxnSpPr>
          <p:nvPr/>
        </p:nvCxnSpPr>
        <p:spPr bwMode="auto">
          <a:xfrm>
            <a:off x="2209800" y="5715000"/>
            <a:ext cx="8077200" cy="1588"/>
          </a:xfrm>
          <a:prstGeom prst="line">
            <a:avLst/>
          </a:prstGeom>
          <a:noFill/>
          <a:ln w="12700" algn="ctr">
            <a:solidFill>
              <a:srgbClr val="E30D9C"/>
            </a:solidFill>
            <a:round/>
            <a:headEnd/>
            <a:tailEnd type="triangle" w="med" len="med"/>
          </a:ln>
        </p:spPr>
      </p:cxnSp>
      <p:sp>
        <p:nvSpPr>
          <p:cNvPr id="26631" name="TextBox 10"/>
          <p:cNvSpPr txBox="1">
            <a:spLocks noChangeArrowheads="1"/>
          </p:cNvSpPr>
          <p:nvPr/>
        </p:nvSpPr>
        <p:spPr bwMode="auto">
          <a:xfrm>
            <a:off x="7772400" y="4572000"/>
            <a:ext cx="2362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Helvetica"/>
              </a:rPr>
              <a:t>Constant firefighting, high downtime</a:t>
            </a:r>
          </a:p>
        </p:txBody>
      </p:sp>
      <p:sp>
        <p:nvSpPr>
          <p:cNvPr id="26632" name="TextBox 11"/>
          <p:cNvSpPr txBox="1">
            <a:spLocks noChangeArrowheads="1"/>
          </p:cNvSpPr>
          <p:nvPr/>
        </p:nvSpPr>
        <p:spPr bwMode="auto">
          <a:xfrm>
            <a:off x="3352800" y="5715000"/>
            <a:ext cx="605967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Helvetica"/>
              </a:rPr>
              <a:t>Complexity: increasing numbers of systems and/or services</a:t>
            </a:r>
          </a:p>
        </p:txBody>
      </p:sp>
      <p:sp>
        <p:nvSpPr>
          <p:cNvPr id="26633" name="TextBox 12"/>
          <p:cNvSpPr txBox="1">
            <a:spLocks noChangeArrowheads="1"/>
          </p:cNvSpPr>
          <p:nvPr/>
        </p:nvSpPr>
        <p:spPr bwMode="auto">
          <a:xfrm rot="-5400000">
            <a:off x="1459551" y="3426411"/>
            <a:ext cx="9845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Helvetica"/>
              </a:rPr>
              <a:t>Maturity</a:t>
            </a:r>
          </a:p>
        </p:txBody>
      </p:sp>
      <p:sp>
        <p:nvSpPr>
          <p:cNvPr id="26634" name="TextBox 16"/>
          <p:cNvSpPr txBox="1">
            <a:spLocks noChangeArrowheads="1"/>
          </p:cNvSpPr>
          <p:nvPr/>
        </p:nvSpPr>
        <p:spPr bwMode="auto">
          <a:xfrm>
            <a:off x="2743200" y="2057401"/>
            <a:ext cx="1752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Helvetica"/>
              </a:rPr>
              <a:t>Scalable but time lost in process</a:t>
            </a:r>
          </a:p>
        </p:txBody>
      </p:sp>
      <p:sp>
        <p:nvSpPr>
          <p:cNvPr id="26635" name="TextBox 17"/>
          <p:cNvSpPr txBox="1">
            <a:spLocks noChangeArrowheads="1"/>
          </p:cNvSpPr>
          <p:nvPr/>
        </p:nvSpPr>
        <p:spPr bwMode="auto">
          <a:xfrm>
            <a:off x="7772400" y="1981200"/>
            <a:ext cx="1905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Helvetica"/>
              </a:rPr>
              <a:t>Low downtime, high efficiency</a:t>
            </a:r>
          </a:p>
        </p:txBody>
      </p:sp>
      <p:sp>
        <p:nvSpPr>
          <p:cNvPr id="26636" name="TextBox 19"/>
          <p:cNvSpPr txBox="1">
            <a:spLocks noChangeArrowheads="1"/>
          </p:cNvSpPr>
          <p:nvPr/>
        </p:nvSpPr>
        <p:spPr bwMode="auto">
          <a:xfrm>
            <a:off x="2743200" y="4724400"/>
            <a:ext cx="17526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Helvetica"/>
              </a:rPr>
              <a:t>Works, but hard</a:t>
            </a:r>
          </a:p>
          <a:p>
            <a:r>
              <a:rPr lang="en-US" sz="1600" b="1" dirty="0">
                <a:solidFill>
                  <a:prstClr val="black"/>
                </a:solidFill>
                <a:latin typeface="Helvetica"/>
              </a:rPr>
              <a:t>to scale up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6300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rgbClr val="002060"/>
                </a:solidFill>
              </a:rPr>
              <a:t>Tool Maturity Levels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209800" y="1219200"/>
            <a:ext cx="7924800" cy="4800600"/>
          </a:xfrm>
        </p:spPr>
        <p:txBody>
          <a:bodyPr/>
          <a:lstStyle/>
          <a:p>
            <a:pPr marL="514350" indent="-514350">
              <a:buFont typeface="Times"/>
              <a:buAutoNum type="arabicPeriod"/>
            </a:pPr>
            <a:r>
              <a:rPr lang="en-US" smtClean="0"/>
              <a:t>Ad Hoc</a:t>
            </a:r>
          </a:p>
          <a:p>
            <a:pPr marL="914400" lvl="1" indent="-514350">
              <a:buNone/>
            </a:pPr>
            <a:r>
              <a:rPr lang="en-US" sz="2400"/>
              <a:t>	OS GUI, CLI, or web administration interfaces.</a:t>
            </a:r>
          </a:p>
          <a:p>
            <a:pPr marL="514350" indent="-514350">
              <a:buFont typeface="Times"/>
              <a:buAutoNum type="arabicPeriod"/>
            </a:pPr>
            <a:r>
              <a:rPr lang="en-US" smtClean="0"/>
              <a:t>Repeatable</a:t>
            </a:r>
          </a:p>
          <a:p>
            <a:pPr marL="914400" lvl="1" indent="-514350">
              <a:buNone/>
            </a:pPr>
            <a:r>
              <a:rPr lang="en-US" sz="2400"/>
              <a:t>	Version control (RCS, SVN, GIT), request tracker</a:t>
            </a:r>
          </a:p>
          <a:p>
            <a:pPr marL="514350" indent="-514350">
              <a:buFont typeface="Times"/>
              <a:buAutoNum type="arabicPeriod"/>
            </a:pPr>
            <a:r>
              <a:rPr lang="en-US" smtClean="0"/>
              <a:t>Defined</a:t>
            </a:r>
          </a:p>
          <a:p>
            <a:pPr marL="914400" lvl="1" indent="-514350">
              <a:buNone/>
            </a:pPr>
            <a:r>
              <a:rPr lang="en-US" sz="2400"/>
              <a:t>	Automatic monitoring (Nagios, monit, god)</a:t>
            </a:r>
          </a:p>
          <a:p>
            <a:pPr marL="514350" indent="-514350">
              <a:buFont typeface="Times"/>
              <a:buAutoNum type="arabicPeriod"/>
            </a:pPr>
            <a:r>
              <a:rPr lang="en-US" smtClean="0"/>
              <a:t>Managed</a:t>
            </a:r>
          </a:p>
          <a:p>
            <a:pPr marL="914400" lvl="1" indent="-514350">
              <a:buNone/>
            </a:pPr>
            <a:r>
              <a:rPr lang="en-US" sz="2400"/>
              <a:t>	Configuration management (AutomateIt, cfengine</a:t>
            </a:r>
            <a:r>
              <a:rPr lang="en-US" smtClean="0"/>
              <a:t>)</a:t>
            </a:r>
          </a:p>
          <a:p>
            <a:pPr marL="514350" indent="-514350">
              <a:buFont typeface="Times"/>
              <a:buAutoNum type="arabicPeriod"/>
            </a:pPr>
            <a:r>
              <a:rPr lang="en-US" smtClean="0"/>
              <a:t>Optimized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919536" y="1556792"/>
            <a:ext cx="72008" cy="4248472"/>
          </a:xfrm>
          <a:prstGeom prst="straightConnector1">
            <a:avLst/>
          </a:prstGeom>
          <a:ln w="25400">
            <a:solidFill>
              <a:srgbClr val="E30D9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31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392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SAGE Code of Ethics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Professionalism</a:t>
            </a:r>
          </a:p>
          <a:p>
            <a:r>
              <a:rPr lang="en-US" sz="2800"/>
              <a:t>Personal Integrity</a:t>
            </a:r>
          </a:p>
          <a:p>
            <a:r>
              <a:rPr lang="en-US" sz="2800"/>
              <a:t>Privacy</a:t>
            </a:r>
          </a:p>
          <a:p>
            <a:r>
              <a:rPr lang="en-US" sz="2800"/>
              <a:t>Laws and Policies</a:t>
            </a:r>
          </a:p>
          <a:p>
            <a:r>
              <a:rPr lang="en-US" sz="2800"/>
              <a:t>Communication</a:t>
            </a:r>
          </a:p>
          <a:p>
            <a:r>
              <a:rPr lang="en-US" sz="2800"/>
              <a:t>System Integrity</a:t>
            </a:r>
          </a:p>
          <a:p>
            <a:r>
              <a:rPr lang="en-US" sz="2800"/>
              <a:t>Education</a:t>
            </a:r>
          </a:p>
          <a:p>
            <a:r>
              <a:rPr lang="en-US" sz="2800"/>
              <a:t>Social Responsibility</a:t>
            </a:r>
          </a:p>
          <a:p>
            <a:endParaRPr lang="en-US" smtClean="0"/>
          </a:p>
        </p:txBody>
      </p:sp>
      <p:sp>
        <p:nvSpPr>
          <p:cNvPr id="28678" name="TextBox 5"/>
          <p:cNvSpPr txBox="1">
            <a:spLocks noChangeArrowheads="1"/>
          </p:cNvSpPr>
          <p:nvPr/>
        </p:nvSpPr>
        <p:spPr bwMode="auto">
          <a:xfrm>
            <a:off x="4583832" y="5805264"/>
            <a:ext cx="29418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Helvetica"/>
              </a:rPr>
              <a:t>http://www.sage.org/ethics/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8818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X-Windows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Mac </a:t>
            </a:r>
            <a:r>
              <a:rPr lang="en-GB" dirty="0" smtClean="0"/>
              <a:t>Operating System</a:t>
            </a:r>
          </a:p>
          <a:p>
            <a:r>
              <a:rPr lang="en-GB" dirty="0" smtClean="0"/>
              <a:t>Unix Operating System</a:t>
            </a:r>
          </a:p>
          <a:p>
            <a:r>
              <a:rPr lang="en-GB" dirty="0" smtClean="0"/>
              <a:t>Linux Operating System</a:t>
            </a:r>
          </a:p>
          <a:p>
            <a:r>
              <a:rPr lang="en-GB" dirty="0" smtClean="0"/>
              <a:t>etc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4700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Which OS to learn to admin?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3512" y="1484786"/>
            <a:ext cx="8784976" cy="4608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1443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92211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Brief </a:t>
            </a:r>
            <a:r>
              <a:rPr lang="en-US" b="1" dirty="0" smtClean="0">
                <a:solidFill>
                  <a:srgbClr val="FF0000"/>
                </a:solidFill>
              </a:rPr>
              <a:t>History </a:t>
            </a:r>
            <a:r>
              <a:rPr lang="en-US" b="1" dirty="0">
                <a:solidFill>
                  <a:srgbClr val="FF0000"/>
                </a:solidFill>
              </a:rPr>
              <a:t>of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196753"/>
            <a:ext cx="8712968" cy="492941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Originated as a research project in 1969 at AT&amp;T Bell Labs</a:t>
            </a:r>
          </a:p>
          <a:p>
            <a:pPr lvl="1"/>
            <a:r>
              <a:rPr lang="en-US" dirty="0" smtClean="0"/>
              <a:t>Made </a:t>
            </a:r>
            <a:r>
              <a:rPr lang="en-US" dirty="0"/>
              <a:t>available to universities (free) in 1976</a:t>
            </a:r>
          </a:p>
          <a:p>
            <a:r>
              <a:rPr lang="en-US" dirty="0" smtClean="0"/>
              <a:t>Berkeley </a:t>
            </a:r>
            <a:r>
              <a:rPr lang="en-US" dirty="0"/>
              <a:t>UNIX started in 1977 when UCB licensed code </a:t>
            </a:r>
            <a:r>
              <a:rPr lang="en-US" dirty="0" smtClean="0"/>
              <a:t>from AT&amp;T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Berkeley </a:t>
            </a:r>
            <a:r>
              <a:rPr lang="en-US" dirty="0"/>
              <a:t>Software Distribution started in 1977 with 1BSD, and ended </a:t>
            </a:r>
            <a:r>
              <a:rPr lang="en-US" dirty="0" smtClean="0"/>
              <a:t>in 1993 </a:t>
            </a:r>
            <a:r>
              <a:rPr lang="en-US" dirty="0"/>
              <a:t>with 4.4BSD</a:t>
            </a:r>
          </a:p>
          <a:p>
            <a:pPr lvl="1"/>
            <a:r>
              <a:rPr lang="en-US" dirty="0" smtClean="0"/>
              <a:t>Licensing </a:t>
            </a:r>
            <a:r>
              <a:rPr lang="en-US" dirty="0"/>
              <a:t>costs from AT&amp;T increased, so Berkeley attempted to </a:t>
            </a:r>
            <a:r>
              <a:rPr lang="en-US" dirty="0" smtClean="0"/>
              <a:t>remove AT&amp;T </a:t>
            </a:r>
            <a:r>
              <a:rPr lang="en-US" dirty="0"/>
              <a:t>code, but ran out of funds before completion.</a:t>
            </a:r>
          </a:p>
          <a:p>
            <a:pPr lvl="1"/>
            <a:r>
              <a:rPr lang="en-US" dirty="0" smtClean="0"/>
              <a:t>Final </a:t>
            </a:r>
            <a:r>
              <a:rPr lang="en-US" dirty="0"/>
              <a:t>release of AT&amp;T-free code called 4.4BSD-Lite.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Most current BSD distributions (FreeBSD, </a:t>
            </a:r>
            <a:r>
              <a:rPr lang="en-US" dirty="0" err="1"/>
              <a:t>NetBSD</a:t>
            </a:r>
            <a:r>
              <a:rPr lang="en-US" dirty="0"/>
              <a:t>, </a:t>
            </a:r>
            <a:r>
              <a:rPr lang="en-US" dirty="0" err="1"/>
              <a:t>OpenBSD</a:t>
            </a:r>
            <a:r>
              <a:rPr lang="en-US" dirty="0"/>
              <a:t>) </a:t>
            </a:r>
            <a:r>
              <a:rPr lang="en-US" dirty="0" smtClean="0"/>
              <a:t>are derived </a:t>
            </a:r>
            <a:r>
              <a:rPr lang="en-US" dirty="0"/>
              <a:t>from 4.4BSD-Lite.</a:t>
            </a:r>
          </a:p>
          <a:p>
            <a:r>
              <a:rPr lang="en-US" b="1" dirty="0" smtClean="0"/>
              <a:t>Most </a:t>
            </a:r>
            <a:r>
              <a:rPr lang="en-US" b="1" dirty="0"/>
              <a:t>commercial versions of UNIX (Solaris, HP-UX) are </a:t>
            </a:r>
            <a:r>
              <a:rPr lang="en-US" b="1" dirty="0" smtClean="0"/>
              <a:t>derived from </a:t>
            </a:r>
            <a:r>
              <a:rPr lang="en-US" b="1" dirty="0"/>
              <a:t>the AT&amp;T code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3017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rgbClr val="FF0000"/>
                </a:solidFill>
              </a:rPr>
              <a:t>What is Linux?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much is courtesy of www.kernel.org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783358"/>
            <a:ext cx="91440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Linux is a clone of the operating system Unix, written by </a:t>
            </a:r>
            <a:r>
              <a:rPr lang="en-US" dirty="0" smtClean="0"/>
              <a:t>a loosely-knit </a:t>
            </a:r>
            <a:r>
              <a:rPr lang="en-US" dirty="0"/>
              <a:t>team of hackers across the Net.</a:t>
            </a:r>
          </a:p>
          <a:p>
            <a:r>
              <a:rPr lang="en-US" dirty="0" smtClean="0"/>
              <a:t>Like </a:t>
            </a:r>
            <a:r>
              <a:rPr lang="en-US" dirty="0"/>
              <a:t>any modern full-fledged Unix, Linux includes:</a:t>
            </a:r>
          </a:p>
          <a:p>
            <a:pPr lvl="1"/>
            <a:r>
              <a:rPr lang="en-US" dirty="0" smtClean="0"/>
              <a:t>true </a:t>
            </a:r>
            <a:r>
              <a:rPr lang="en-US" dirty="0"/>
              <a:t>multitasking</a:t>
            </a:r>
          </a:p>
          <a:p>
            <a:pPr lvl="1"/>
            <a:r>
              <a:rPr lang="en-US" dirty="0" smtClean="0"/>
              <a:t>proper </a:t>
            </a:r>
            <a:r>
              <a:rPr lang="en-US" dirty="0"/>
              <a:t>memory management and virtual memory</a:t>
            </a:r>
          </a:p>
          <a:p>
            <a:pPr lvl="1"/>
            <a:r>
              <a:rPr lang="en-US" dirty="0" smtClean="0"/>
              <a:t>shared </a:t>
            </a:r>
            <a:r>
              <a:rPr lang="en-US" dirty="0"/>
              <a:t>libraries and shared copy-on-write executables</a:t>
            </a:r>
          </a:p>
          <a:p>
            <a:pPr lvl="1"/>
            <a:r>
              <a:rPr lang="en-US" dirty="0" smtClean="0"/>
              <a:t>TCP/IP </a:t>
            </a:r>
            <a:r>
              <a:rPr lang="en-US" dirty="0"/>
              <a:t>networking</a:t>
            </a:r>
          </a:p>
          <a:p>
            <a:r>
              <a:rPr lang="en-US" dirty="0" smtClean="0"/>
              <a:t>Linux </a:t>
            </a:r>
            <a:r>
              <a:rPr lang="en-US" dirty="0"/>
              <a:t>really refers to the kernel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commands and apps are really separate programs, not specific </a:t>
            </a:r>
            <a:r>
              <a:rPr lang="en-US" dirty="0" smtClean="0"/>
              <a:t>to Linux</a:t>
            </a:r>
            <a:r>
              <a:rPr lang="en-US" dirty="0"/>
              <a:t>, and often are part of the Free Software Foundation's </a:t>
            </a:r>
            <a:r>
              <a:rPr lang="en-US" dirty="0" smtClean="0"/>
              <a:t>GNU project</a:t>
            </a:r>
            <a:r>
              <a:rPr lang="en-US" dirty="0"/>
              <a:t>.</a:t>
            </a:r>
          </a:p>
          <a:p>
            <a:r>
              <a:rPr lang="en-US" dirty="0" smtClean="0"/>
              <a:t>Linux </a:t>
            </a:r>
            <a:r>
              <a:rPr lang="en-US" dirty="0"/>
              <a:t>was first developed for 32-bit x86-based PCs (386 </a:t>
            </a:r>
            <a:r>
              <a:rPr lang="en-US" dirty="0" smtClean="0"/>
              <a:t>or higher</a:t>
            </a:r>
            <a:r>
              <a:rPr lang="en-US" dirty="0"/>
              <a:t>). These days it also runs on dozens of other processors.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36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4025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What is Linux? </a:t>
            </a:r>
            <a:r>
              <a:rPr lang="en-US" b="1" dirty="0" err="1" smtClean="0">
                <a:solidFill>
                  <a:srgbClr val="FF0000"/>
                </a:solidFill>
              </a:rPr>
              <a:t>Cont</a:t>
            </a:r>
            <a:r>
              <a:rPr lang="en-US" b="1" dirty="0" smtClean="0">
                <a:solidFill>
                  <a:srgbClr val="FF0000"/>
                </a:solidFill>
              </a:rPr>
              <a:t>…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09800" y="990600"/>
            <a:ext cx="8382000" cy="5029200"/>
          </a:xfrm>
        </p:spPr>
        <p:txBody>
          <a:bodyPr>
            <a:noAutofit/>
          </a:bodyPr>
          <a:lstStyle/>
          <a:p>
            <a:r>
              <a:rPr lang="en-US" sz="2400" dirty="0"/>
              <a:t>Linux stands for Linus’ Unix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It is the </a:t>
            </a:r>
            <a:r>
              <a:rPr lang="en-US" sz="2400" b="1" dirty="0"/>
              <a:t>kernel</a:t>
            </a:r>
            <a:r>
              <a:rPr lang="en-US" sz="2400" dirty="0"/>
              <a:t> of an operating system. </a:t>
            </a:r>
          </a:p>
          <a:p>
            <a:r>
              <a:rPr lang="en-US" sz="2400" b="1" dirty="0"/>
              <a:t>Linux</a:t>
            </a:r>
            <a:r>
              <a:rPr lang="en-US" sz="2400" dirty="0"/>
              <a:t> is an open-source, UNIX-like operating system created by Linus Torvalds in 1991.</a:t>
            </a:r>
          </a:p>
          <a:p>
            <a:r>
              <a:rPr lang="en-US" sz="2400" dirty="0"/>
              <a:t>Known for being secure, customizable, and widely used in servers, desktops, and embedded systems.</a:t>
            </a:r>
          </a:p>
          <a:p>
            <a:r>
              <a:rPr lang="en-US" sz="2400" b="1" dirty="0"/>
              <a:t>Key Features</a:t>
            </a:r>
            <a:r>
              <a:rPr lang="en-US" sz="2400" dirty="0"/>
              <a:t>: Multitasking, multi-user support, portability, and stability.</a:t>
            </a:r>
          </a:p>
          <a:p>
            <a:r>
              <a:rPr lang="en-US" sz="2400" b="1" dirty="0"/>
              <a:t>Kernel</a:t>
            </a:r>
            <a:r>
              <a:rPr lang="en-US" sz="2400" dirty="0"/>
              <a:t>: The core of the Linux OS, managing hardware and system processes.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DA5FE-F63F-4695-80DD-426B7DB92DF9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37</a:t>
            </a:fld>
            <a:endParaRPr lang="en-US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419460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85010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Brief </a:t>
            </a:r>
            <a:r>
              <a:rPr lang="en-US" b="1" dirty="0" smtClean="0">
                <a:solidFill>
                  <a:srgbClr val="FF0000"/>
                </a:solidFill>
              </a:rPr>
              <a:t>History </a:t>
            </a:r>
            <a:r>
              <a:rPr lang="en-US" b="1" dirty="0">
                <a:solidFill>
                  <a:srgbClr val="FF0000"/>
                </a:solidFill>
              </a:rPr>
              <a:t>of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268761"/>
            <a:ext cx="8363272" cy="48574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Created as </a:t>
            </a:r>
            <a:r>
              <a:rPr lang="en-US" b="1" dirty="0"/>
              <a:t>a personal project </a:t>
            </a:r>
            <a:r>
              <a:rPr lang="en-US" dirty="0"/>
              <a:t>(and </a:t>
            </a:r>
            <a:r>
              <a:rPr lang="en-US" dirty="0" smtClean="0"/>
              <a:t>still controlled</a:t>
            </a:r>
            <a:r>
              <a:rPr lang="en-US" dirty="0"/>
              <a:t>) by </a:t>
            </a:r>
            <a:r>
              <a:rPr lang="en-US" dirty="0" err="1"/>
              <a:t>Linus</a:t>
            </a:r>
            <a:r>
              <a:rPr lang="en-US" dirty="0"/>
              <a:t> </a:t>
            </a:r>
            <a:r>
              <a:rPr lang="en-US" dirty="0" err="1"/>
              <a:t>Torvalds</a:t>
            </a:r>
            <a:r>
              <a:rPr lang="en-US" dirty="0"/>
              <a:t>, a </a:t>
            </a:r>
            <a:r>
              <a:rPr lang="en-US" dirty="0" smtClean="0"/>
              <a:t>Finnish graduate </a:t>
            </a:r>
            <a:r>
              <a:rPr lang="en-US" dirty="0"/>
              <a:t>student, in 1991</a:t>
            </a:r>
          </a:p>
          <a:p>
            <a:r>
              <a:rPr lang="en-US" dirty="0" smtClean="0"/>
              <a:t>Conceived </a:t>
            </a:r>
            <a:r>
              <a:rPr lang="en-US" dirty="0"/>
              <a:t>as an offshoot of </a:t>
            </a:r>
            <a:r>
              <a:rPr lang="en-US" dirty="0" err="1"/>
              <a:t>Minix</a:t>
            </a:r>
            <a:r>
              <a:rPr lang="en-US" dirty="0"/>
              <a:t> (a model OS)</a:t>
            </a:r>
          </a:p>
          <a:p>
            <a:pPr lvl="1"/>
            <a:r>
              <a:rPr lang="en-US" dirty="0" smtClean="0"/>
              <a:t>Not </a:t>
            </a:r>
            <a:r>
              <a:rPr lang="en-US" dirty="0"/>
              <a:t>derived from AT&amp;T or BSD UNIX code</a:t>
            </a:r>
          </a:p>
          <a:p>
            <a:r>
              <a:rPr lang="en-US" dirty="0" smtClean="0"/>
              <a:t>Red </a:t>
            </a:r>
            <a:r>
              <a:rPr lang="en-US" dirty="0"/>
              <a:t>Hat (one of many Linux vendors) </a:t>
            </a:r>
            <a:r>
              <a:rPr lang="en-US" dirty="0" smtClean="0"/>
              <a:t>founded in </a:t>
            </a:r>
            <a:r>
              <a:rPr lang="en-US" dirty="0"/>
              <a:t>1993</a:t>
            </a:r>
          </a:p>
          <a:p>
            <a:r>
              <a:rPr lang="en-US" dirty="0" smtClean="0"/>
              <a:t>Kernel </a:t>
            </a:r>
            <a:r>
              <a:rPr lang="en-US" dirty="0"/>
              <a:t>v1.0 released 1994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Most </a:t>
            </a:r>
            <a:r>
              <a:rPr lang="en-US" dirty="0">
                <a:solidFill>
                  <a:srgbClr val="FF0000"/>
                </a:solidFill>
              </a:rPr>
              <a:t>recent (Jan 2016) kernel release is </a:t>
            </a:r>
            <a:r>
              <a:rPr lang="en-US" dirty="0" smtClean="0">
                <a:solidFill>
                  <a:srgbClr val="FF0000"/>
                </a:solidFill>
              </a:rPr>
              <a:t>4.4?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38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9440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ill Sans MT" pitchFamily="34" charset="0"/>
              </a:rPr>
              <a:t>Linux Distributions and UIs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Linux Distribution (</a:t>
            </a:r>
            <a:r>
              <a:rPr lang="en-US" b="1" dirty="0" err="1"/>
              <a:t>Distro</a:t>
            </a:r>
            <a:r>
              <a:rPr lang="en-US" b="1" dirty="0"/>
              <a:t>)</a:t>
            </a:r>
            <a:r>
              <a:rPr lang="en-US" dirty="0"/>
              <a:t>: A complete OS package that includes the Linux kernel, GNU utilities, a package manager, and applications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Popular </a:t>
            </a:r>
            <a:r>
              <a:rPr lang="en-US" b="1" dirty="0"/>
              <a:t>Distros</a:t>
            </a:r>
            <a:r>
              <a:rPr lang="en-US" dirty="0" smtClean="0"/>
              <a:t>: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 smtClean="0"/>
              <a:t>Ubuntu</a:t>
            </a:r>
            <a:r>
              <a:rPr lang="en-US" dirty="0"/>
              <a:t>: User-friendly, great for beginners.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/>
              <a:t>Fedora</a:t>
            </a:r>
            <a:r>
              <a:rPr lang="en-US" dirty="0"/>
              <a:t>: Cutting-edge features, preferred by developers.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 err="1"/>
              <a:t>Debian</a:t>
            </a:r>
            <a:r>
              <a:rPr lang="en-US" dirty="0"/>
              <a:t>: Stable, extensive package support.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 err="1"/>
              <a:t>CentOS</a:t>
            </a:r>
            <a:r>
              <a:rPr lang="en-US" b="1" dirty="0"/>
              <a:t>/RHEL</a:t>
            </a:r>
            <a:r>
              <a:rPr lang="en-US" dirty="0"/>
              <a:t>: Enterprise-grade, popular for servers.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/>
              <a:t>Arch Linux</a:t>
            </a:r>
            <a:r>
              <a:rPr lang="en-US" dirty="0"/>
              <a:t>: Highly customizable, preferred by advanced users.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D60C-E76C-4063-9AFB-A3D9AF4270BE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39</a:t>
            </a:fld>
            <a:endParaRPr lang="en-US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271626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0304" y="457200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Besic</a:t>
            </a:r>
            <a:r>
              <a:rPr lang="en-US" dirty="0" smtClean="0"/>
              <a:t> </a:t>
            </a:r>
            <a:r>
              <a:rPr lang="en-US" b="1" dirty="0"/>
              <a:t>Benefits of Using </a:t>
            </a:r>
            <a:r>
              <a:rPr lang="en-US" b="1" dirty="0" smtClean="0"/>
              <a:t>Linux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757B-F9A4-43BE-8E5F-09918F689FCB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40</a:t>
            </a:fld>
            <a:endParaRPr lang="en-US">
              <a:latin typeface="Franklin Gothic Book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2209800" y="1828800"/>
            <a:ext cx="7772400" cy="4572000"/>
          </a:xfrm>
        </p:spPr>
        <p:txBody>
          <a:bodyPr/>
          <a:lstStyle/>
          <a:p>
            <a:r>
              <a:rPr lang="en-US" b="1" dirty="0" smtClean="0"/>
              <a:t>Open </a:t>
            </a:r>
            <a:r>
              <a:rPr lang="en-US" b="1" dirty="0"/>
              <a:t>Source</a:t>
            </a:r>
            <a:r>
              <a:rPr lang="en-US" dirty="0"/>
              <a:t>: Free and open to modification.</a:t>
            </a:r>
          </a:p>
          <a:p>
            <a:r>
              <a:rPr lang="en-US" b="1" dirty="0"/>
              <a:t>Security</a:t>
            </a:r>
            <a:r>
              <a:rPr lang="en-US" dirty="0"/>
              <a:t>: Fewer vulnerabilities than other OS.</a:t>
            </a:r>
          </a:p>
          <a:p>
            <a:r>
              <a:rPr lang="en-US" b="1" dirty="0"/>
              <a:t>Flexibility</a:t>
            </a:r>
            <a:r>
              <a:rPr lang="en-US" dirty="0"/>
              <a:t>: Highly customizable for any type of use.</a:t>
            </a:r>
          </a:p>
          <a:p>
            <a:r>
              <a:rPr lang="en-US" b="1" dirty="0"/>
              <a:t>Performance</a:t>
            </a:r>
            <a:r>
              <a:rPr lang="en-US" dirty="0"/>
              <a:t>: Efficient resource usage, especially for servers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1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228600"/>
            <a:ext cx="7772400" cy="9906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rPr>
              <a:t>Linux Operations Review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A37CC-6FD4-4E99-9C9A-32BAF9BAF2DA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41</a:t>
            </a:fld>
            <a:endParaRPr lang="en-US">
              <a:latin typeface="Franklin Gothic Book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1905000" y="1143000"/>
            <a:ext cx="8686800" cy="5334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1. File </a:t>
            </a:r>
            <a:r>
              <a:rPr lang="en-US" b="1" dirty="0"/>
              <a:t>Management Commands</a:t>
            </a:r>
            <a:r>
              <a:rPr lang="en-US" dirty="0"/>
              <a:t> (for navigating and manipulating files</a:t>
            </a:r>
            <a:r>
              <a:rPr lang="en-US" dirty="0" smtClean="0"/>
              <a:t>)</a:t>
            </a:r>
          </a:p>
          <a:p>
            <a:pPr lvl="1">
              <a:buFont typeface="Courier New" pitchFamily="49" charset="0"/>
              <a:buChar char="o"/>
            </a:pPr>
            <a:r>
              <a:rPr lang="en-US" sz="2800" b="1" dirty="0" err="1">
                <a:solidFill>
                  <a:srgbClr val="FF0000"/>
                </a:solidFill>
              </a:rPr>
              <a:t>ls</a:t>
            </a:r>
            <a:r>
              <a:rPr lang="en-US" sz="2800" dirty="0"/>
              <a:t>: Lists the files and directories in the current directory.</a:t>
            </a:r>
          </a:p>
          <a:p>
            <a:pPr marL="594360" lvl="2" indent="0">
              <a:buNone/>
            </a:pPr>
            <a:r>
              <a:rPr lang="en-US" dirty="0" smtClean="0"/>
              <a:t>Example</a:t>
            </a:r>
            <a:r>
              <a:rPr lang="en-US" dirty="0"/>
              <a:t>: </a:t>
            </a:r>
            <a:r>
              <a:rPr lang="en-US" dirty="0" err="1"/>
              <a:t>ls</a:t>
            </a:r>
            <a:r>
              <a:rPr lang="en-US" dirty="0"/>
              <a:t> -l shows a detailed (long) listing with permissions, ownership, and size.</a:t>
            </a:r>
          </a:p>
          <a:p>
            <a:pPr lvl="1">
              <a:buFont typeface="Courier New" pitchFamily="49" charset="0"/>
              <a:buChar char="o"/>
            </a:pPr>
            <a:r>
              <a:rPr lang="en-US" sz="2800" b="1" dirty="0">
                <a:solidFill>
                  <a:srgbClr val="FF0000"/>
                </a:solidFill>
              </a:rPr>
              <a:t>cd</a:t>
            </a:r>
            <a:r>
              <a:rPr lang="en-US" sz="2800" dirty="0"/>
              <a:t>: Changes the current directory to a specified path.</a:t>
            </a:r>
          </a:p>
          <a:p>
            <a:pPr marL="594360" lvl="2" indent="0">
              <a:buNone/>
            </a:pPr>
            <a:r>
              <a:rPr lang="en-US" dirty="0"/>
              <a:t>Example: cd /home/user/Documents changes to the "Documents" directory.</a:t>
            </a:r>
          </a:p>
          <a:p>
            <a:pPr lvl="1">
              <a:buFont typeface="Courier New" pitchFamily="49" charset="0"/>
              <a:buChar char="o"/>
            </a:pPr>
            <a:r>
              <a:rPr lang="en-US" sz="2800" b="1" dirty="0" err="1">
                <a:solidFill>
                  <a:srgbClr val="FF0000"/>
                </a:solidFill>
              </a:rPr>
              <a:t>cp</a:t>
            </a:r>
            <a:r>
              <a:rPr lang="en-US" sz="2800" dirty="0"/>
              <a:t>: Copies files or directories from one location to another.</a:t>
            </a:r>
          </a:p>
          <a:p>
            <a:pPr marL="594360" lvl="2" indent="0">
              <a:buNone/>
            </a:pPr>
            <a:r>
              <a:rPr lang="en-US" dirty="0"/>
              <a:t>Example: </a:t>
            </a:r>
            <a:r>
              <a:rPr lang="en-US" dirty="0" err="1"/>
              <a:t>cp</a:t>
            </a:r>
            <a:r>
              <a:rPr lang="en-US" dirty="0"/>
              <a:t> file.txt /home/user/backup/ copies "file.txt" to the "backup" directory.</a:t>
            </a:r>
          </a:p>
          <a:p>
            <a:pPr lvl="1">
              <a:buFont typeface="Courier New" pitchFamily="49" charset="0"/>
              <a:buChar char="o"/>
            </a:pPr>
            <a:r>
              <a:rPr lang="en-US" sz="2800" b="1" dirty="0">
                <a:solidFill>
                  <a:srgbClr val="FF0000"/>
                </a:solidFill>
              </a:rPr>
              <a:t>mv</a:t>
            </a:r>
            <a:r>
              <a:rPr lang="en-US" sz="2800" dirty="0"/>
              <a:t>: Moves files or directories, or renames them.</a:t>
            </a:r>
          </a:p>
          <a:p>
            <a:pPr marL="594360" lvl="2" indent="0">
              <a:buNone/>
            </a:pPr>
            <a:r>
              <a:rPr lang="en-US" dirty="0"/>
              <a:t>Example: mv file.txt /home/user/backup/ moves "file.txt" to the "backup" directory. If in the same directory, it acts as a rename.</a:t>
            </a:r>
          </a:p>
          <a:p>
            <a:pPr lvl="1">
              <a:buFont typeface="Courier New" pitchFamily="49" charset="0"/>
              <a:buChar char="o"/>
            </a:pPr>
            <a:r>
              <a:rPr lang="en-US" sz="2800" b="1" dirty="0" err="1">
                <a:solidFill>
                  <a:srgbClr val="FF0000"/>
                </a:solidFill>
              </a:rPr>
              <a:t>rm</a:t>
            </a:r>
            <a:r>
              <a:rPr lang="en-US" sz="2800" dirty="0"/>
              <a:t>: Deletes files or directories.</a:t>
            </a:r>
          </a:p>
          <a:p>
            <a:pPr marL="594360" lvl="2" indent="0">
              <a:buNone/>
            </a:pPr>
            <a:r>
              <a:rPr lang="en-US" dirty="0"/>
              <a:t>Example: </a:t>
            </a:r>
            <a:r>
              <a:rPr lang="en-US" dirty="0" err="1"/>
              <a:t>rm</a:t>
            </a:r>
            <a:r>
              <a:rPr lang="en-US" dirty="0"/>
              <a:t> file.txt deletes "file.txt". Adding -r (recursive) is needed to delete directories and their contents (e.g., </a:t>
            </a:r>
            <a:r>
              <a:rPr lang="en-US" dirty="0" err="1"/>
              <a:t>rm</a:t>
            </a:r>
            <a:r>
              <a:rPr lang="en-US" dirty="0"/>
              <a:t> -r </a:t>
            </a:r>
            <a:r>
              <a:rPr lang="en-US" dirty="0" err="1"/>
              <a:t>myfolder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78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92162"/>
          </a:xfrm>
        </p:spPr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EFD28-9C77-45F0-BF87-1502BFCD77D8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42</a:t>
            </a:fld>
            <a:endParaRPr lang="en-US">
              <a:latin typeface="Franklin Gothic Book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2057400" y="990600"/>
            <a:ext cx="81534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2. Process </a:t>
            </a:r>
            <a:r>
              <a:rPr lang="en-US" b="1" dirty="0"/>
              <a:t>Management Commands (for managing running processes)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 err="1">
                <a:solidFill>
                  <a:srgbClr val="FF0000"/>
                </a:solidFill>
              </a:rPr>
              <a:t>ps</a:t>
            </a:r>
            <a:r>
              <a:rPr lang="en-US" dirty="0"/>
              <a:t>: Displays a snapshot of current processes.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/>
              <a:t>Example: </a:t>
            </a:r>
            <a:r>
              <a:rPr lang="en-US" dirty="0" err="1"/>
              <a:t>ps</a:t>
            </a:r>
            <a:r>
              <a:rPr lang="en-US" dirty="0"/>
              <a:t> aux shows all running processes, their user, CPU, memory usage, etc.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>
                <a:solidFill>
                  <a:srgbClr val="FF0000"/>
                </a:solidFill>
              </a:rPr>
              <a:t>top</a:t>
            </a:r>
            <a:r>
              <a:rPr lang="en-US" dirty="0"/>
              <a:t>: Continuously displays running processes in real-time, allowing you to monitor CPU, memory, and other resource usage.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/>
              <a:t>You can press q to quit the top interface.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>
                <a:solidFill>
                  <a:srgbClr val="FF0000"/>
                </a:solidFill>
              </a:rPr>
              <a:t>kill</a:t>
            </a:r>
            <a:r>
              <a:rPr lang="en-US" dirty="0"/>
              <a:t>: Terminates a specific process by its Process ID (PID).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/>
              <a:t>Example: kill 1234 sends a termination signal to the process with PID 1234. kill -9 1234 sends a forceful kill signal.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5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92162"/>
          </a:xfrm>
        </p:spPr>
        <p:txBody>
          <a:bodyPr/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FEAA-8B24-485E-8374-A2D2567E6B88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43</a:t>
            </a:fld>
            <a:endParaRPr lang="en-US">
              <a:latin typeface="Franklin Gothic Book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2057400" y="1066800"/>
            <a:ext cx="83058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3. Permissions </a:t>
            </a:r>
            <a:r>
              <a:rPr lang="en-US" b="1" dirty="0"/>
              <a:t>Management Commands (for controlling access to files and directories)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 err="1">
                <a:solidFill>
                  <a:srgbClr val="FF0000"/>
                </a:solidFill>
              </a:rPr>
              <a:t>chmod</a:t>
            </a:r>
            <a:r>
              <a:rPr lang="en-US" dirty="0"/>
              <a:t>: Changes file or directory permissions for users, groups, and others.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/>
              <a:t>Example: </a:t>
            </a:r>
            <a:r>
              <a:rPr lang="en-US" dirty="0" err="1"/>
              <a:t>chmod</a:t>
            </a:r>
            <a:r>
              <a:rPr lang="en-US" dirty="0"/>
              <a:t> 755 script.sh gives read, write, and execute permissions to the owner, and read and execute permissions to group and others.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 err="1">
                <a:solidFill>
                  <a:srgbClr val="FF0000"/>
                </a:solidFill>
              </a:rPr>
              <a:t>chown</a:t>
            </a:r>
            <a:r>
              <a:rPr lang="en-US" dirty="0"/>
              <a:t>: Changes the ownership of a file or directory.</a:t>
            </a:r>
          </a:p>
          <a:p>
            <a:pPr lvl="2">
              <a:buFont typeface="Courier New" pitchFamily="49" charset="0"/>
              <a:buChar char="o"/>
            </a:pPr>
            <a:r>
              <a:rPr lang="en-US" dirty="0"/>
              <a:t>Example: </a:t>
            </a:r>
            <a:r>
              <a:rPr lang="en-US" dirty="0" err="1"/>
              <a:t>chown</a:t>
            </a:r>
            <a:r>
              <a:rPr lang="en-US" dirty="0"/>
              <a:t> </a:t>
            </a:r>
            <a:r>
              <a:rPr lang="en-US" dirty="0" err="1"/>
              <a:t>user:group</a:t>
            </a:r>
            <a:r>
              <a:rPr lang="en-US" dirty="0"/>
              <a:t> file.txt sets "user" as the owner and "group" as the group owner of "file.txt".</a:t>
            </a:r>
          </a:p>
          <a:p>
            <a:pPr lvl="1">
              <a:buFont typeface="Courier New" pitchFamily="49" charset="0"/>
              <a:buChar char="o"/>
            </a:pPr>
            <a:r>
              <a:rPr lang="en-US" b="1" dirty="0">
                <a:solidFill>
                  <a:srgbClr val="FF0000"/>
                </a:solidFill>
              </a:rPr>
              <a:t>User Groups</a:t>
            </a:r>
            <a:r>
              <a:rPr lang="en-US" dirty="0"/>
              <a:t>: Groups in Linux allow permissions to be set for multiple users at once. Commands like </a:t>
            </a:r>
            <a:r>
              <a:rPr lang="en-US" dirty="0" err="1"/>
              <a:t>usermod</a:t>
            </a:r>
            <a:r>
              <a:rPr lang="en-US" dirty="0"/>
              <a:t> -</a:t>
            </a:r>
            <a:r>
              <a:rPr lang="en-US" dirty="0" err="1"/>
              <a:t>aG</a:t>
            </a:r>
            <a:r>
              <a:rPr lang="en-US" dirty="0"/>
              <a:t> </a:t>
            </a:r>
            <a:r>
              <a:rPr lang="en-US" dirty="0" err="1"/>
              <a:t>groupname</a:t>
            </a:r>
            <a:r>
              <a:rPr lang="en-US" dirty="0"/>
              <a:t> username can add a user to a group.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0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1A9F-AB5B-4D28-9F0D-D14683ACF785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44</a:t>
            </a:fld>
            <a:endParaRPr lang="en-US">
              <a:latin typeface="Franklin Gothic Book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1905000" y="838200"/>
            <a:ext cx="8534400" cy="5715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4. Package </a:t>
            </a:r>
            <a:r>
              <a:rPr lang="en-US" b="1" dirty="0"/>
              <a:t>Management Commands (for installing, updating, and managing software)</a:t>
            </a:r>
          </a:p>
          <a:p>
            <a:r>
              <a:rPr lang="en-US" b="1" dirty="0" err="1"/>
              <a:t>Debian</a:t>
            </a:r>
            <a:r>
              <a:rPr lang="en-US" b="1" dirty="0"/>
              <a:t>-based (e.g., Ubuntu)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apt-get</a:t>
            </a:r>
            <a:r>
              <a:rPr lang="en-US" dirty="0"/>
              <a:t>: Used for package management tasks such as installing, upgrading, and removing software.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sudo</a:t>
            </a:r>
            <a:r>
              <a:rPr lang="en-US" dirty="0"/>
              <a:t> apt-get install package-name installs a package.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apt</a:t>
            </a:r>
            <a:r>
              <a:rPr lang="en-US" dirty="0"/>
              <a:t>: A newer, user-friendly command for managing packages, often with simplified syntax.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sudo</a:t>
            </a:r>
            <a:r>
              <a:rPr lang="en-US" dirty="0"/>
              <a:t> apt update updates the package list, and </a:t>
            </a:r>
            <a:r>
              <a:rPr lang="en-US" dirty="0" err="1"/>
              <a:t>sudo</a:t>
            </a:r>
            <a:r>
              <a:rPr lang="en-US" dirty="0"/>
              <a:t> apt upgrade upgrades installed packages.</a:t>
            </a:r>
          </a:p>
          <a:p>
            <a:r>
              <a:rPr lang="en-US" b="1" dirty="0" err="1"/>
              <a:t>RedHat</a:t>
            </a:r>
            <a:r>
              <a:rPr lang="en-US" b="1" dirty="0"/>
              <a:t>-based (e.g., Fedora)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yum</a:t>
            </a:r>
            <a:r>
              <a:rPr lang="en-US" dirty="0"/>
              <a:t>: Used for package management on older </a:t>
            </a:r>
            <a:r>
              <a:rPr lang="en-US" dirty="0" err="1"/>
              <a:t>RedHat</a:t>
            </a:r>
            <a:r>
              <a:rPr lang="en-US" dirty="0"/>
              <a:t>-based systems.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sudo</a:t>
            </a:r>
            <a:r>
              <a:rPr lang="en-US" dirty="0"/>
              <a:t> yum install package-name installs a package.</a:t>
            </a:r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dnf</a:t>
            </a:r>
            <a:r>
              <a:rPr lang="en-US" dirty="0"/>
              <a:t>: The newer package manager replacing yum, with faster performance and dependency handling.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dnf</a:t>
            </a:r>
            <a:r>
              <a:rPr lang="en-US" dirty="0"/>
              <a:t> install package-name installs a package.</a:t>
            </a:r>
          </a:p>
          <a:p>
            <a:r>
              <a:rPr lang="en-US" b="1" dirty="0"/>
              <a:t>Arch-based (e.g., Arch Linux)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FF0000"/>
                </a:solidFill>
              </a:rPr>
              <a:t>pacman</a:t>
            </a:r>
            <a:r>
              <a:rPr lang="en-US" dirty="0"/>
              <a:t>: The default package manager for Arch-based systems, used for installing, upgrading, and removing packages.</a:t>
            </a:r>
          </a:p>
          <a:p>
            <a:pPr lvl="2"/>
            <a:r>
              <a:rPr lang="en-US" dirty="0"/>
              <a:t>Example: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pacman</a:t>
            </a:r>
            <a:r>
              <a:rPr lang="en-US" dirty="0"/>
              <a:t> -S package-name installs a package, and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pacman</a:t>
            </a:r>
            <a:r>
              <a:rPr lang="en-US" dirty="0"/>
              <a:t> -R package-name removes it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8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Where to get </a:t>
            </a:r>
            <a:r>
              <a:rPr lang="en-US" b="1" dirty="0" smtClean="0">
                <a:solidFill>
                  <a:srgbClr val="FF0000"/>
                </a:solidFill>
              </a:rPr>
              <a:t>answers?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Linux/UNIX documentation can be found </a:t>
            </a:r>
            <a:r>
              <a:rPr lang="en-US" dirty="0" smtClean="0"/>
              <a:t>in many </a:t>
            </a:r>
            <a:r>
              <a:rPr lang="en-US" dirty="0"/>
              <a:t>places</a:t>
            </a:r>
          </a:p>
          <a:p>
            <a:pPr lvl="1"/>
            <a:r>
              <a:rPr lang="en-US" dirty="0" smtClean="0"/>
              <a:t>Manual </a:t>
            </a:r>
            <a:r>
              <a:rPr lang="en-US" dirty="0"/>
              <a:t>pages (man pages, using </a:t>
            </a:r>
            <a:r>
              <a:rPr lang="en-US" b="1" dirty="0">
                <a:solidFill>
                  <a:srgbClr val="FF0000"/>
                </a:solidFill>
              </a:rPr>
              <a:t>man</a:t>
            </a:r>
            <a:r>
              <a:rPr lang="en-US" dirty="0"/>
              <a:t> command)</a:t>
            </a:r>
          </a:p>
          <a:p>
            <a:pPr lvl="1"/>
            <a:r>
              <a:rPr lang="en-US" dirty="0" err="1" smtClean="0"/>
              <a:t>Texinfo</a:t>
            </a:r>
            <a:r>
              <a:rPr lang="en-US" dirty="0" smtClean="0"/>
              <a:t> </a:t>
            </a:r>
            <a:r>
              <a:rPr lang="en-US" dirty="0"/>
              <a:t>documents (read with </a:t>
            </a:r>
            <a:r>
              <a:rPr lang="en-US" b="1" dirty="0">
                <a:solidFill>
                  <a:srgbClr val="FF0000"/>
                </a:solidFill>
              </a:rPr>
              <a:t>info</a:t>
            </a:r>
            <a:r>
              <a:rPr lang="en-US" dirty="0"/>
              <a:t> command)</a:t>
            </a:r>
          </a:p>
          <a:p>
            <a:pPr lvl="1"/>
            <a:r>
              <a:rPr lang="en-US" dirty="0" smtClean="0"/>
              <a:t>HOWTOs </a:t>
            </a:r>
            <a:r>
              <a:rPr lang="en-US" dirty="0"/>
              <a:t>– focused descriptions of a topic</a:t>
            </a:r>
          </a:p>
          <a:p>
            <a:pPr lvl="1"/>
            <a:r>
              <a:rPr lang="en-US" dirty="0" smtClean="0"/>
              <a:t>Distribution-specific </a:t>
            </a:r>
            <a:r>
              <a:rPr lang="en-US" dirty="0"/>
              <a:t>documentation</a:t>
            </a:r>
          </a:p>
          <a:p>
            <a:pPr lvl="1"/>
            <a:r>
              <a:rPr lang="en-US" dirty="0" smtClean="0"/>
              <a:t>Your </a:t>
            </a:r>
            <a:r>
              <a:rPr lang="en-US" dirty="0"/>
              <a:t>favorite Web search engine</a:t>
            </a:r>
          </a:p>
          <a:p>
            <a:pPr lvl="2"/>
            <a:r>
              <a:rPr lang="en-US" dirty="0" smtClean="0"/>
              <a:t>Will </a:t>
            </a:r>
            <a:r>
              <a:rPr lang="en-US" dirty="0"/>
              <a:t>typically find online versions of the above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45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3291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Where to get </a:t>
            </a:r>
            <a:r>
              <a:rPr lang="en-US" b="1" dirty="0" smtClean="0">
                <a:solidFill>
                  <a:srgbClr val="FF0000"/>
                </a:solidFill>
              </a:rPr>
              <a:t>answers?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3513" y="1052736"/>
            <a:ext cx="8784975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2025/2026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D1DB5-5F5A-494F-AB81-1A9CF51844F2}" type="slidenum">
              <a:rPr lang="en-US">
                <a:solidFill>
                  <a:prstClr val="black">
                    <a:tint val="75000"/>
                  </a:prstClr>
                </a:solidFill>
                <a:latin typeface="Helvetica"/>
              </a:rPr>
              <a:pPr/>
              <a:t>46</a:t>
            </a:fld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  <a:latin typeface="Helvetica"/>
              </a:rPr>
              <a:t>Introduction to System and Network Administration by Dr. Samuel Asferaw               </a:t>
            </a:r>
            <a:endParaRPr lang="en-US">
              <a:solidFill>
                <a:prstClr val="black">
                  <a:tint val="75000"/>
                </a:prstClr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0089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9736" y="1722521"/>
            <a:ext cx="3986464" cy="1143000"/>
          </a:xfrm>
        </p:spPr>
        <p:txBody>
          <a:bodyPr>
            <a:normAutofit/>
          </a:bodyPr>
          <a:lstStyle/>
          <a:p>
            <a:r>
              <a:rPr lang="en-US" b="1" i="1" dirty="0" smtClean="0">
                <a:solidFill>
                  <a:srgbClr val="1F487C"/>
                </a:solidFill>
                <a:latin typeface="Times New Roman" pitchFamily="18" charset="0"/>
                <a:ea typeface="Comic Sans MS" panose="030F0702030302020204" pitchFamily="66" charset="0"/>
                <a:cs typeface="Times New Roman" pitchFamily="18" charset="0"/>
              </a:rPr>
              <a:t>End of Chapter</a:t>
            </a:r>
            <a:r>
              <a:rPr lang="en-US" b="1" i="1" spc="75" dirty="0">
                <a:solidFill>
                  <a:srgbClr val="1F487C"/>
                </a:solidFill>
                <a:latin typeface="Times New Roman" pitchFamily="18" charset="0"/>
                <a:ea typeface="Comic Sans MS" panose="030F0702030302020204" pitchFamily="66" charset="0"/>
                <a:cs typeface="Times New Roman" pitchFamily="18" charset="0"/>
              </a:rPr>
              <a:t> </a:t>
            </a:r>
            <a:r>
              <a:rPr lang="en-US" b="1" i="1" dirty="0" smtClean="0">
                <a:solidFill>
                  <a:srgbClr val="1F487C"/>
                </a:solidFill>
                <a:latin typeface="Times New Roman" pitchFamily="18" charset="0"/>
                <a:ea typeface="Comic Sans MS" panose="030F0702030302020204" pitchFamily="66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CBB34-FF11-4E90-B099-C19C2AC7EA6E}" type="datetime1">
              <a:rPr lang="en-US">
                <a:solidFill>
                  <a:srgbClr val="696464"/>
                </a:solidFill>
                <a:latin typeface="Perpetua"/>
              </a:rPr>
              <a:pPr/>
              <a:t>11/17/2025</a:t>
            </a:fld>
            <a:endParaRPr lang="en-US">
              <a:solidFill>
                <a:srgbClr val="696464"/>
              </a:solidFill>
              <a:latin typeface="Perpet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  <a:latin typeface="Perpetua"/>
              </a:rPr>
              <a:t>System &amp; Network Administration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AAFF-C290-48D9-9651-DFCF519F3381}" type="slidenum">
              <a:rPr lang="en-US">
                <a:latin typeface="Franklin Gothic Book"/>
              </a:rPr>
              <a:pPr/>
              <a:t>47</a:t>
            </a:fld>
            <a:endParaRPr lang="en-US">
              <a:latin typeface="Franklin Gothic Book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50368" y="3200400"/>
            <a:ext cx="3505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Thank</a:t>
            </a:r>
            <a:r>
              <a:rPr lang="en-US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 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you</a:t>
            </a:r>
            <a:r>
              <a:rPr lang="en-US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3822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5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3263</Words>
  <Application>Microsoft Office PowerPoint</Application>
  <PresentationFormat>Widescreen</PresentationFormat>
  <Paragraphs>580</Paragraphs>
  <Slides>47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ＭＳ Ｐゴシック</vt:lpstr>
      <vt:lpstr>Arial</vt:lpstr>
      <vt:lpstr>Calibri</vt:lpstr>
      <vt:lpstr>Comic Sans MS</vt:lpstr>
      <vt:lpstr>Courier New</vt:lpstr>
      <vt:lpstr>Franklin Gothic Book</vt:lpstr>
      <vt:lpstr>Gill Sans MT</vt:lpstr>
      <vt:lpstr>Helvetica</vt:lpstr>
      <vt:lpstr>Perpetua</vt:lpstr>
      <vt:lpstr>Times</vt:lpstr>
      <vt:lpstr>Times New Roman</vt:lpstr>
      <vt:lpstr>Wingdings 2</vt:lpstr>
      <vt:lpstr>1_Office Theme</vt:lpstr>
      <vt:lpstr>Equity</vt:lpstr>
      <vt:lpstr>Chapter 1 Introduction System and Network Administration</vt:lpstr>
      <vt:lpstr>Topics</vt:lpstr>
      <vt:lpstr>What is a Computer Network system?</vt:lpstr>
      <vt:lpstr>System State</vt:lpstr>
      <vt:lpstr>What do sysadmins do?</vt:lpstr>
      <vt:lpstr>What do sysadmins do? … </vt:lpstr>
      <vt:lpstr>User Account Management</vt:lpstr>
      <vt:lpstr>Hardware Management</vt:lpstr>
      <vt:lpstr>Data Backups</vt:lpstr>
      <vt:lpstr>Software Installation</vt:lpstr>
      <vt:lpstr>System Monitoring</vt:lpstr>
      <vt:lpstr>Troubleshooting</vt:lpstr>
      <vt:lpstr>User Assistance</vt:lpstr>
      <vt:lpstr>Security Concerns</vt:lpstr>
      <vt:lpstr>Communicate</vt:lpstr>
      <vt:lpstr>Specialized Skills</vt:lpstr>
      <vt:lpstr>Practice of sysadmin</vt:lpstr>
      <vt:lpstr>Practice of sysadmin ...</vt:lpstr>
      <vt:lpstr>System administrator (sysadmin)</vt:lpstr>
      <vt:lpstr>Challenges of System Administration </vt:lpstr>
      <vt:lpstr>Challenges of System Administration ...</vt:lpstr>
      <vt:lpstr>Principles of SA</vt:lpstr>
      <vt:lpstr>Qualities of a Successful Sysadmin</vt:lpstr>
      <vt:lpstr>First Steps to Better SA</vt:lpstr>
      <vt:lpstr>Types of Sites</vt:lpstr>
      <vt:lpstr>Organizations Working on SA</vt:lpstr>
      <vt:lpstr>Certifications for SA</vt:lpstr>
      <vt:lpstr>SAGE Job Descriptions </vt:lpstr>
      <vt:lpstr>SA Maturity Model (SAMM)</vt:lpstr>
      <vt:lpstr>Maturity and Complexity</vt:lpstr>
      <vt:lpstr>Tool Maturity Levels</vt:lpstr>
      <vt:lpstr>SAGE Code of Ethics</vt:lpstr>
      <vt:lpstr>X-Windows</vt:lpstr>
      <vt:lpstr>Which OS to learn to admin?</vt:lpstr>
      <vt:lpstr>Brief History of UNIX</vt:lpstr>
      <vt:lpstr>What is Linux? much is courtesy of www.kernel.org</vt:lpstr>
      <vt:lpstr>What is Linux? Cont…</vt:lpstr>
      <vt:lpstr>Brief History of Linux</vt:lpstr>
      <vt:lpstr>Linux Distributions and UIs</vt:lpstr>
      <vt:lpstr>Besic Benefits of Using Linux</vt:lpstr>
      <vt:lpstr>Linux Operations Review</vt:lpstr>
      <vt:lpstr>Cont..</vt:lpstr>
      <vt:lpstr>Cont..</vt:lpstr>
      <vt:lpstr>Cont..</vt:lpstr>
      <vt:lpstr>Where to get answers?</vt:lpstr>
      <vt:lpstr>Where to get answers?</vt:lpstr>
      <vt:lpstr>End of Chapter 1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Sam</cp:lastModifiedBy>
  <cp:revision>11</cp:revision>
  <dcterms:created xsi:type="dcterms:W3CDTF">2025-11-11T09:38:17Z</dcterms:created>
  <dcterms:modified xsi:type="dcterms:W3CDTF">2025-11-17T14:58:32Z</dcterms:modified>
</cp:coreProperties>
</file>