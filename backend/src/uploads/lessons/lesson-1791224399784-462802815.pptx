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96" r:id="rId2"/>
    <p:sldMasterId id="2147483708" r:id="rId3"/>
    <p:sldMasterId id="2147483720" r:id="rId4"/>
  </p:sldMasterIdLst>
  <p:notesMasterIdLst>
    <p:notesMasterId r:id="rId102"/>
  </p:notesMasterIdLst>
  <p:handoutMasterIdLst>
    <p:handoutMasterId r:id="rId103"/>
  </p:handoutMasterIdLst>
  <p:sldIdLst>
    <p:sldId id="257" r:id="rId5"/>
    <p:sldId id="398" r:id="rId6"/>
    <p:sldId id="381" r:id="rId7"/>
    <p:sldId id="510" r:id="rId8"/>
    <p:sldId id="507" r:id="rId9"/>
    <p:sldId id="509" r:id="rId10"/>
    <p:sldId id="511" r:id="rId11"/>
    <p:sldId id="512" r:id="rId12"/>
    <p:sldId id="513" r:id="rId13"/>
    <p:sldId id="514" r:id="rId14"/>
    <p:sldId id="515" r:id="rId15"/>
    <p:sldId id="516" r:id="rId16"/>
    <p:sldId id="517" r:id="rId17"/>
    <p:sldId id="518" r:id="rId18"/>
    <p:sldId id="519" r:id="rId19"/>
    <p:sldId id="520" r:id="rId20"/>
    <p:sldId id="521" r:id="rId21"/>
    <p:sldId id="522" r:id="rId22"/>
    <p:sldId id="523" r:id="rId23"/>
    <p:sldId id="524" r:id="rId24"/>
    <p:sldId id="525" r:id="rId25"/>
    <p:sldId id="526" r:id="rId26"/>
    <p:sldId id="527" r:id="rId27"/>
    <p:sldId id="528" r:id="rId28"/>
    <p:sldId id="529" r:id="rId29"/>
    <p:sldId id="530" r:id="rId30"/>
    <p:sldId id="564" r:id="rId31"/>
    <p:sldId id="565" r:id="rId32"/>
    <p:sldId id="567" r:id="rId33"/>
    <p:sldId id="568" r:id="rId34"/>
    <p:sldId id="531" r:id="rId35"/>
    <p:sldId id="532" r:id="rId36"/>
    <p:sldId id="533" r:id="rId37"/>
    <p:sldId id="572" r:id="rId38"/>
    <p:sldId id="569" r:id="rId39"/>
    <p:sldId id="571" r:id="rId40"/>
    <p:sldId id="534" r:id="rId41"/>
    <p:sldId id="535" r:id="rId42"/>
    <p:sldId id="573" r:id="rId43"/>
    <p:sldId id="574" r:id="rId44"/>
    <p:sldId id="575" r:id="rId45"/>
    <p:sldId id="576" r:id="rId46"/>
    <p:sldId id="577" r:id="rId47"/>
    <p:sldId id="578" r:id="rId48"/>
    <p:sldId id="579" r:id="rId49"/>
    <p:sldId id="580" r:id="rId50"/>
    <p:sldId id="536" r:id="rId51"/>
    <p:sldId id="537" r:id="rId52"/>
    <p:sldId id="539" r:id="rId53"/>
    <p:sldId id="540" r:id="rId54"/>
    <p:sldId id="541" r:id="rId55"/>
    <p:sldId id="542" r:id="rId56"/>
    <p:sldId id="543" r:id="rId57"/>
    <p:sldId id="544" r:id="rId58"/>
    <p:sldId id="553" r:id="rId59"/>
    <p:sldId id="554" r:id="rId60"/>
    <p:sldId id="555" r:id="rId61"/>
    <p:sldId id="556" r:id="rId62"/>
    <p:sldId id="557" r:id="rId63"/>
    <p:sldId id="558" r:id="rId64"/>
    <p:sldId id="559" r:id="rId65"/>
    <p:sldId id="561" r:id="rId66"/>
    <p:sldId id="562" r:id="rId67"/>
    <p:sldId id="563" r:id="rId68"/>
    <p:sldId id="489" r:id="rId69"/>
    <p:sldId id="490" r:id="rId70"/>
    <p:sldId id="491" r:id="rId71"/>
    <p:sldId id="492" r:id="rId72"/>
    <p:sldId id="493" r:id="rId73"/>
    <p:sldId id="494" r:id="rId74"/>
    <p:sldId id="495" r:id="rId75"/>
    <p:sldId id="496" r:id="rId76"/>
    <p:sldId id="497" r:id="rId77"/>
    <p:sldId id="498" r:id="rId78"/>
    <p:sldId id="499" r:id="rId79"/>
    <p:sldId id="500" r:id="rId80"/>
    <p:sldId id="501" r:id="rId81"/>
    <p:sldId id="502" r:id="rId82"/>
    <p:sldId id="503" r:id="rId83"/>
    <p:sldId id="504" r:id="rId84"/>
    <p:sldId id="581" r:id="rId85"/>
    <p:sldId id="582" r:id="rId86"/>
    <p:sldId id="583" r:id="rId87"/>
    <p:sldId id="585" r:id="rId88"/>
    <p:sldId id="586" r:id="rId89"/>
    <p:sldId id="587" r:id="rId90"/>
    <p:sldId id="588" r:id="rId91"/>
    <p:sldId id="589" r:id="rId92"/>
    <p:sldId id="590" r:id="rId93"/>
    <p:sldId id="591" r:id="rId94"/>
    <p:sldId id="592" r:id="rId95"/>
    <p:sldId id="593" r:id="rId96"/>
    <p:sldId id="594" r:id="rId97"/>
    <p:sldId id="595" r:id="rId98"/>
    <p:sldId id="596" r:id="rId99"/>
    <p:sldId id="598" r:id="rId100"/>
    <p:sldId id="397" r:id="rId10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03" autoAdjust="0"/>
    <p:restoredTop sz="93053" autoAdjust="0"/>
  </p:normalViewPr>
  <p:slideViewPr>
    <p:cSldViewPr snapToGrid="0">
      <p:cViewPr varScale="1">
        <p:scale>
          <a:sx n="72" d="100"/>
          <a:sy n="72" d="100"/>
        </p:scale>
        <p:origin x="50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6" d="100"/>
          <a:sy n="56" d="100"/>
        </p:scale>
        <p:origin x="285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openxmlformats.org/officeDocument/2006/relationships/theme" Target="theme/theme1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handoutMaster" Target="handoutMasters/handoutMaster1.xml"/><Relationship Id="rId108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commentAuthors" Target="commentAuthor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slideMaster" Target="slideMasters/slideMaster2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C66D5-35F2-4B2B-B66A-28018F619124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073D5-63C2-4933-B970-D96552757D4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48188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B7E8A-1102-47A1-B1C3-36AE88809383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11EAB-687D-4AE4-B775-678A923E94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1035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33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-129688" y="-111832"/>
            <a:ext cx="12188952" cy="6979920"/>
            <a:chOff x="-129688" y="-109879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-129688" y="-109879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786712" y="4545109"/>
              <a:ext cx="10566397" cy="200062"/>
              <a:chOff x="735913" y="5387077"/>
              <a:chExt cx="10566397" cy="200062"/>
            </a:xfrm>
          </p:grpSpPr>
          <p:sp>
            <p:nvSpPr>
              <p:cNvPr id="19" name="Rectangle 18" descr="Gold bar"/>
              <p:cNvSpPr>
                <a:spLocks noChangeArrowheads="1"/>
              </p:cNvSpPr>
              <p:nvPr/>
            </p:nvSpPr>
            <p:spPr bwMode="auto">
              <a:xfrm rot="16200000" flipH="1">
                <a:off x="2528412" y="3594578"/>
                <a:ext cx="200062" cy="3785060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>
                <a:reflection blurRad="6350" stA="50000" endA="300" endPos="38500" dist="50800" dir="5400000" sy="-100000" algn="bl" rotWithShape="0"/>
              </a:effectLst>
            </p:spPr>
            <p:txBody>
              <a:bodyPr wrap="none" anchor="ctr"/>
              <a:lstStyle/>
              <a:p>
                <a:pPr algn="ctr" eaLnBrk="1" hangingPunct="1"/>
                <a:endParaRPr 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Rectangle 19" descr="Orange bar"/>
              <p:cNvSpPr>
                <a:spLocks noChangeArrowheads="1"/>
              </p:cNvSpPr>
              <p:nvPr/>
            </p:nvSpPr>
            <p:spPr bwMode="auto">
              <a:xfrm rot="16200000" flipH="1">
                <a:off x="5870412" y="3961204"/>
                <a:ext cx="196717" cy="3048463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miter lim="800000"/>
                <a:headEnd/>
                <a:tailEnd/>
              </a:ln>
              <a:effectLst>
                <a:reflection blurRad="6350" stA="50000" endA="300" endPos="38500" dist="50800" dir="5400000" sy="-100000" algn="bl" rotWithShape="0"/>
              </a:effectLst>
            </p:spPr>
            <p:txBody>
              <a:bodyPr wrap="none" anchor="ctr"/>
              <a:lstStyle/>
              <a:p>
                <a:pPr algn="ctr" eaLnBrk="1" hangingPunct="1"/>
                <a:endParaRPr 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" name="Rectangle 20" descr="Slate bar"/>
              <p:cNvSpPr>
                <a:spLocks noChangeArrowheads="1"/>
              </p:cNvSpPr>
              <p:nvPr/>
            </p:nvSpPr>
            <p:spPr bwMode="auto">
              <a:xfrm rot="16200000" flipH="1">
                <a:off x="9300624" y="3582109"/>
                <a:ext cx="193374" cy="3809999"/>
              </a:xfrm>
              <a:prstGeom prst="rect">
                <a:avLst/>
              </a:prstGeom>
              <a:solidFill>
                <a:schemeClr val="accent6"/>
              </a:solidFill>
              <a:ln w="9525">
                <a:noFill/>
                <a:miter lim="800000"/>
                <a:headEnd/>
                <a:tailEnd/>
              </a:ln>
              <a:effectLst>
                <a:reflection blurRad="6350" stA="50000" endA="300" endPos="38500" dist="50800" dir="5400000" sy="-100000" algn="bl" rotWithShape="0"/>
              </a:effectLst>
            </p:spPr>
            <p:txBody>
              <a:bodyPr wrap="none" anchor="ctr"/>
              <a:lstStyle/>
              <a:p>
                <a:pPr algn="ctr" eaLnBrk="1" hangingPunct="1"/>
                <a:endParaRPr lang="en-US" sz="24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56115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97C0-FF16-4889-94A3-8EF1E947F06B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38993" y="3246431"/>
            <a:ext cx="451704" cy="3651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080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319134"/>
            <a:ext cx="10515600" cy="476638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73690"/>
            <a:ext cx="10515600" cy="925524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0" y="626491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B511227F-1E06-4251-99D1-5E134AC25485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32960" y="6264914"/>
            <a:ext cx="32156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90170" y="6264914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076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189" indent="0">
              <a:buNone/>
              <a:defRPr sz="2000"/>
            </a:lvl2pPr>
            <a:lvl3pPr marL="914377" indent="0">
              <a:buNone/>
              <a:defRPr sz="18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62262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EF090DD1-4F43-481A-AD1B-82F253D56844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F8F2D3E-1135-4616-87D1-A1B4B29924C1}"/>
              </a:ext>
            </a:extLst>
          </p:cNvPr>
          <p:cNvSpPr txBox="1">
            <a:spLocks/>
          </p:cNvSpPr>
          <p:nvPr userDrawn="1"/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14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0032C122-74C7-4033-AFFC-375A279D913D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897AAD-D655-4725-81CB-6287EFB8BE99}"/>
              </a:ext>
            </a:extLst>
          </p:cNvPr>
          <p:cNvSpPr txBox="1">
            <a:spLocks/>
          </p:cNvSpPr>
          <p:nvPr userDrawn="1"/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80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5" y="2193929"/>
            <a:ext cx="5157787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5" y="1489075"/>
            <a:ext cx="5157787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9"/>
            <a:ext cx="5156200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74638"/>
            <a:ext cx="10515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A442C9A5-F1CA-472E-B0EB-474C4A7DCD26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C337F36-16A8-4612-9CF8-472ECF93F5D2}"/>
              </a:ext>
            </a:extLst>
          </p:cNvPr>
          <p:cNvSpPr txBox="1">
            <a:spLocks/>
          </p:cNvSpPr>
          <p:nvPr userDrawn="1"/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62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A4B09633-4E36-4A82-8E37-C8E986EF9FA9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1A793B-13F4-4D00-AE8E-21ED02D4E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2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E3478735-2403-4966-B8B1-5F257F51C2F8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3DD829E-A349-4ED4-AE50-35DB66E2C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341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7636A1DC-D6D8-4B55-8BDA-754B6F03B176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11E2D5D-B658-4AB9-928E-F96E99C29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59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B3270396-E3C4-4645-8BCB-405F0F3896FF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1748C34-FFD9-4EB8-A2B2-5AE2D38D3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50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7B44EBBF-DC18-4D37-84F9-3E3BC7234569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60A1808-4B51-42DD-A7B8-355D5BD8B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29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ED97FAFE-A7DA-4492-9EB8-B41DF4255C3A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7FFD8DD-7966-4A31-A2F3-1A1DA33BC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264913"/>
            <a:ext cx="491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12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B8D67-B6B7-450E-BEF0-74668401B291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505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2BC42-1CB2-4C87-8557-EEC3E1868268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59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38BC7-157E-4BD3-9E4D-A52FA0122BC2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935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B483-7185-4B23-B226-AF8D7C65FE25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541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1813-3259-4F6E-81D9-15F0C9AC4548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453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264D1-9779-429F-97DA-89137E43BE4F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511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ACD67-EBD5-46EC-952F-E4807E233491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0366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FB1F-FD27-4606-B5E7-0214355B1681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0179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5DB-2E4A-4CAB-B079-84D39E979EAA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131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1B1C3-2C37-40E8-98F7-24963E5E86B5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9104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C4D1-EECF-4B8E-A7F3-4327E6616B2C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190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-129688" y="-111832"/>
            <a:ext cx="12188952" cy="6979920"/>
            <a:chOff x="-129688" y="-109879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-129688" y="-109879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786712" y="4545109"/>
              <a:ext cx="10566397" cy="200062"/>
              <a:chOff x="735913" y="5387077"/>
              <a:chExt cx="10566397" cy="200062"/>
            </a:xfrm>
          </p:grpSpPr>
          <p:sp>
            <p:nvSpPr>
              <p:cNvPr id="19" name="Rectangle 18" descr="Gold bar"/>
              <p:cNvSpPr>
                <a:spLocks noChangeArrowheads="1"/>
              </p:cNvSpPr>
              <p:nvPr/>
            </p:nvSpPr>
            <p:spPr bwMode="auto">
              <a:xfrm rot="16200000" flipH="1">
                <a:off x="2528412" y="3594578"/>
                <a:ext cx="200062" cy="3785060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>
                <a:reflection blurRad="6350" stA="50000" endA="300" endPos="38500" dist="50800" dir="5400000" sy="-100000" algn="bl" rotWithShape="0"/>
              </a:effectLst>
            </p:spPr>
            <p:txBody>
              <a:bodyPr wrap="none" anchor="ctr"/>
              <a:lstStyle/>
              <a:p>
                <a:pPr algn="ctr" eaLnBrk="1" hangingPunct="1"/>
                <a:endParaRPr 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Rectangle 19" descr="Orange bar"/>
              <p:cNvSpPr>
                <a:spLocks noChangeArrowheads="1"/>
              </p:cNvSpPr>
              <p:nvPr/>
            </p:nvSpPr>
            <p:spPr bwMode="auto">
              <a:xfrm rot="16200000" flipH="1">
                <a:off x="5870412" y="3961204"/>
                <a:ext cx="196717" cy="3048463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miter lim="800000"/>
                <a:headEnd/>
                <a:tailEnd/>
              </a:ln>
              <a:effectLst>
                <a:reflection blurRad="6350" stA="50000" endA="300" endPos="38500" dist="50800" dir="5400000" sy="-100000" algn="bl" rotWithShape="0"/>
              </a:effectLst>
            </p:spPr>
            <p:txBody>
              <a:bodyPr wrap="none" anchor="ctr"/>
              <a:lstStyle/>
              <a:p>
                <a:pPr algn="ctr" eaLnBrk="1" hangingPunct="1"/>
                <a:endParaRPr 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" name="Rectangle 20" descr="Slate bar"/>
              <p:cNvSpPr>
                <a:spLocks noChangeArrowheads="1"/>
              </p:cNvSpPr>
              <p:nvPr/>
            </p:nvSpPr>
            <p:spPr bwMode="auto">
              <a:xfrm rot="16200000" flipH="1">
                <a:off x="9300624" y="3582109"/>
                <a:ext cx="193374" cy="3809999"/>
              </a:xfrm>
              <a:prstGeom prst="rect">
                <a:avLst/>
              </a:prstGeom>
              <a:solidFill>
                <a:schemeClr val="accent6"/>
              </a:solidFill>
              <a:ln w="9525">
                <a:noFill/>
                <a:miter lim="800000"/>
                <a:headEnd/>
                <a:tailEnd/>
              </a:ln>
              <a:effectLst>
                <a:reflection blurRad="6350" stA="50000" endA="300" endPos="38500" dist="50800" dir="5400000" sy="-100000" algn="bl" rotWithShape="0"/>
              </a:effectLst>
            </p:spPr>
            <p:txBody>
              <a:bodyPr wrap="none" anchor="ctr"/>
              <a:lstStyle/>
              <a:p>
                <a:pPr algn="ctr" eaLnBrk="1" hangingPunct="1"/>
                <a:endParaRPr lang="en-US" sz="24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56115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F7DD5-74A7-4E31-8E1A-B1BB7849F557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3566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319134"/>
            <a:ext cx="10515600" cy="476638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963DD0-D7E2-41F2-B2FA-50141A37C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803271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073D3-BA15-47CF-B80A-750936425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06814-BBBB-49A5-B55E-2DE2AF5EC737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2327B-3324-4C96-973C-3C974E850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3973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189" indent="0">
              <a:buNone/>
              <a:defRPr sz="2000"/>
            </a:lvl2pPr>
            <a:lvl3pPr marL="914377" indent="0">
              <a:buNone/>
              <a:defRPr sz="18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62262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8D136E6C-234F-435E-AC6C-6FEBC505F25E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034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9B9C496F-7EFD-455E-9659-C4FFDAA84BAD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09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5" y="2193929"/>
            <a:ext cx="5157787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5" y="1489075"/>
            <a:ext cx="5157787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9"/>
            <a:ext cx="5156200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74638"/>
            <a:ext cx="10515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B99EDFF0-94FD-480E-980E-2BF147D6B136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901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91BA36DE-C76B-4F26-8957-586541D20FED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0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2E057CBB-CF6E-4EB6-AA15-D50D89112518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54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40988CDA-34AF-44F9-89AB-B770DA060EF3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5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24907E6B-CCE9-4025-87C8-C136A07045BE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09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E71803AC-4302-462A-A761-DBF948DAE714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94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EB8620FF-548A-47EA-9B96-0FB6691D6889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506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NUL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NUL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6" y="-8"/>
            <a:ext cx="12188968" cy="6858008"/>
            <a:chOff x="-2744" y="-7"/>
            <a:chExt cx="12188968" cy="6858008"/>
          </a:xfrm>
        </p:grpSpPr>
        <p:sp>
          <p:nvSpPr>
            <p:cNvPr id="26" name="Rectangle 25"/>
            <p:cNvSpPr/>
            <p:nvPr/>
          </p:nvSpPr>
          <p:spPr>
            <a:xfrm>
              <a:off x="-2728" y="1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-2744" y="-7"/>
              <a:ext cx="695245" cy="6858008"/>
              <a:chOff x="-2744" y="-7"/>
              <a:chExt cx="695245" cy="6858008"/>
            </a:xfrm>
          </p:grpSpPr>
          <p:grpSp>
            <p:nvGrpSpPr>
              <p:cNvPr id="40" name="Group 39"/>
              <p:cNvGrpSpPr/>
              <p:nvPr/>
            </p:nvGrpSpPr>
            <p:grpSpPr>
              <a:xfrm>
                <a:off x="-2744" y="-7"/>
                <a:ext cx="250941" cy="6858000"/>
                <a:chOff x="6048440" y="-936483"/>
                <a:chExt cx="86381" cy="9144001"/>
              </a:xfrm>
            </p:grpSpPr>
            <p:sp>
              <p:nvSpPr>
                <p:cNvPr id="46" name="Rectangle 45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5159055"/>
                  <a:ext cx="84749" cy="3048463"/>
                </a:xfrm>
                <a:prstGeom prst="rect">
                  <a:avLst/>
                </a:prstGeom>
                <a:solidFill>
                  <a:schemeClr val="accent6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" name="Rectangle 46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2110592"/>
                  <a:ext cx="86374" cy="3048463"/>
                </a:xfrm>
                <a:prstGeom prst="rect">
                  <a:avLst/>
                </a:prstGeom>
                <a:solidFill>
                  <a:schemeClr val="accent4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" name="Rectangle 47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-936483"/>
                  <a:ext cx="86381" cy="304846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" name="Group 40"/>
              <p:cNvGrpSpPr/>
              <p:nvPr/>
            </p:nvGrpSpPr>
            <p:grpSpPr>
              <a:xfrm>
                <a:off x="243467" y="1"/>
                <a:ext cx="152414" cy="6858000"/>
                <a:chOff x="5618826" y="-936473"/>
                <a:chExt cx="203006" cy="9144001"/>
              </a:xfrm>
            </p:grpSpPr>
            <p:sp>
              <p:nvSpPr>
                <p:cNvPr id="43" name="Rectangle 42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5618826" y="5159065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vl="0" algn="ctr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" name="Rectangle 43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5625115" y="1975127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" name="Rectangle 44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5625115" y="-936473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2" name="Rectangle 41"/>
              <p:cNvSpPr/>
              <p:nvPr/>
            </p:nvSpPr>
            <p:spPr>
              <a:xfrm>
                <a:off x="646782" y="-5"/>
                <a:ext cx="45719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800" dirty="0"/>
              </a:p>
            </p:txBody>
          </p:sp>
        </p:grpSp>
      </p:grpSp>
      <p:sp>
        <p:nvSpPr>
          <p:cNvPr id="3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AEAA3718-7C2D-458A-A1A9-56AC4B4CE856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3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22CDAF2-62E3-452E-AE4B-18D25B5E0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90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377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7BE83-0936-4694-A68A-8E6274C2D948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147647-4BC1-4C31-A04B-2F248BADF5FF}"/>
              </a:ext>
            </a:extLst>
          </p:cNvPr>
          <p:cNvSpPr txBox="1">
            <a:spLocks/>
          </p:cNvSpPr>
          <p:nvPr userDrawn="1"/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43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1" y="-7"/>
            <a:ext cx="12188963" cy="6858007"/>
            <a:chOff x="-2739" y="-6"/>
            <a:chExt cx="12188963" cy="6858007"/>
          </a:xfrm>
        </p:grpSpPr>
        <p:sp>
          <p:nvSpPr>
            <p:cNvPr id="26" name="Rectangle 25"/>
            <p:cNvSpPr/>
            <p:nvPr/>
          </p:nvSpPr>
          <p:spPr>
            <a:xfrm>
              <a:off x="-2728" y="1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-2739" y="-6"/>
              <a:ext cx="695240" cy="6858001"/>
              <a:chOff x="-2739" y="-6"/>
              <a:chExt cx="695240" cy="6858001"/>
            </a:xfrm>
          </p:grpSpPr>
          <p:grpSp>
            <p:nvGrpSpPr>
              <p:cNvPr id="40" name="Group 39"/>
              <p:cNvGrpSpPr/>
              <p:nvPr/>
            </p:nvGrpSpPr>
            <p:grpSpPr>
              <a:xfrm>
                <a:off x="-2739" y="-6"/>
                <a:ext cx="271779" cy="6858000"/>
                <a:chOff x="6048440" y="-936482"/>
                <a:chExt cx="93554" cy="9144001"/>
              </a:xfrm>
            </p:grpSpPr>
            <p:sp>
              <p:nvSpPr>
                <p:cNvPr id="46" name="Rectangle 45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5159056"/>
                  <a:ext cx="91928" cy="3048463"/>
                </a:xfrm>
                <a:prstGeom prst="rect">
                  <a:avLst/>
                </a:prstGeom>
                <a:solidFill>
                  <a:schemeClr val="accent6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" name="Rectangle 46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2110593"/>
                  <a:ext cx="91928" cy="3048463"/>
                </a:xfrm>
                <a:prstGeom prst="rect">
                  <a:avLst/>
                </a:prstGeom>
                <a:solidFill>
                  <a:schemeClr val="accent4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" name="Rectangle 47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-936482"/>
                  <a:ext cx="93554" cy="304846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" name="Group 40"/>
              <p:cNvGrpSpPr/>
              <p:nvPr/>
            </p:nvGrpSpPr>
            <p:grpSpPr>
              <a:xfrm>
                <a:off x="261967" y="1"/>
                <a:ext cx="158713" cy="6856933"/>
                <a:chOff x="5643470" y="-936473"/>
                <a:chExt cx="211396" cy="9142578"/>
              </a:xfrm>
            </p:grpSpPr>
            <p:sp>
              <p:nvSpPr>
                <p:cNvPr id="43" name="Rectangle 42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5643470" y="5157642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vl="0" algn="ctr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" name="Rectangle 43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5658149" y="2110585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" name="Rectangle 44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5646629" y="-936473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2" name="Rectangle 41"/>
              <p:cNvSpPr/>
              <p:nvPr/>
            </p:nvSpPr>
            <p:spPr>
              <a:xfrm>
                <a:off x="646782" y="-5"/>
                <a:ext cx="45719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800" dirty="0"/>
              </a:p>
            </p:txBody>
          </p:sp>
        </p:grpSp>
      </p:grpSp>
      <p:sp>
        <p:nvSpPr>
          <p:cNvPr id="3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BFC74F3D-D754-4866-A578-45F3E116C363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3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95D0B3CD-CEE8-4399-AE00-4233944E0F24}"/>
              </a:ext>
            </a:extLst>
          </p:cNvPr>
          <p:cNvSpPr txBox="1">
            <a:spLocks/>
          </p:cNvSpPr>
          <p:nvPr userDrawn="1"/>
        </p:nvSpPr>
        <p:spPr>
          <a:xfrm>
            <a:off x="-197530" y="6309249"/>
            <a:ext cx="5126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871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377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 txBox="1">
            <a:spLocks/>
          </p:cNvSpPr>
          <p:nvPr/>
        </p:nvSpPr>
        <p:spPr>
          <a:xfrm>
            <a:off x="733256" y="5234190"/>
            <a:ext cx="9144000" cy="1183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00" b="1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847941" y="4372677"/>
            <a:ext cx="10701566" cy="1143000"/>
          </a:xfrm>
        </p:spPr>
        <p:txBody>
          <a:bodyPr>
            <a:noAutofit/>
          </a:bodyPr>
          <a:lstStyle/>
          <a:p>
            <a:endParaRPr lang="en-US" sz="3200" cap="none" dirty="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</a:endParaRPr>
          </a:p>
          <a:p>
            <a:r>
              <a:rPr lang="en-US" sz="2000" cap="none" dirty="0">
                <a:solidFill>
                  <a:srgbClr val="002060"/>
                </a:solidFill>
                <a:latin typeface="Arial Narrow" panose="020B0606020202030204" pitchFamily="34" charset="0"/>
              </a:rPr>
              <a:t>By </a:t>
            </a:r>
            <a:r>
              <a:rPr lang="en-US" sz="2000" cap="none" dirty="0" smtClean="0">
                <a:solidFill>
                  <a:srgbClr val="002060"/>
                </a:solidFill>
                <a:latin typeface="Arial Narrow" panose="020B0606020202030204" pitchFamily="34" charset="0"/>
              </a:rPr>
              <a:t>Binyam Tekalign</a:t>
            </a:r>
            <a:endParaRPr lang="en-US" sz="1600" cap="none" dirty="0">
              <a:solidFill>
                <a:srgbClr val="002060"/>
              </a:solidFill>
              <a:latin typeface="Arial Narrow" panose="020B0606020202030204" pitchFamily="34" charset="0"/>
            </a:endParaRPr>
          </a:p>
          <a:p>
            <a:endParaRPr lang="en-US" sz="1600" cap="none" dirty="0">
              <a:latin typeface="Arial Narrow" panose="020B0606020202030204" pitchFamily="34" charset="0"/>
            </a:endParaRPr>
          </a:p>
          <a:p>
            <a:pPr algn="ctr"/>
            <a:fld id="{9C2CC0C4-D4A0-4E11-BDF5-84F5ED1C715B}" type="datetime4">
              <a:rPr lang="en-US" sz="1600" cap="none" smtClean="0">
                <a:solidFill>
                  <a:srgbClr val="002060"/>
                </a:solidFill>
                <a:latin typeface="Arial Narrow" panose="020B0606020202030204" pitchFamily="34" charset="0"/>
              </a:rPr>
              <a:t>May 10, 2026</a:t>
            </a:fld>
            <a:endParaRPr lang="en-US" sz="1600" cap="none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E8BB73-8DBF-6780-3CB5-D26A13A52AD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469518" y="66254"/>
            <a:ext cx="3435617" cy="2139471"/>
          </a:xfrm>
          <a:prstGeom prst="rect">
            <a:avLst/>
          </a:prstGeom>
        </p:spPr>
      </p:pic>
      <p:sp>
        <p:nvSpPr>
          <p:cNvPr id="18" name="Circle: Hollow 17">
            <a:extLst>
              <a:ext uri="{FF2B5EF4-FFF2-40B4-BE49-F238E27FC236}">
                <a16:creationId xmlns:a16="http://schemas.microsoft.com/office/drawing/2014/main" id="{633F8239-C13A-78C1-40F1-FA4F06698E1A}"/>
              </a:ext>
            </a:extLst>
          </p:cNvPr>
          <p:cNvSpPr/>
          <p:nvPr/>
        </p:nvSpPr>
        <p:spPr>
          <a:xfrm>
            <a:off x="-99846" y="2964425"/>
            <a:ext cx="2931533" cy="3333135"/>
          </a:xfrm>
          <a:prstGeom prst="donut">
            <a:avLst>
              <a:gd name="adj" fmla="val 37614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D4202DD-A89C-E667-DCFA-9BF0692F4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33" y="3115621"/>
            <a:ext cx="2632015" cy="3038772"/>
          </a:xfrm>
          <a:prstGeom prst="ellipse">
            <a:avLst/>
          </a:prstGeom>
        </p:spPr>
      </p:pic>
      <p:sp>
        <p:nvSpPr>
          <p:cNvPr id="9" name="Half Frame 8">
            <a:extLst>
              <a:ext uri="{FF2B5EF4-FFF2-40B4-BE49-F238E27FC236}">
                <a16:creationId xmlns:a16="http://schemas.microsoft.com/office/drawing/2014/main" id="{D0F305D3-027F-9E46-9283-CE69353B198E}"/>
              </a:ext>
            </a:extLst>
          </p:cNvPr>
          <p:cNvSpPr/>
          <p:nvPr/>
        </p:nvSpPr>
        <p:spPr>
          <a:xfrm>
            <a:off x="-129342" y="-119979"/>
            <a:ext cx="914400" cy="914400"/>
          </a:xfrm>
          <a:prstGeom prst="halfFram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Half Frame 12">
            <a:extLst>
              <a:ext uri="{FF2B5EF4-FFF2-40B4-BE49-F238E27FC236}">
                <a16:creationId xmlns:a16="http://schemas.microsoft.com/office/drawing/2014/main" id="{8A890EA5-70D8-5D53-6449-29F85476A3E3}"/>
              </a:ext>
            </a:extLst>
          </p:cNvPr>
          <p:cNvSpPr/>
          <p:nvPr/>
        </p:nvSpPr>
        <p:spPr>
          <a:xfrm rot="16200000">
            <a:off x="-125515" y="5991556"/>
            <a:ext cx="914400" cy="914400"/>
          </a:xfrm>
          <a:prstGeom prst="halfFram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42F24-E520-DD15-B7D5-1582DF95BF8A}"/>
              </a:ext>
            </a:extLst>
          </p:cNvPr>
          <p:cNvSpPr txBox="1">
            <a:spLocks/>
          </p:cNvSpPr>
          <p:nvPr/>
        </p:nvSpPr>
        <p:spPr>
          <a:xfrm>
            <a:off x="2396359" y="2097157"/>
            <a:ext cx="7977351" cy="1593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</a:rPr>
              <a:t>DEBRE BERHAN UNIVERSTITY</a:t>
            </a: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</a:rPr>
              <a:t>College of Computing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200077-90C2-FF61-724D-B07F693F1459}"/>
              </a:ext>
            </a:extLst>
          </p:cNvPr>
          <p:cNvSpPr txBox="1">
            <a:spLocks/>
          </p:cNvSpPr>
          <p:nvPr/>
        </p:nvSpPr>
        <p:spPr>
          <a:xfrm>
            <a:off x="2667548" y="3462782"/>
            <a:ext cx="9322419" cy="1088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650" b="1" dirty="0">
                <a:solidFill>
                  <a:srgbClr val="3366FF"/>
                </a:solidFill>
              </a:rPr>
              <a:t>Chapter 5: </a:t>
            </a:r>
            <a:r>
              <a:rPr lang="en-US" sz="2650" b="1" dirty="0" smtClean="0">
                <a:solidFill>
                  <a:srgbClr val="3366FF"/>
                </a:solidFill>
              </a:rPr>
              <a:t>Database Programming</a:t>
            </a:r>
          </a:p>
          <a:p>
            <a:pPr algn="ctr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Modern Desktop Development Using API and EF Core (Code-First)</a:t>
            </a:r>
            <a:endParaRPr lang="en-US" sz="2400" b="1" dirty="0">
              <a:solidFill>
                <a:srgbClr val="33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98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C687F8E-2161-93C3-3D98-F6FEB32B36C8}"/>
              </a:ext>
            </a:extLst>
          </p:cNvPr>
          <p:cNvGrpSpPr/>
          <p:nvPr/>
        </p:nvGrpSpPr>
        <p:grpSpPr>
          <a:xfrm>
            <a:off x="237841" y="-8392"/>
            <a:ext cx="11954159" cy="356570"/>
            <a:chOff x="237841" y="-17357"/>
            <a:chExt cx="12006707" cy="35657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43A258D-E8F0-3435-9A0E-8424CF960521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D836890-9299-1315-FBFC-F1F7598D1D74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562320A-B0D7-D8A8-AA00-1869EF392EDA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Title 2">
            <a:extLst>
              <a:ext uri="{FF2B5EF4-FFF2-40B4-BE49-F238E27FC236}">
                <a16:creationId xmlns:a16="http://schemas.microsoft.com/office/drawing/2014/main" id="{172049C1-00C2-414F-8CE8-6FC79E78D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92" y="483995"/>
            <a:ext cx="7355998" cy="714475"/>
          </a:xfrm>
        </p:spPr>
        <p:txBody>
          <a:bodyPr>
            <a:normAutofit/>
          </a:bodyPr>
          <a:lstStyle/>
          <a:p>
            <a:r>
              <a:rPr lang="en-US" sz="3200" dirty="0" smtClean="0"/>
              <a:t>Outline</a:t>
            </a:r>
            <a:endParaRPr lang="en-US" sz="3200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03D3AE5-7C70-A7D7-2E76-FB565DFC44B3}"/>
              </a:ext>
            </a:extLst>
          </p:cNvPr>
          <p:cNvGrpSpPr/>
          <p:nvPr/>
        </p:nvGrpSpPr>
        <p:grpSpPr>
          <a:xfrm>
            <a:off x="6665843" y="342228"/>
            <a:ext cx="5445812" cy="6311241"/>
            <a:chOff x="5984096" y="407004"/>
            <a:chExt cx="6121386" cy="645099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5ED4868-024A-2D0A-316E-E6E88B1E9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68" t="3081" b="2607"/>
            <a:stretch>
              <a:fillRect/>
            </a:stretch>
          </p:blipFill>
          <p:spPr>
            <a:xfrm>
              <a:off x="5984096" y="407004"/>
              <a:ext cx="6111761" cy="6450996"/>
            </a:xfrm>
            <a:prstGeom prst="rect">
              <a:avLst/>
            </a:prstGeom>
          </p:spPr>
        </p:pic>
        <p:sp>
          <p:nvSpPr>
            <p:cNvPr id="11" name="TextBox 1">
              <a:extLst>
                <a:ext uri="{FF2B5EF4-FFF2-40B4-BE49-F238E27FC236}">
                  <a16:creationId xmlns:a16="http://schemas.microsoft.com/office/drawing/2014/main" id="{6E2BFC38-DB5D-C82C-24B0-70CED257DC8E}"/>
                </a:ext>
              </a:extLst>
            </p:cNvPr>
            <p:cNvSpPr txBox="1"/>
            <p:nvPr/>
          </p:nvSpPr>
          <p:spPr>
            <a:xfrm>
              <a:off x="10048774" y="2180925"/>
              <a:ext cx="1482291" cy="619125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a:endParaRPr>
            </a:p>
          </p:txBody>
        </p: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A8655CC8-75B3-F161-9497-CD2EF1C53EDC}"/>
                </a:ext>
              </a:extLst>
            </p:cNvPr>
            <p:cNvSpPr txBox="1"/>
            <p:nvPr/>
          </p:nvSpPr>
          <p:spPr>
            <a:xfrm>
              <a:off x="10289408" y="3767638"/>
              <a:ext cx="1816074" cy="619125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a:endParaRPr>
            </a:p>
          </p:txBody>
        </p:sp>
        <p:pic>
          <p:nvPicPr>
            <p:cNvPr id="13" name="Graphic 11" descr="Checkmark with solid fill">
              <a:extLst>
                <a:ext uri="{FF2B5EF4-FFF2-40B4-BE49-F238E27FC236}">
                  <a16:creationId xmlns:a16="http://schemas.microsoft.com/office/drawing/2014/main" id="{4607FFA0-C2B0-0F11-7D17-43252C36B2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10539665" y="1130229"/>
              <a:ext cx="797292" cy="797292"/>
            </a:xfrm>
            <a:prstGeom prst="rect">
              <a:avLst/>
            </a:prstGeom>
          </p:spPr>
        </p:pic>
        <p:pic>
          <p:nvPicPr>
            <p:cNvPr id="14" name="Graphic 12" descr="Checkmark with solid fill">
              <a:extLst>
                <a:ext uri="{FF2B5EF4-FFF2-40B4-BE49-F238E27FC236}">
                  <a16:creationId xmlns:a16="http://schemas.microsoft.com/office/drawing/2014/main" id="{152E7237-C07D-49D7-DEC3-0DEC1E386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11182315" y="2800050"/>
              <a:ext cx="797292" cy="797292"/>
            </a:xfrm>
            <a:prstGeom prst="rect">
              <a:avLst/>
            </a:prstGeom>
          </p:spPr>
        </p:pic>
      </p:grp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B18B4451-2D9D-49A1-BCEA-8E701A61B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472" y="1049785"/>
            <a:ext cx="6264371" cy="5739501"/>
          </a:xfrm>
        </p:spPr>
        <p:txBody>
          <a:bodyPr>
            <a:normAutofit fontScale="70000" lnSpcReduction="20000"/>
          </a:bodyPr>
          <a:lstStyle/>
          <a:p>
            <a:pPr lvl="0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Three-Tier Architecture 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and benefits </a:t>
            </a:r>
            <a:r>
              <a:rPr lang="en-US" alt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Layer 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 </a:t>
            </a:r>
          </a:p>
          <a:p>
            <a:pPr lvl="0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Implementation 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 Core (Code First</a:t>
            </a:r>
            <a:r>
              <a:rPr lang="en-US" alt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DbContext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Business/API Layer Implementation 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and </a:t>
            </a:r>
            <a:r>
              <a:rPr lang="en-US" alt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Interfaces, DTOs 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Validation 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 (User, Product, Sell</a:t>
            </a:r>
            <a:r>
              <a:rPr lang="en-US" alt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Migrations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Program.cs</a:t>
            </a:r>
            <a:r>
              <a:rPr lang="en-US" alt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appsettings.json</a:t>
            </a:r>
            <a:r>
              <a:rPr lang="en-US" alt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Controllers 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Dependency </a:t>
            </a:r>
            <a:r>
              <a:rPr lang="en-US" alt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Desktop Application to API 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HttpClient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usage, JSON serialization, and UI 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</a:t>
            </a:r>
          </a:p>
        </p:txBody>
      </p:sp>
    </p:spTree>
    <p:extLst>
      <p:ext uri="{BB962C8B-B14F-4D97-AF65-F5344CB8AC3E}">
        <p14:creationId xmlns:p14="http://schemas.microsoft.com/office/powerpoint/2010/main" val="229445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What is Three-Tier Architecture?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software architecture that separates an application into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logical layers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</a:p>
          <a:p>
            <a:pPr lvl="1">
              <a:lnSpc>
                <a:spcPct val="150000"/>
              </a:lnSpc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WinForms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App, Web App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Business/API Layer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logic + API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Desktop App → Business/API → Data Layer → Database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46212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Three-Tier Architecture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simple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directly accesses database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separation of concerns 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</a:t>
            </a:r>
          </a:p>
          <a:p>
            <a:pPr lvl="1"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scale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concerns 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Easier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Reusability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41025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Evolution of Architecture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1-Tier: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Everything in one place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2-Tier: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↔ Database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3-Tier: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↔ Business/API ↔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 –Tier: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→ Shopping App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→ Order Processing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→ Product Database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2507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Responsibilities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Business/API Layer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rules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requests 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Exposing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</a:p>
          <a:p>
            <a:pPr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communication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6582770" y="1306114"/>
            <a:ext cx="3953302" cy="1585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Validate user login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 product stock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Calculate totals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12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Our Project in This Chapter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build: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Password 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/ Update / Delete / View 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Selling Module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Sell Product 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 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5360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Next Steeps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existing solution (Desktop App already exists)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projects: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Business/API Layer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project references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required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NuGet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base structure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6739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Add Data Layer Project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Right-click Solution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→ New Project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(.NET)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MyApp.Data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8459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Add Business/API Layer Project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Right-click Solution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→ New Project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ASP.NET Core Web API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MyApp.BusinessApi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8239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Setup Project References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References: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BusinessApi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Desktop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BusinessApi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Right-click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BusinessAPI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Add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Reference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Right-click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Desktop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→ Add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BusinessAPI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rule</a:t>
            </a:r>
          </a:p>
          <a:p>
            <a:pPr lvl="1">
              <a:lnSpc>
                <a:spcPct val="150000"/>
              </a:lnSpc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Never add reference of data to desktop.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8567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Install </a:t>
            </a:r>
            <a:r>
              <a:rPr lang="en-US" dirty="0" err="1"/>
              <a:t>NuGet</a:t>
            </a:r>
            <a:r>
              <a:rPr lang="en-US" dirty="0"/>
              <a:t> Packages (Data Layer)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MyApp.Data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Microsoft.EntityFrameworkCore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 Core → ORM 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Microsoft.EntityFrameworkCore.SqlServer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SqlServer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Database provide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Microsoft.EntityFrameworkCore.Tools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→ Migration support </a:t>
            </a:r>
          </a:p>
          <a:p>
            <a:pPr lvl="2">
              <a:lnSpc>
                <a:spcPct val="150000"/>
              </a:lnSpc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5818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Install Packages (Business/API Layer)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MyApp.BusinessApi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Microsoft.Extensions.DependencyInjection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Microsoft.EntityFrameworkCore.SqlServer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API can use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DbContext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SQL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Microsoft.EntityFrameworkCore.Design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Microsoft.AspNetCore.Identity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PasswordHasher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Hashing &amp; verifying passwords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Swashbuckle.AspNetCore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(auto-added)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Swagger UI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testing API visually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4922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Create Folder Structure (Data Layer)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MyApp.Data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Entities/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Database models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Context/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DbContext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(optional later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5453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Create Folder Structure (Business Layer)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Inside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MyApp.BusinessApi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Services/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Business logic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Contracts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DTOs/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Data transfer objects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Helpers/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Utilities (hashing, etc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.)</a:t>
            </a:r>
          </a:p>
          <a:p>
            <a:pPr lvl="1">
              <a:lnSpc>
                <a:spcPct val="150000"/>
              </a:lnSpc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build after setup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5268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Naming Conventions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PascalCase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classes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Singular for entities: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naming: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IUserService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6572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What is Data Layer?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layer responsible for: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Communicating with database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CRUD operations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data models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25905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Responsibilities of Data Layer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(Models)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DbContext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access logic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29382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What is Entity Framework Core?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 Core = ORM (Object Relational Mapper)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objects → Database tables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 → SQL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First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models in C# → EF creates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DbContext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Migration →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Opposite is Database First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68564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Our Database Design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create: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SellProduct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1476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Create User Entity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public class User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Id { get; set; </a:t>
            </a:r>
            <a:r>
              <a:rPr lang="en-US" dirty="0" smtClean="0"/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public string Username { get; set; }</a:t>
            </a:r>
            <a:br>
              <a:rPr lang="en-US" dirty="0"/>
            </a:br>
            <a:r>
              <a:rPr lang="en-US" dirty="0"/>
              <a:t>    public string </a:t>
            </a:r>
            <a:r>
              <a:rPr lang="en-US" dirty="0" err="1"/>
              <a:t>PasswordHash</a:t>
            </a:r>
            <a:r>
              <a:rPr lang="en-US" dirty="0"/>
              <a:t> { get; set; </a:t>
            </a:r>
            <a:r>
              <a:rPr lang="en-US" dirty="0" smtClean="0"/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public </a:t>
            </a:r>
            <a:r>
              <a:rPr lang="en-US" dirty="0" err="1"/>
              <a:t>DateTime</a:t>
            </a:r>
            <a:r>
              <a:rPr lang="en-US" dirty="0"/>
              <a:t> </a:t>
            </a:r>
            <a:r>
              <a:rPr lang="en-US" dirty="0" err="1"/>
              <a:t>CreatedAt</a:t>
            </a:r>
            <a:r>
              <a:rPr lang="en-US" dirty="0"/>
              <a:t> { get; set; }</a:t>
            </a:r>
            <a:br>
              <a:rPr lang="en-US" dirty="0"/>
            </a:br>
            <a:r>
              <a:rPr lang="en-US" dirty="0" smtClean="0"/>
              <a:t>}</a:t>
            </a:r>
          </a:p>
          <a:p>
            <a:pPr lvl="0"/>
            <a:r>
              <a:rPr lang="en-US" dirty="0"/>
              <a:t>Do NOT store plain password </a:t>
            </a:r>
          </a:p>
          <a:p>
            <a:pPr lvl="0"/>
            <a:r>
              <a:rPr lang="en-US" dirty="0"/>
              <a:t>Use </a:t>
            </a:r>
            <a:r>
              <a:rPr lang="en-US" dirty="0" err="1"/>
              <a:t>PasswordHash</a:t>
            </a:r>
            <a:r>
              <a:rPr lang="en-US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901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Create Product Entity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public class Product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Id { get; set; </a:t>
            </a:r>
            <a:r>
              <a:rPr lang="en-US" dirty="0" smtClean="0"/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public string Name { get; set; }</a:t>
            </a:r>
            <a:br>
              <a:rPr lang="en-US" dirty="0"/>
            </a:br>
            <a:r>
              <a:rPr lang="en-US" dirty="0"/>
              <a:t>    public decimal Price { get; set; }</a:t>
            </a:r>
            <a:br>
              <a:rPr lang="en-US" dirty="0"/>
            </a:b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Quantity { get; set; }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8815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Create </a:t>
            </a:r>
            <a:r>
              <a:rPr lang="en-US" dirty="0" err="1"/>
              <a:t>SellProduct</a:t>
            </a:r>
            <a:r>
              <a:rPr lang="en-US" dirty="0"/>
              <a:t> Entity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SellProduct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{ get; set;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Product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Quantity { get; set; 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SoldAt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Product → Many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One-to-Many relationship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67299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Create </a:t>
            </a:r>
            <a:r>
              <a:rPr lang="en-US" dirty="0" err="1"/>
              <a:t>AppDbContext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using </a:t>
            </a:r>
            <a:r>
              <a:rPr lang="en-US" dirty="0" err="1"/>
              <a:t>Microsoft.EntityFrameworkCore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public class </a:t>
            </a:r>
            <a:r>
              <a:rPr lang="en-US" dirty="0" err="1"/>
              <a:t>AppDbContext</a:t>
            </a:r>
            <a:r>
              <a:rPr lang="en-US" dirty="0"/>
              <a:t> : </a:t>
            </a:r>
            <a:r>
              <a:rPr lang="en-US" dirty="0" err="1"/>
              <a:t>DbContext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public </a:t>
            </a:r>
            <a:r>
              <a:rPr lang="en-US" dirty="0" err="1"/>
              <a:t>DbSet</a:t>
            </a:r>
            <a:r>
              <a:rPr lang="en-US" dirty="0"/>
              <a:t>&lt;User&gt; Users { get; set; }</a:t>
            </a:r>
            <a:br>
              <a:rPr lang="en-US" dirty="0"/>
            </a:br>
            <a:r>
              <a:rPr lang="en-US" dirty="0"/>
              <a:t>    public </a:t>
            </a:r>
            <a:r>
              <a:rPr lang="en-US" dirty="0" err="1"/>
              <a:t>DbSet</a:t>
            </a:r>
            <a:r>
              <a:rPr lang="en-US" dirty="0"/>
              <a:t>&lt;Product&gt; Products { get; set; }</a:t>
            </a:r>
            <a:br>
              <a:rPr lang="en-US" dirty="0"/>
            </a:br>
            <a:r>
              <a:rPr lang="en-US" dirty="0"/>
              <a:t>    public </a:t>
            </a:r>
            <a:r>
              <a:rPr lang="en-US" dirty="0" err="1"/>
              <a:t>DbSet</a:t>
            </a:r>
            <a:r>
              <a:rPr lang="en-US" dirty="0"/>
              <a:t>&lt;</a:t>
            </a:r>
            <a:r>
              <a:rPr lang="en-US" dirty="0" err="1"/>
              <a:t>SellProduct</a:t>
            </a:r>
            <a:r>
              <a:rPr lang="en-US" dirty="0"/>
              <a:t>&gt; </a:t>
            </a:r>
            <a:r>
              <a:rPr lang="en-US" dirty="0" err="1"/>
              <a:t>SellProducts</a:t>
            </a:r>
            <a:r>
              <a:rPr lang="en-US" dirty="0"/>
              <a:t> { get; set; }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public </a:t>
            </a:r>
            <a:r>
              <a:rPr lang="en-US" dirty="0" err="1"/>
              <a:t>AppDbContext</a:t>
            </a:r>
            <a:r>
              <a:rPr lang="en-US" dirty="0"/>
              <a:t>(</a:t>
            </a:r>
            <a:r>
              <a:rPr lang="en-US" dirty="0" err="1"/>
              <a:t>DbContextOptions</a:t>
            </a:r>
            <a:r>
              <a:rPr lang="en-US" dirty="0"/>
              <a:t>&lt;</a:t>
            </a:r>
            <a:r>
              <a:rPr lang="en-US" dirty="0" err="1"/>
              <a:t>AppDbContext</a:t>
            </a:r>
            <a:r>
              <a:rPr lang="en-US" dirty="0"/>
              <a:t>&gt; options)</a:t>
            </a:r>
            <a:br>
              <a:rPr lang="en-US" dirty="0"/>
            </a:br>
            <a:r>
              <a:rPr lang="en-US" dirty="0"/>
              <a:t>        : base(options)</a:t>
            </a:r>
            <a:br>
              <a:rPr lang="en-US" dirty="0"/>
            </a:br>
            <a:r>
              <a:rPr lang="en-US" dirty="0"/>
              <a:t>    {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7113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What is </a:t>
            </a:r>
            <a:r>
              <a:rPr lang="en-US" dirty="0" err="1"/>
              <a:t>DbContext</a:t>
            </a:r>
            <a:r>
              <a:rPr lang="en-US" dirty="0"/>
              <a:t>?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class for EF Core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Manages: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connection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changes</a:t>
            </a:r>
            <a:endParaRPr lang="en-US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6108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Data Annotations vs Fluent API in EF </a:t>
            </a:r>
            <a:r>
              <a:rPr lang="en-US" dirty="0" smtClean="0"/>
              <a:t>Core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Models and Database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ways to configure EF Core models </a:t>
            </a:r>
          </a:p>
          <a:p>
            <a:pPr lvl="0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are widely used in real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configuration 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50000"/>
              </a:lnSpc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50000"/>
              </a:lnSpc>
              <a:spcAft>
                <a:spcPct val="0"/>
              </a:spcAft>
            </a:pP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50000"/>
              </a:lnSpc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50000"/>
              </a:lnSpc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Fluent API overrides annotations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076920"/>
              </p:ext>
            </p:extLst>
          </p:nvPr>
        </p:nvGraphicFramePr>
        <p:xfrm>
          <a:off x="2901186" y="4147783"/>
          <a:ext cx="812799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08791216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9192732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83596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Annotations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Fluent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997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Inside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3936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Simplicity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flexible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7837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Powerful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72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314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Required Field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5662788" cy="5488738"/>
          </a:xfrm>
        </p:spPr>
        <p:txBody>
          <a:bodyPr>
            <a:normAutofit fontScale="92500" lnSpcReduction="20000"/>
          </a:bodyPr>
          <a:lstStyle/>
          <a:p>
            <a:pPr fontAlgn="base"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Annotation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[Required]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string Name {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set;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MaxLength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(100)]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string Name { get; set;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[Column(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"decimal(18,2)")]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decimal Price { get; set;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EmailAddress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string Email { get; set;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[Range(1, 100)]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Quantity { get; set;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StringLength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(50,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MinimumLength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5)]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string Username { get; set; }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 txBox="1">
            <a:spLocks/>
          </p:cNvSpPr>
          <p:nvPr/>
        </p:nvSpPr>
        <p:spPr>
          <a:xfrm>
            <a:off x="6493565" y="1170479"/>
            <a:ext cx="5499652" cy="5488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10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Fluent API</a:t>
            </a:r>
          </a:p>
          <a:p>
            <a:pPr lvl="1"/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modelBuilder.Entity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&lt;Product&gt;()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.Property(p =&gt;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p.Name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IsRequired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modelBuilder.Entity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&lt;Product&gt;()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.Property(p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HasMaxLength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modelBuilder.Entity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&lt;Product&gt;()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.Property(p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p.Price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HasColumnType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("decimal(18,2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)");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directly supported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→ use business logic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modelBuilder.Entity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&lt;User&gt;()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.Property(u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HasMaxLength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(50);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71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Required Field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5662788" cy="5488738"/>
          </a:xfrm>
        </p:spPr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</a:p>
          <a:p>
            <a:pPr lvl="1" fontAlgn="base"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[Key]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{ get; set; }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 txBox="1">
            <a:spLocks/>
          </p:cNvSpPr>
          <p:nvPr/>
        </p:nvSpPr>
        <p:spPr>
          <a:xfrm>
            <a:off x="6493565" y="1170479"/>
            <a:ext cx="5499652" cy="5488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10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Fluent API</a:t>
            </a: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modelBuilder.Entity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&lt;User&gt;()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HasKey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u.Id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modelBuilder.Entity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&lt;User&gt;()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.Property(u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u.CreatedAt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HasDefaultValueSql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("GETDATE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()");</a:t>
            </a: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modelBuilder.Entity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&lt;User&gt;()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HasIndex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IsUnique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20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Data </a:t>
            </a:r>
            <a:r>
              <a:rPr lang="en-US" dirty="0" smtClean="0"/>
              <a:t>Annotations Example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public class Product</a:t>
            </a:r>
            <a:br>
              <a:rPr lang="en-US" sz="2000" dirty="0"/>
            </a:br>
            <a:r>
              <a:rPr lang="en-US" sz="2000" dirty="0"/>
              <a:t>{</a:t>
            </a:r>
            <a:br>
              <a:rPr lang="en-US" sz="2000" dirty="0"/>
            </a:br>
            <a:r>
              <a:rPr lang="en-US" sz="2000" dirty="0" smtClean="0"/>
              <a:t>	public </a:t>
            </a:r>
            <a:r>
              <a:rPr lang="en-US" sz="2000" dirty="0" err="1" smtClean="0"/>
              <a:t>int</a:t>
            </a:r>
            <a:r>
              <a:rPr lang="en-US" sz="2000" dirty="0" smtClean="0"/>
              <a:t> Id { get; set; }</a:t>
            </a:r>
            <a:br>
              <a:rPr lang="en-US" sz="2000" dirty="0" smtClean="0"/>
            </a:br>
            <a:r>
              <a:rPr lang="en-US" sz="2000" dirty="0" smtClean="0"/>
              <a:t>	[Required]</a:t>
            </a:r>
            <a:br>
              <a:rPr lang="en-US" sz="2000" dirty="0" smtClean="0"/>
            </a:br>
            <a:r>
              <a:rPr lang="en-US" sz="2000" dirty="0" smtClean="0"/>
              <a:t>	[</a:t>
            </a:r>
            <a:r>
              <a:rPr lang="en-US" sz="2000" dirty="0" err="1" smtClean="0"/>
              <a:t>MaxLength</a:t>
            </a:r>
            <a:r>
              <a:rPr lang="en-US" sz="2000" dirty="0" smtClean="0"/>
              <a:t>(100)]</a:t>
            </a:r>
            <a:br>
              <a:rPr lang="en-US" sz="2000" dirty="0" smtClean="0"/>
            </a:br>
            <a:r>
              <a:rPr lang="en-US" sz="2000" dirty="0" smtClean="0"/>
              <a:t>	public string Name { get; set; }</a:t>
            </a:r>
            <a:br>
              <a:rPr lang="en-US" sz="2000" dirty="0" smtClean="0"/>
            </a:br>
            <a:r>
              <a:rPr lang="en-US" sz="2000" dirty="0" smtClean="0"/>
              <a:t>	[Range(1, 10000)]</a:t>
            </a:r>
            <a:br>
              <a:rPr lang="en-US" sz="2000" dirty="0" smtClean="0"/>
            </a:br>
            <a:r>
              <a:rPr lang="en-US" sz="2000" dirty="0" smtClean="0"/>
              <a:t>	public </a:t>
            </a:r>
            <a:r>
              <a:rPr lang="en-US" sz="2000" dirty="0" err="1" smtClean="0"/>
              <a:t>int</a:t>
            </a:r>
            <a:r>
              <a:rPr lang="en-US" sz="2000" dirty="0" smtClean="0"/>
              <a:t> Quantity { get; set; }</a:t>
            </a:r>
            <a:br>
              <a:rPr lang="en-US" sz="2000" dirty="0" smtClean="0"/>
            </a:br>
            <a:r>
              <a:rPr lang="en-US" sz="2000" dirty="0" smtClean="0"/>
              <a:t>	[Column(</a:t>
            </a:r>
            <a:r>
              <a:rPr lang="en-US" sz="2000" dirty="0" err="1" smtClean="0"/>
              <a:t>TypeName</a:t>
            </a:r>
            <a:r>
              <a:rPr lang="en-US" sz="2000" dirty="0" smtClean="0"/>
              <a:t> = "decimal(18,2)")]</a:t>
            </a:r>
            <a:br>
              <a:rPr lang="en-US" sz="2000" dirty="0" smtClean="0"/>
            </a:br>
            <a:r>
              <a:rPr lang="en-US" sz="2000" dirty="0" smtClean="0"/>
              <a:t>	public decimal Price { get; set; }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}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48350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Fluent API Full Example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protected override void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OnModelCreating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ModelBuilder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modelBuilder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modelBuilder.Entity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&lt;Product&gt;(entity =&gt;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entity.Property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 =&gt;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p.Name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.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IsRequired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.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HasMaxLength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entity.Property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 =&gt;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p.Price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.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HasColumnType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("decimal(18,2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)");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entity.HasIndex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 =&gt;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p.Name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.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IsUnique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7737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i="1" dirty="0"/>
              <a:t>Business/API Layer Implementation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input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business rules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with Data Layer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structured data (DTOs)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55314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Create DTOs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DTO = Data Transfer Object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DTOs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UserRegisterDto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string Username { get; set; 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string Password { get; set; 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UserLoginDto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string Username { get; set; 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string Password { get; set; 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6285725" y="2826312"/>
            <a:ext cx="5587828" cy="3307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 DTO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ProductDto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string Name { get; set; }</a:t>
            </a:r>
            <a:b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decimal Price { get; set; }</a:t>
            </a:r>
            <a:b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Quantity { get; set; }</a:t>
            </a:r>
            <a:b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97411" y="1060790"/>
            <a:ext cx="37632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exposure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sending full entity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security </a:t>
            </a:r>
          </a:p>
        </p:txBody>
      </p:sp>
    </p:spTree>
    <p:extLst>
      <p:ext uri="{BB962C8B-B14F-4D97-AF65-F5344CB8AC3E}">
        <p14:creationId xmlns:p14="http://schemas.microsoft.com/office/powerpoint/2010/main" val="126458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Interfaces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Enforcing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Contracts: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guarantees that any class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have specific, publicly accessible members. </a:t>
            </a:r>
          </a:p>
          <a:p>
            <a:pPr lvl="0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Achieving Abstraction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developers to hide implementation specifics from the client code. 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Inheritance of Behavior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does not support multiple inheritance of classes, but a class can implement multiple interfaces. 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Facilitating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and Dependency Injection (DI)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essential for the Dependency Injection design pattern. 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5725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Create Interfaces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public interface </a:t>
            </a:r>
            <a:r>
              <a:rPr lang="en-US" dirty="0" err="1"/>
              <a:t>IProductService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 smtClean="0"/>
              <a:t>Task&lt;</a:t>
            </a:r>
            <a:r>
              <a:rPr lang="en-US" dirty="0" err="1" smtClean="0"/>
              <a:t>ActionResult</a:t>
            </a:r>
            <a:r>
              <a:rPr lang="en-US" dirty="0" smtClean="0"/>
              <a:t>&lt;</a:t>
            </a:r>
            <a:r>
              <a:rPr lang="en-US" dirty="0" err="1" smtClean="0"/>
              <a:t>IEnumerable</a:t>
            </a:r>
            <a:r>
              <a:rPr lang="en-US" dirty="0" smtClean="0"/>
              <a:t>&lt;</a:t>
            </a:r>
            <a:r>
              <a:rPr lang="en-US" dirty="0" err="1" smtClean="0"/>
              <a:t>ProductDto</a:t>
            </a:r>
            <a:r>
              <a:rPr lang="en-US" dirty="0"/>
              <a:t>&gt;&gt;&gt;  </a:t>
            </a:r>
            <a:r>
              <a:rPr lang="en-US" dirty="0" smtClean="0"/>
              <a:t>  </a:t>
            </a:r>
            <a:r>
              <a:rPr lang="en-US" dirty="0" err="1" smtClean="0"/>
              <a:t>AddProduct</a:t>
            </a:r>
            <a:r>
              <a:rPr lang="en-US" dirty="0" smtClean="0"/>
              <a:t>(</a:t>
            </a:r>
            <a:r>
              <a:rPr lang="en-US" dirty="0" err="1" smtClean="0"/>
              <a:t>ProductDto</a:t>
            </a:r>
            <a:r>
              <a:rPr lang="en-US" dirty="0" smtClean="0"/>
              <a:t> </a:t>
            </a:r>
            <a:r>
              <a:rPr lang="en-US" dirty="0" err="1"/>
              <a:t>dto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Task&lt;</a:t>
            </a:r>
            <a:r>
              <a:rPr lang="en-US" dirty="0" err="1"/>
              <a:t>ActionResult</a:t>
            </a:r>
            <a:r>
              <a:rPr lang="en-US" dirty="0"/>
              <a:t>&lt;</a:t>
            </a:r>
            <a:r>
              <a:rPr lang="en-US" dirty="0" err="1"/>
              <a:t>IEnumerable</a:t>
            </a:r>
            <a:r>
              <a:rPr lang="en-US" dirty="0"/>
              <a:t>&lt;</a:t>
            </a:r>
            <a:r>
              <a:rPr lang="en-US" dirty="0" err="1"/>
              <a:t>ProductDto</a:t>
            </a:r>
            <a:r>
              <a:rPr lang="en-US" dirty="0"/>
              <a:t>&gt;&gt;&gt; </a:t>
            </a:r>
            <a:r>
              <a:rPr lang="en-US" dirty="0" err="1"/>
              <a:t>GetAll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Task&lt;</a:t>
            </a:r>
            <a:r>
              <a:rPr lang="en-US" dirty="0" err="1"/>
              <a:t>ActionResult</a:t>
            </a:r>
            <a:r>
              <a:rPr lang="en-US" dirty="0"/>
              <a:t>&lt;</a:t>
            </a:r>
            <a:r>
              <a:rPr lang="en-US" dirty="0" err="1"/>
              <a:t>ProductDto</a:t>
            </a:r>
            <a:r>
              <a:rPr lang="en-US" dirty="0"/>
              <a:t>&gt;&gt; </a:t>
            </a:r>
            <a:r>
              <a:rPr lang="en-US" dirty="0" err="1"/>
              <a:t>UpdateProduct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id, </a:t>
            </a:r>
            <a:r>
              <a:rPr lang="en-US" dirty="0" err="1"/>
              <a:t>ProductDto</a:t>
            </a:r>
            <a:r>
              <a:rPr lang="en-US" dirty="0"/>
              <a:t> </a:t>
            </a:r>
            <a:r>
              <a:rPr lang="en-US" dirty="0" err="1"/>
              <a:t>dto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Task&lt;</a:t>
            </a:r>
            <a:r>
              <a:rPr lang="en-US" dirty="0" err="1"/>
              <a:t>ActionResult</a:t>
            </a:r>
            <a:r>
              <a:rPr lang="en-US" dirty="0"/>
              <a:t>&lt;</a:t>
            </a:r>
            <a:r>
              <a:rPr lang="en-US" dirty="0" err="1"/>
              <a:t>IEnumerable</a:t>
            </a:r>
            <a:r>
              <a:rPr lang="en-US" dirty="0"/>
              <a:t>&lt;</a:t>
            </a:r>
            <a:r>
              <a:rPr lang="en-US" dirty="0" err="1"/>
              <a:t>ProductDto</a:t>
            </a:r>
            <a:r>
              <a:rPr lang="en-US" dirty="0"/>
              <a:t>&gt;&gt;&gt; </a:t>
            </a:r>
            <a:r>
              <a:rPr lang="en-US" dirty="0" err="1"/>
              <a:t>DeleteProduct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id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1710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Create Interfaces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interface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IUserService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Register(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UserRegisterDto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 Login(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UserLoginDto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ChangePassword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oldPassword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newPassword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GetById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List&lt;User&gt;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GetAll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Delete(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id);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01314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Create Interfaces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public interface </a:t>
            </a:r>
            <a:r>
              <a:rPr lang="en-US" sz="2400" dirty="0" err="1"/>
              <a:t>ISellProductService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{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void </a:t>
            </a:r>
            <a:r>
              <a:rPr lang="en-US" sz="2400" dirty="0" err="1"/>
              <a:t>SellProduct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productId</a:t>
            </a:r>
            <a:r>
              <a:rPr lang="en-US" sz="2400" dirty="0"/>
              <a:t>, </a:t>
            </a:r>
            <a:r>
              <a:rPr lang="en-US" sz="2400" dirty="0" err="1"/>
              <a:t>int</a:t>
            </a:r>
            <a:r>
              <a:rPr lang="en-US" sz="2400" dirty="0"/>
              <a:t> quantity</a:t>
            </a:r>
            <a:r>
              <a:rPr lang="en-US" sz="2400" dirty="0" smtClean="0"/>
              <a:t>);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List&lt;</a:t>
            </a:r>
            <a:r>
              <a:rPr lang="en-US" sz="2400" dirty="0" err="1"/>
              <a:t>SellProduct</a:t>
            </a:r>
            <a:r>
              <a:rPr lang="en-US" sz="2400" dirty="0"/>
              <a:t>&gt; </a:t>
            </a:r>
            <a:r>
              <a:rPr lang="en-US" sz="2400" dirty="0" err="1"/>
              <a:t>GetAllSales</a:t>
            </a:r>
            <a:r>
              <a:rPr lang="en-US" sz="2400" dirty="0" smtClean="0"/>
              <a:t>();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List&lt;</a:t>
            </a:r>
            <a:r>
              <a:rPr lang="en-US" sz="2400" dirty="0" err="1"/>
              <a:t>SellProduct</a:t>
            </a:r>
            <a:r>
              <a:rPr lang="en-US" sz="2400" dirty="0"/>
              <a:t>&gt; </a:t>
            </a:r>
            <a:r>
              <a:rPr lang="en-US" sz="2400" dirty="0" err="1"/>
              <a:t>GetSalesByProduct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productId</a:t>
            </a:r>
            <a:r>
              <a:rPr lang="en-US" sz="2400" dirty="0" smtClean="0"/>
              <a:t>);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List&lt;</a:t>
            </a:r>
            <a:r>
              <a:rPr lang="en-US" sz="2400" dirty="0" err="1"/>
              <a:t>SalesReportDto</a:t>
            </a:r>
            <a:r>
              <a:rPr lang="en-US" sz="2400" dirty="0"/>
              <a:t>&gt; </a:t>
            </a:r>
            <a:r>
              <a:rPr lang="en-US" sz="2400" dirty="0" err="1"/>
              <a:t>GetSalesReport</a:t>
            </a:r>
            <a:r>
              <a:rPr lang="en-US" sz="2400" dirty="0" smtClean="0"/>
              <a:t>();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List&lt;</a:t>
            </a:r>
            <a:r>
              <a:rPr lang="en-US" sz="2400" dirty="0" err="1"/>
              <a:t>SellProduct</a:t>
            </a:r>
            <a:r>
              <a:rPr lang="en-US" sz="2400" dirty="0"/>
              <a:t>&gt; </a:t>
            </a:r>
            <a:r>
              <a:rPr lang="en-US" sz="2400" dirty="0" err="1"/>
              <a:t>GetSalesByDate</a:t>
            </a:r>
            <a:r>
              <a:rPr lang="en-US" sz="2400" dirty="0"/>
              <a:t>(</a:t>
            </a:r>
            <a:r>
              <a:rPr lang="en-US" sz="2400" dirty="0" err="1"/>
              <a:t>DateTime</a:t>
            </a:r>
            <a:r>
              <a:rPr lang="en-US" sz="2400" dirty="0"/>
              <a:t> start, </a:t>
            </a:r>
            <a:r>
              <a:rPr lang="en-US" sz="2400" dirty="0" err="1"/>
              <a:t>DateTime</a:t>
            </a:r>
            <a:r>
              <a:rPr lang="en-US" sz="2400" dirty="0"/>
              <a:t> end);</a:t>
            </a:r>
            <a:br>
              <a:rPr lang="en-US" sz="2400" dirty="0"/>
            </a:br>
            <a:r>
              <a:rPr lang="en-US" sz="2400" dirty="0"/>
              <a:t>}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48459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Implement Services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Create:</a:t>
            </a:r>
          </a:p>
          <a:p>
            <a:pPr lvl="1"/>
            <a:r>
              <a:rPr lang="en-US" dirty="0" err="1" smtClean="0"/>
              <a:t>UserService.cs</a:t>
            </a:r>
            <a:endParaRPr lang="en-US" dirty="0"/>
          </a:p>
          <a:p>
            <a:pPr lvl="1"/>
            <a:r>
              <a:rPr lang="en-US" dirty="0" err="1" smtClean="0"/>
              <a:t>ProductService.cs</a:t>
            </a:r>
            <a:endParaRPr lang="en-US" dirty="0" smtClean="0"/>
          </a:p>
          <a:p>
            <a:pPr lvl="1"/>
            <a:r>
              <a:rPr lang="en-US" dirty="0" err="1" smtClean="0"/>
              <a:t>SellProductService.cs</a:t>
            </a:r>
            <a:endParaRPr lang="en-US" b="1" dirty="0" smtClean="0"/>
          </a:p>
          <a:p>
            <a:r>
              <a:rPr lang="en-US" b="1" dirty="0" smtClean="0"/>
              <a:t>Inject </a:t>
            </a:r>
            <a:r>
              <a:rPr lang="en-US" b="1" dirty="0" err="1" smtClean="0"/>
              <a:t>DbContext</a:t>
            </a:r>
            <a:endParaRPr lang="en-US" b="1" dirty="0" smtClean="0"/>
          </a:p>
          <a:p>
            <a:r>
              <a:rPr lang="en-US" dirty="0" smtClean="0"/>
              <a:t>private </a:t>
            </a:r>
            <a:r>
              <a:rPr lang="en-US" dirty="0" err="1"/>
              <a:t>readonly</a:t>
            </a:r>
            <a:r>
              <a:rPr lang="en-US" dirty="0"/>
              <a:t> </a:t>
            </a:r>
            <a:r>
              <a:rPr lang="en-US" dirty="0" err="1"/>
              <a:t>AppDbContext</a:t>
            </a:r>
            <a:r>
              <a:rPr lang="en-US" dirty="0"/>
              <a:t> _context</a:t>
            </a:r>
            <a:r>
              <a:rPr lang="en-US" dirty="0" smtClean="0"/>
              <a:t>;</a:t>
            </a:r>
          </a:p>
          <a:p>
            <a:r>
              <a:rPr lang="en-US" dirty="0"/>
              <a:t>private </a:t>
            </a:r>
            <a:r>
              <a:rPr lang="en-US" dirty="0" err="1"/>
              <a:t>readonly</a:t>
            </a:r>
            <a:r>
              <a:rPr lang="en-US" dirty="0"/>
              <a:t> </a:t>
            </a:r>
            <a:r>
              <a:rPr lang="en-US" dirty="0" err="1"/>
              <a:t>IPasswordHasher</a:t>
            </a:r>
            <a:r>
              <a:rPr lang="en-US" dirty="0"/>
              <a:t>&lt;User&gt; _</a:t>
            </a:r>
            <a:r>
              <a:rPr lang="en-US" dirty="0" err="1"/>
              <a:t>passwordHasher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public </a:t>
            </a:r>
            <a:r>
              <a:rPr lang="en-US" dirty="0" err="1"/>
              <a:t>UserService</a:t>
            </a:r>
            <a:r>
              <a:rPr lang="en-US" dirty="0"/>
              <a:t>(</a:t>
            </a:r>
            <a:r>
              <a:rPr lang="en-US" dirty="0" err="1"/>
              <a:t>AppDbContext</a:t>
            </a:r>
            <a:r>
              <a:rPr lang="en-US" dirty="0"/>
              <a:t> </a:t>
            </a:r>
            <a:r>
              <a:rPr lang="en-US" dirty="0" smtClean="0"/>
              <a:t>context</a:t>
            </a:r>
            <a:r>
              <a:rPr lang="en-US" dirty="0"/>
              <a:t>, </a:t>
            </a:r>
            <a:r>
              <a:rPr lang="en-US" dirty="0" err="1"/>
              <a:t>IPasswordHasher</a:t>
            </a:r>
            <a:r>
              <a:rPr lang="en-US" dirty="0"/>
              <a:t>&lt;User&gt; </a:t>
            </a:r>
            <a:r>
              <a:rPr lang="en-US" dirty="0" err="1"/>
              <a:t>passwordHasher</a:t>
            </a:r>
            <a:r>
              <a:rPr lang="en-US" dirty="0" smtClean="0"/>
              <a:t>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_context = context;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26034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What is Dependency Injection (DI)?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Technique to provide dependencies </a:t>
            </a:r>
          </a:p>
          <a:p>
            <a:r>
              <a:rPr lang="en-US" dirty="0"/>
              <a:t>Improves flexibility and testability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301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What is </a:t>
            </a:r>
            <a:r>
              <a:rPr lang="en-US" dirty="0" err="1"/>
              <a:t>appsettings.json</a:t>
            </a:r>
            <a:r>
              <a:rPr lang="en-US" dirty="0"/>
              <a:t>?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file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strings 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settings 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 keys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2902226" y="1445928"/>
            <a:ext cx="962107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"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ConnectionStrings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": {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"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DefaultConnection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": 	"Server=.;Database=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MyAppDb;Trusted_Connection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=True;"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"</a:t>
            </a:r>
            <a:r>
              <a:rPr lang="en-US" sz="2400" dirty="0" err="1"/>
              <a:t>ConnectionStrings</a:t>
            </a:r>
            <a:r>
              <a:rPr lang="en-US" sz="2400" dirty="0"/>
              <a:t>": {</a:t>
            </a:r>
          </a:p>
          <a:p>
            <a:r>
              <a:rPr lang="en-US" sz="2400" dirty="0"/>
              <a:t>  "</a:t>
            </a:r>
            <a:r>
              <a:rPr lang="en-US" sz="2400" dirty="0" err="1"/>
              <a:t>DefaultConnection</a:t>
            </a:r>
            <a:r>
              <a:rPr lang="en-US" sz="2400" dirty="0"/>
              <a:t>": "Server=.;Database=</a:t>
            </a:r>
            <a:r>
              <a:rPr lang="en-US" sz="2400" dirty="0" err="1"/>
              <a:t>TestDb;User</a:t>
            </a:r>
            <a:r>
              <a:rPr lang="en-US" sz="2400" dirty="0"/>
              <a:t> Id=</a:t>
            </a:r>
            <a:r>
              <a:rPr lang="en-US" sz="2400" dirty="0" err="1"/>
              <a:t>sa;Password</a:t>
            </a:r>
            <a:r>
              <a:rPr lang="en-US" sz="2400" dirty="0"/>
              <a:t>=12345678;MultipleActiveResultSets=true</a:t>
            </a:r>
            <a:r>
              <a:rPr lang="en-US" sz="2400" dirty="0" smtClean="0"/>
              <a:t>;</a:t>
            </a:r>
          </a:p>
          <a:p>
            <a:r>
              <a:rPr lang="en-US" sz="2400" dirty="0" err="1" smtClean="0"/>
              <a:t>TrustServerCertificate</a:t>
            </a:r>
            <a:r>
              <a:rPr lang="en-US" sz="2400" dirty="0" smtClean="0"/>
              <a:t>=True</a:t>
            </a:r>
            <a:r>
              <a:rPr lang="en-US" sz="2400" dirty="0"/>
              <a:t>"</a:t>
            </a:r>
          </a:p>
          <a:p>
            <a:r>
              <a:rPr lang="en-US" sz="2400" dirty="0"/>
              <a:t>},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59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What is </a:t>
            </a:r>
            <a:r>
              <a:rPr lang="en-US" dirty="0" err="1"/>
              <a:t>Program.cs</a:t>
            </a:r>
            <a:r>
              <a:rPr lang="en-US" dirty="0"/>
              <a:t>?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point of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file executed when API starts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Configures services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application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middleware pipeline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1291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Basic Structure of </a:t>
            </a:r>
            <a:r>
              <a:rPr lang="en-US" dirty="0" err="1"/>
              <a:t>Program.cs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 err="1"/>
              <a:t>var</a:t>
            </a:r>
            <a:r>
              <a:rPr lang="en-US" sz="2000" dirty="0"/>
              <a:t> builder = </a:t>
            </a:r>
            <a:r>
              <a:rPr lang="en-US" sz="2000" dirty="0" err="1"/>
              <a:t>WebApplication.CreateBuilder</a:t>
            </a:r>
            <a:r>
              <a:rPr lang="en-US" sz="2000" dirty="0"/>
              <a:t>(</a:t>
            </a:r>
            <a:r>
              <a:rPr lang="en-US" sz="2000" dirty="0" err="1"/>
              <a:t>args</a:t>
            </a:r>
            <a:r>
              <a:rPr lang="en-US" sz="2000" dirty="0"/>
              <a:t>);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// Configure services</a:t>
            </a:r>
            <a:br>
              <a:rPr lang="en-US" sz="2000" dirty="0"/>
            </a:br>
            <a:r>
              <a:rPr lang="en-US" sz="2000" dirty="0" smtClean="0"/>
              <a:t>//e.g.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 err="1"/>
              <a:t>builder.Services.AddControllers</a:t>
            </a:r>
            <a:r>
              <a:rPr lang="en-US" sz="2000" dirty="0" smtClean="0"/>
              <a:t>();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//Enables controller support</a:t>
            </a:r>
            <a:br>
              <a:rPr lang="en-US" sz="2000" dirty="0"/>
            </a:br>
            <a:r>
              <a:rPr lang="en-US" sz="2000" dirty="0" err="1"/>
              <a:t>var</a:t>
            </a:r>
            <a:r>
              <a:rPr lang="en-US" sz="2000" dirty="0"/>
              <a:t> app = </a:t>
            </a:r>
            <a:r>
              <a:rPr lang="en-US" sz="2000" dirty="0" err="1"/>
              <a:t>builder.Build</a:t>
            </a:r>
            <a:r>
              <a:rPr lang="en-US" sz="2000" dirty="0"/>
              <a:t>();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// Configure middleware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err="1"/>
              <a:t>app.Run</a:t>
            </a:r>
            <a:r>
              <a:rPr lang="en-US" sz="2000" dirty="0"/>
              <a:t>();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97707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Register </a:t>
            </a:r>
            <a:r>
              <a:rPr lang="en-US" dirty="0" err="1"/>
              <a:t>DbContext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builder.Services.AddDbContext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AppDbContext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&gt;(options =&gt;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options.UseSqlServer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builder.Configuration.GetConnectionString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DefaultConnection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")));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app to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Business Services (DI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builder.Services.AddScoped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IUserService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&gt;();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builder.Services.AddScoped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IProductService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&gt;();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connects interface → implementation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9006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What is </a:t>
            </a:r>
            <a:r>
              <a:rPr lang="en-US" dirty="0" err="1"/>
              <a:t>AddScoped</a:t>
            </a:r>
            <a:r>
              <a:rPr lang="en-US" dirty="0"/>
              <a:t>?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instance per request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lifetimes: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AddSingleton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one instance 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AddTransient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new instance each time</a:t>
            </a: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8058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Enable Swagger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builder.Services.AddEndpointsApiExplorer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builder.Services.AddSwaggerGen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Notes:</a:t>
            </a:r>
          </a:p>
          <a:p>
            <a:pPr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API testing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4926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Middleware Pipeline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=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builder.Build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app.UseHttpsRedirection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app.UseAuthorization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app.MapControllers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Middleware are Components that handle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Flow:Request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Middleware → Controller → Response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5198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Complete </a:t>
            </a:r>
            <a:r>
              <a:rPr lang="en-US" dirty="0" err="1"/>
              <a:t>Program.cs</a:t>
            </a:r>
            <a:r>
              <a:rPr lang="en-US" dirty="0"/>
              <a:t> </a:t>
            </a:r>
            <a:r>
              <a:rPr lang="en-US" dirty="0" smtClean="0"/>
              <a:t>Example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builder =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WebApplication.CreateBuilder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builder.Services.AddControllers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builder.Services.AddDbContext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AppDbContext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&gt;(options =&gt;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options.UseSqlServer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builder.Configuration.GetConnectionString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DefaultConnection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")));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builder.Services.AddScoped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IPasswordHasher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&lt;User&gt;,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PasswordHasher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&lt;User&gt;&gt;();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builder.Services.AddScoped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IUserService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&gt;();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builder.Services.AddEndpointsApiExplorer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builder.Services.AddSwaggerGen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=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builder.Build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app.UseHttpsRedirection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app.UseAuthorization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app.MapControllers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app.Run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6650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User Registration Logic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public </a:t>
            </a:r>
            <a:r>
              <a:rPr lang="en-US" dirty="0" err="1"/>
              <a:t>async</a:t>
            </a:r>
            <a:r>
              <a:rPr lang="en-US" dirty="0"/>
              <a:t> Task&lt;</a:t>
            </a:r>
            <a:r>
              <a:rPr lang="en-US" dirty="0" err="1"/>
              <a:t>AuthResponse</a:t>
            </a:r>
            <a:r>
              <a:rPr lang="en-US" dirty="0"/>
              <a:t>&gt; Register(</a:t>
            </a:r>
            <a:r>
              <a:rPr lang="en-US" dirty="0" err="1"/>
              <a:t>UserRegisterDto</a:t>
            </a:r>
            <a:r>
              <a:rPr lang="en-US" dirty="0"/>
              <a:t> </a:t>
            </a:r>
            <a:r>
              <a:rPr lang="en-US" dirty="0" err="1"/>
              <a:t>dto</a:t>
            </a:r>
            <a:r>
              <a:rPr lang="en-US" dirty="0"/>
              <a:t>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{ if (await _</a:t>
            </a:r>
            <a:r>
              <a:rPr lang="en-US" dirty="0" err="1"/>
              <a:t>context.Users.AnyAsync</a:t>
            </a:r>
            <a:r>
              <a:rPr lang="en-US" dirty="0"/>
              <a:t>(u =&gt; </a:t>
            </a:r>
            <a:r>
              <a:rPr lang="en-US" dirty="0" err="1"/>
              <a:t>u.Username</a:t>
            </a:r>
            <a:r>
              <a:rPr lang="en-US" dirty="0"/>
              <a:t> == </a:t>
            </a:r>
            <a:r>
              <a:rPr lang="en-US" dirty="0" err="1"/>
              <a:t>dto.Username</a:t>
            </a:r>
            <a:r>
              <a:rPr lang="en-US" dirty="0"/>
              <a:t>))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        return new </a:t>
            </a:r>
            <a:r>
              <a:rPr lang="en-US" dirty="0" err="1"/>
              <a:t>AuthResponse</a:t>
            </a:r>
            <a:r>
              <a:rPr lang="en-US" dirty="0"/>
              <a:t> { </a:t>
            </a:r>
            <a:r>
              <a:rPr lang="en-US" dirty="0" err="1"/>
              <a:t>Seccess</a:t>
            </a:r>
            <a:r>
              <a:rPr lang="en-US" dirty="0"/>
              <a:t> = false, Message = "User exists" };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    </a:t>
            </a:r>
            <a:r>
              <a:rPr lang="en-US" dirty="0" err="1"/>
              <a:t>var</a:t>
            </a:r>
            <a:r>
              <a:rPr lang="en-US" dirty="0"/>
              <a:t> user = new User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    {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        Username = </a:t>
            </a:r>
            <a:r>
              <a:rPr lang="en-US" dirty="0" err="1"/>
              <a:t>dto.Username</a:t>
            </a:r>
            <a:r>
              <a:rPr lang="en-US" dirty="0"/>
              <a:t>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        </a:t>
            </a:r>
            <a:r>
              <a:rPr lang="en-US" dirty="0" err="1"/>
              <a:t>CreatedAt</a:t>
            </a:r>
            <a:r>
              <a:rPr lang="en-US" dirty="0"/>
              <a:t> = </a:t>
            </a:r>
            <a:r>
              <a:rPr lang="en-US" dirty="0" err="1"/>
              <a:t>DateTime.Now</a:t>
            </a:r>
            <a:r>
              <a:rPr lang="en-US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    };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    </a:t>
            </a:r>
            <a:r>
              <a:rPr lang="en-US" dirty="0" err="1"/>
              <a:t>user.PasswordHash</a:t>
            </a:r>
            <a:r>
              <a:rPr lang="en-US" dirty="0"/>
              <a:t> = _</a:t>
            </a:r>
            <a:r>
              <a:rPr lang="en-US" dirty="0" err="1"/>
              <a:t>passwordHasher.HashPassword</a:t>
            </a:r>
            <a:r>
              <a:rPr lang="en-US" dirty="0"/>
              <a:t>(user, </a:t>
            </a:r>
            <a:r>
              <a:rPr lang="en-US" dirty="0" err="1"/>
              <a:t>dto.Password</a:t>
            </a:r>
            <a:r>
              <a:rPr lang="en-US" dirty="0"/>
              <a:t>);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    _</a:t>
            </a:r>
            <a:r>
              <a:rPr lang="en-US" dirty="0" err="1"/>
              <a:t>context.Users.Add</a:t>
            </a:r>
            <a:r>
              <a:rPr lang="en-US" dirty="0"/>
              <a:t>(user);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    _</a:t>
            </a:r>
            <a:r>
              <a:rPr lang="en-US" dirty="0" err="1"/>
              <a:t>context.SaveChanges</a:t>
            </a:r>
            <a:r>
              <a:rPr lang="en-US" dirty="0"/>
              <a:t>();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    return new </a:t>
            </a:r>
            <a:r>
              <a:rPr lang="en-US" dirty="0" err="1"/>
              <a:t>AuthResponse</a:t>
            </a:r>
            <a:r>
              <a:rPr lang="en-US" dirty="0"/>
              <a:t> { </a:t>
            </a:r>
            <a:r>
              <a:rPr lang="en-US" dirty="0" err="1"/>
              <a:t>Seccess</a:t>
            </a:r>
            <a:r>
              <a:rPr lang="en-US" dirty="0"/>
              <a:t> = true, Message = "</a:t>
            </a:r>
            <a:r>
              <a:rPr lang="en-US" dirty="0" err="1"/>
              <a:t>Registred</a:t>
            </a:r>
            <a:r>
              <a:rPr lang="en-US" dirty="0"/>
              <a:t>" };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9775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Login Logic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Login(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UserLoginDto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= await _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context.Users.FirstOrDefaultAsync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 =&gt;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dto.Username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(user == null)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return new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false, Message = "Authentication failed" };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 = _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passwordHasher.VerifyHashedPassword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user.PasswordHash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dto.Password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(result ==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PasswordVerificationResult.Failed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return new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false, Message = "Authentication failed"};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else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return new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true, Message = "Authenticated" };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476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Product Service — Add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public </a:t>
            </a:r>
            <a:r>
              <a:rPr lang="en-US" dirty="0" err="1"/>
              <a:t>async</a:t>
            </a:r>
            <a:r>
              <a:rPr lang="en-US" dirty="0"/>
              <a:t> Task&lt;</a:t>
            </a:r>
            <a:r>
              <a:rPr lang="en-US" dirty="0" err="1"/>
              <a:t>ActionResult</a:t>
            </a:r>
            <a:r>
              <a:rPr lang="en-US" dirty="0"/>
              <a:t>&lt;</a:t>
            </a:r>
            <a:r>
              <a:rPr lang="en-US" dirty="0" err="1"/>
              <a:t>IEnumerable</a:t>
            </a:r>
            <a:r>
              <a:rPr lang="en-US" dirty="0"/>
              <a:t>&lt;</a:t>
            </a:r>
            <a:r>
              <a:rPr lang="en-US" dirty="0" err="1"/>
              <a:t>ProductDto</a:t>
            </a:r>
            <a:r>
              <a:rPr lang="en-US" dirty="0"/>
              <a:t>&gt;&gt;&gt; </a:t>
            </a:r>
            <a:r>
              <a:rPr lang="en-US" dirty="0" err="1"/>
              <a:t>AddProduct</a:t>
            </a:r>
            <a:r>
              <a:rPr lang="en-US" dirty="0"/>
              <a:t>(</a:t>
            </a:r>
            <a:r>
              <a:rPr lang="en-US" dirty="0" err="1"/>
              <a:t>ProductDto</a:t>
            </a:r>
            <a:r>
              <a:rPr lang="en-US" dirty="0"/>
              <a:t> </a:t>
            </a:r>
            <a:r>
              <a:rPr lang="en-US" dirty="0" err="1"/>
              <a:t>dto</a:t>
            </a:r>
            <a:r>
              <a:rPr lang="en-US" dirty="0"/>
              <a:t>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{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</a:t>
            </a:r>
            <a:r>
              <a:rPr lang="en-US" dirty="0" err="1"/>
              <a:t>var</a:t>
            </a:r>
            <a:r>
              <a:rPr lang="en-US" dirty="0"/>
              <a:t> product = new Product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{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Name = </a:t>
            </a:r>
            <a:r>
              <a:rPr lang="en-US" dirty="0" err="1"/>
              <a:t>dto.Name</a:t>
            </a:r>
            <a:r>
              <a:rPr lang="en-US" dirty="0"/>
              <a:t>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Price = </a:t>
            </a:r>
            <a:r>
              <a:rPr lang="en-US" dirty="0" err="1"/>
              <a:t>dto.Price</a:t>
            </a:r>
            <a:r>
              <a:rPr lang="en-US" dirty="0"/>
              <a:t>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Quantity = </a:t>
            </a:r>
            <a:r>
              <a:rPr lang="en-US" dirty="0" err="1"/>
              <a:t>dto.Quantity</a:t>
            </a:r>
            <a:r>
              <a:rPr lang="en-US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};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_</a:t>
            </a:r>
            <a:r>
              <a:rPr lang="en-US" dirty="0" err="1"/>
              <a:t>context.Products.Add</a:t>
            </a:r>
            <a:r>
              <a:rPr lang="en-US" dirty="0"/>
              <a:t>(product);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_</a:t>
            </a:r>
            <a:r>
              <a:rPr lang="en-US" dirty="0" err="1"/>
              <a:t>context.SaveChanges</a:t>
            </a:r>
            <a:r>
              <a:rPr lang="en-US" dirty="0"/>
              <a:t>();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return await </a:t>
            </a:r>
            <a:r>
              <a:rPr lang="en-US" dirty="0" err="1"/>
              <a:t>GetAll</a:t>
            </a:r>
            <a:r>
              <a:rPr lang="en-US" dirty="0"/>
              <a:t>();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}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8517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Get Products (LINQ)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public </a:t>
            </a:r>
            <a:r>
              <a:rPr lang="en-US" dirty="0" err="1"/>
              <a:t>async</a:t>
            </a:r>
            <a:r>
              <a:rPr lang="en-US" dirty="0"/>
              <a:t> Task&lt;</a:t>
            </a:r>
            <a:r>
              <a:rPr lang="en-US" dirty="0" err="1"/>
              <a:t>ActionResult</a:t>
            </a:r>
            <a:r>
              <a:rPr lang="en-US" dirty="0"/>
              <a:t>&lt;</a:t>
            </a:r>
            <a:r>
              <a:rPr lang="en-US" dirty="0" err="1"/>
              <a:t>IEnumerable</a:t>
            </a:r>
            <a:r>
              <a:rPr lang="en-US" dirty="0"/>
              <a:t>&lt;</a:t>
            </a:r>
            <a:r>
              <a:rPr lang="en-US" dirty="0" err="1"/>
              <a:t>ProductDto</a:t>
            </a:r>
            <a:r>
              <a:rPr lang="en-US" dirty="0"/>
              <a:t>&gt;&gt;&gt; </a:t>
            </a:r>
            <a:r>
              <a:rPr lang="en-US" dirty="0" err="1"/>
              <a:t>GetAll</a:t>
            </a:r>
            <a:r>
              <a:rPr lang="en-US" dirty="0"/>
              <a:t>()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List&lt;Product&gt; products = await _</a:t>
            </a:r>
            <a:r>
              <a:rPr lang="en-US" dirty="0" err="1"/>
              <a:t>context.Products.ToListAsync</a:t>
            </a:r>
            <a:r>
              <a:rPr lang="en-US" dirty="0"/>
              <a:t>();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List&lt;</a:t>
            </a:r>
            <a:r>
              <a:rPr lang="en-US" dirty="0" err="1"/>
              <a:t>ProductDto</a:t>
            </a:r>
            <a:r>
              <a:rPr lang="en-US" dirty="0"/>
              <a:t>&gt; </a:t>
            </a:r>
            <a:r>
              <a:rPr lang="en-US" dirty="0" err="1"/>
              <a:t>productDtos</a:t>
            </a:r>
            <a:r>
              <a:rPr lang="en-US" dirty="0"/>
              <a:t> = new List&lt;</a:t>
            </a:r>
            <a:r>
              <a:rPr lang="en-US" dirty="0" err="1"/>
              <a:t>ProductDto</a:t>
            </a:r>
            <a:r>
              <a:rPr lang="en-US" dirty="0"/>
              <a:t>&gt;();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</a:t>
            </a:r>
            <a:r>
              <a:rPr lang="en-US" dirty="0" err="1"/>
              <a:t>foreach</a:t>
            </a:r>
            <a:r>
              <a:rPr lang="en-US" dirty="0"/>
              <a:t> (Product </a:t>
            </a:r>
            <a:r>
              <a:rPr lang="en-US" dirty="0" err="1"/>
              <a:t>product</a:t>
            </a:r>
            <a:r>
              <a:rPr lang="en-US" dirty="0"/>
              <a:t> in products)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</a:t>
            </a:r>
            <a:r>
              <a:rPr lang="en-US" dirty="0" err="1"/>
              <a:t>ProductDto</a:t>
            </a:r>
            <a:r>
              <a:rPr lang="en-US" dirty="0"/>
              <a:t> </a:t>
            </a:r>
            <a:r>
              <a:rPr lang="en-US" dirty="0" err="1"/>
              <a:t>productDto</a:t>
            </a:r>
            <a:r>
              <a:rPr lang="en-US" dirty="0"/>
              <a:t> = new </a:t>
            </a:r>
            <a:r>
              <a:rPr lang="en-US" dirty="0" err="1"/>
              <a:t>ProductDto</a:t>
            </a:r>
            <a:r>
              <a:rPr lang="en-US" dirty="0"/>
              <a:t>();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</a:t>
            </a:r>
            <a:r>
              <a:rPr lang="en-US" dirty="0" err="1"/>
              <a:t>productDto.Name</a:t>
            </a:r>
            <a:r>
              <a:rPr lang="en-US" dirty="0"/>
              <a:t> = </a:t>
            </a:r>
            <a:r>
              <a:rPr lang="en-US" dirty="0" err="1"/>
              <a:t>product.Name</a:t>
            </a:r>
            <a:r>
              <a:rPr lang="en-US" dirty="0"/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</a:t>
            </a:r>
            <a:r>
              <a:rPr lang="en-US" dirty="0" err="1"/>
              <a:t>productDto.Price</a:t>
            </a:r>
            <a:r>
              <a:rPr lang="en-US" dirty="0"/>
              <a:t> = </a:t>
            </a:r>
            <a:r>
              <a:rPr lang="en-US" dirty="0" err="1"/>
              <a:t>product.Price</a:t>
            </a:r>
            <a:r>
              <a:rPr lang="en-US" dirty="0"/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</a:t>
            </a:r>
            <a:r>
              <a:rPr lang="en-US" dirty="0" err="1"/>
              <a:t>productDto.Quantity</a:t>
            </a:r>
            <a:r>
              <a:rPr lang="en-US" dirty="0"/>
              <a:t> = </a:t>
            </a:r>
            <a:r>
              <a:rPr lang="en-US" dirty="0" err="1"/>
              <a:t>product.Quantity</a:t>
            </a:r>
            <a:r>
              <a:rPr lang="en-US" dirty="0"/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</a:t>
            </a:r>
            <a:r>
              <a:rPr lang="en-US" dirty="0" err="1"/>
              <a:t>productDto.Id</a:t>
            </a:r>
            <a:r>
              <a:rPr lang="en-US" dirty="0"/>
              <a:t> = </a:t>
            </a:r>
            <a:r>
              <a:rPr lang="en-US" dirty="0" err="1"/>
              <a:t>product.Id</a:t>
            </a:r>
            <a:r>
              <a:rPr lang="en-US" dirty="0"/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</a:t>
            </a:r>
            <a:r>
              <a:rPr lang="en-US" dirty="0" err="1"/>
              <a:t>productDtos.Add</a:t>
            </a:r>
            <a:r>
              <a:rPr lang="en-US" dirty="0"/>
              <a:t>(</a:t>
            </a:r>
            <a:r>
              <a:rPr lang="en-US" dirty="0" err="1"/>
              <a:t>productDto</a:t>
            </a:r>
            <a:r>
              <a:rPr lang="en-US" dirty="0"/>
              <a:t>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}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return </a:t>
            </a:r>
            <a:r>
              <a:rPr lang="en-US" dirty="0" err="1"/>
              <a:t>productDtos</a:t>
            </a:r>
            <a:r>
              <a:rPr lang="en-US" dirty="0"/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}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196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Update Product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public </a:t>
            </a:r>
            <a:r>
              <a:rPr lang="en-US" dirty="0" err="1"/>
              <a:t>async</a:t>
            </a:r>
            <a:r>
              <a:rPr lang="en-US" dirty="0"/>
              <a:t> Task&lt;</a:t>
            </a:r>
            <a:r>
              <a:rPr lang="en-US" dirty="0" err="1"/>
              <a:t>ActionResult</a:t>
            </a:r>
            <a:r>
              <a:rPr lang="en-US" dirty="0"/>
              <a:t>&lt;</a:t>
            </a:r>
            <a:r>
              <a:rPr lang="en-US" dirty="0" err="1"/>
              <a:t>ProductDto</a:t>
            </a:r>
            <a:r>
              <a:rPr lang="en-US" dirty="0"/>
              <a:t>&gt;&gt; </a:t>
            </a:r>
            <a:r>
              <a:rPr lang="en-US" dirty="0" err="1"/>
              <a:t>UpdateProduct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id, </a:t>
            </a:r>
            <a:r>
              <a:rPr lang="en-US" dirty="0" err="1"/>
              <a:t>ProductDto</a:t>
            </a:r>
            <a:r>
              <a:rPr lang="en-US" dirty="0"/>
              <a:t> </a:t>
            </a:r>
            <a:r>
              <a:rPr lang="en-US" dirty="0" err="1"/>
              <a:t>dto</a:t>
            </a:r>
            <a:r>
              <a:rPr lang="en-US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</a:t>
            </a:r>
            <a:r>
              <a:rPr lang="en-US" dirty="0" err="1"/>
              <a:t>var</a:t>
            </a:r>
            <a:r>
              <a:rPr lang="en-US" dirty="0"/>
              <a:t> product = _</a:t>
            </a:r>
            <a:r>
              <a:rPr lang="en-US" dirty="0" err="1"/>
              <a:t>context.Products.Find</a:t>
            </a:r>
            <a:r>
              <a:rPr lang="en-US" dirty="0"/>
              <a:t>(id);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if (product == null)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throw new Exception("Not found");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</a:t>
            </a:r>
            <a:r>
              <a:rPr lang="en-US" dirty="0" err="1"/>
              <a:t>product.Name</a:t>
            </a:r>
            <a:r>
              <a:rPr lang="en-US" dirty="0"/>
              <a:t> = </a:t>
            </a:r>
            <a:r>
              <a:rPr lang="en-US" dirty="0" err="1"/>
              <a:t>dto.Name</a:t>
            </a:r>
            <a:r>
              <a:rPr lang="en-US" dirty="0"/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</a:t>
            </a:r>
            <a:r>
              <a:rPr lang="en-US" dirty="0" err="1"/>
              <a:t>product.Price</a:t>
            </a:r>
            <a:r>
              <a:rPr lang="en-US" dirty="0"/>
              <a:t> = </a:t>
            </a:r>
            <a:r>
              <a:rPr lang="en-US" dirty="0" err="1"/>
              <a:t>dto.Price</a:t>
            </a:r>
            <a:r>
              <a:rPr lang="en-US" dirty="0"/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</a:t>
            </a:r>
            <a:r>
              <a:rPr lang="en-US" dirty="0" err="1"/>
              <a:t>product.Quantity</a:t>
            </a:r>
            <a:r>
              <a:rPr lang="en-US" dirty="0"/>
              <a:t> = </a:t>
            </a:r>
            <a:r>
              <a:rPr lang="en-US" dirty="0" err="1"/>
              <a:t>dto.Quantity</a:t>
            </a:r>
            <a:r>
              <a:rPr lang="en-US" dirty="0"/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_</a:t>
            </a:r>
            <a:r>
              <a:rPr lang="en-US" dirty="0" err="1"/>
              <a:t>context.SaveChanges</a:t>
            </a:r>
            <a:r>
              <a:rPr lang="en-US" dirty="0"/>
              <a:t>();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return </a:t>
            </a:r>
            <a:r>
              <a:rPr lang="en-US" dirty="0" err="1"/>
              <a:t>dto</a:t>
            </a:r>
            <a:r>
              <a:rPr lang="en-US" dirty="0"/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}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1022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Delete Product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public </a:t>
            </a:r>
            <a:r>
              <a:rPr lang="en-US" dirty="0" err="1"/>
              <a:t>async</a:t>
            </a:r>
            <a:r>
              <a:rPr lang="en-US" dirty="0"/>
              <a:t> Task&lt;</a:t>
            </a:r>
            <a:r>
              <a:rPr lang="en-US" dirty="0" err="1"/>
              <a:t>ActionResult</a:t>
            </a:r>
            <a:r>
              <a:rPr lang="en-US" dirty="0"/>
              <a:t>&lt;</a:t>
            </a:r>
            <a:r>
              <a:rPr lang="en-US" dirty="0" err="1"/>
              <a:t>IEnumerable</a:t>
            </a:r>
            <a:r>
              <a:rPr lang="en-US" dirty="0"/>
              <a:t>&lt;</a:t>
            </a:r>
            <a:r>
              <a:rPr lang="en-US" dirty="0" err="1"/>
              <a:t>ProductDto</a:t>
            </a:r>
            <a:r>
              <a:rPr lang="en-US" dirty="0"/>
              <a:t>&gt;&gt;&gt; </a:t>
            </a:r>
            <a:r>
              <a:rPr lang="en-US" dirty="0" err="1"/>
              <a:t>DeleteProduct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id)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var</a:t>
            </a:r>
            <a:r>
              <a:rPr lang="en-US" dirty="0"/>
              <a:t> product = _</a:t>
            </a:r>
            <a:r>
              <a:rPr lang="en-US" dirty="0" err="1"/>
              <a:t>context.Products.Find</a:t>
            </a:r>
            <a:r>
              <a:rPr lang="en-US" dirty="0"/>
              <a:t>(id);</a:t>
            </a:r>
          </a:p>
          <a:p>
            <a:pPr marL="0" indent="0">
              <a:buNone/>
            </a:pPr>
            <a:r>
              <a:rPr lang="en-US" dirty="0"/>
              <a:t>    if (product != null)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_</a:t>
            </a:r>
            <a:r>
              <a:rPr lang="en-US" dirty="0" err="1"/>
              <a:t>context.Products.Remove</a:t>
            </a:r>
            <a:r>
              <a:rPr lang="en-US" dirty="0"/>
              <a:t>(product);</a:t>
            </a:r>
          </a:p>
          <a:p>
            <a:pPr marL="0" indent="0">
              <a:buNone/>
            </a:pPr>
            <a:r>
              <a:rPr lang="en-US" dirty="0"/>
              <a:t>        _</a:t>
            </a:r>
            <a:r>
              <a:rPr lang="en-US" dirty="0" err="1"/>
              <a:t>context.SaveChanges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return await </a:t>
            </a:r>
            <a:r>
              <a:rPr lang="en-US" dirty="0" err="1"/>
              <a:t>GetAll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await </a:t>
            </a:r>
            <a:r>
              <a:rPr lang="en-US" dirty="0" err="1"/>
              <a:t>GetAll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2616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Selling Logic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37230"/>
            <a:ext cx="11062447" cy="582077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void Sell(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quantity)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= _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context.Products.Find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product.Quantity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quantity)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throw new Exception("Insufficient stock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product.Quantity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-= quantity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 = new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SellProduct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Quantity = quantity,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SoldAt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DateTime.Now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_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context.SellProducts.Add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(sale);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_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context.SaveChanges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972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Report Using LINQ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err="1"/>
              <a:t>var</a:t>
            </a:r>
            <a:r>
              <a:rPr lang="en-US" dirty="0"/>
              <a:t> report = _</a:t>
            </a:r>
            <a:r>
              <a:rPr lang="en-US" dirty="0" err="1"/>
              <a:t>context.SellProducts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.</a:t>
            </a:r>
            <a:r>
              <a:rPr lang="en-US" dirty="0" err="1"/>
              <a:t>GroupBy</a:t>
            </a:r>
            <a:r>
              <a:rPr lang="en-US" dirty="0"/>
              <a:t>(s =&gt; </a:t>
            </a:r>
            <a:r>
              <a:rPr lang="en-US" dirty="0" err="1"/>
              <a:t>s.ProductId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.Select(g =&gt; new</a:t>
            </a:r>
            <a:br>
              <a:rPr lang="en-US" dirty="0"/>
            </a:br>
            <a:r>
              <a:rPr lang="en-US" dirty="0"/>
              <a:t>    {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ProductId</a:t>
            </a:r>
            <a:r>
              <a:rPr lang="en-US" dirty="0"/>
              <a:t> = </a:t>
            </a:r>
            <a:r>
              <a:rPr lang="en-US" dirty="0" err="1"/>
              <a:t>g.Key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TotalSold</a:t>
            </a:r>
            <a:r>
              <a:rPr lang="en-US" dirty="0"/>
              <a:t> = </a:t>
            </a:r>
            <a:r>
              <a:rPr lang="en-US" dirty="0" err="1"/>
              <a:t>g.Sum</a:t>
            </a:r>
            <a:r>
              <a:rPr lang="en-US" dirty="0"/>
              <a:t>(x =&gt; </a:t>
            </a:r>
            <a:r>
              <a:rPr lang="en-US" dirty="0" err="1"/>
              <a:t>x.Quantity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})</a:t>
            </a:r>
            <a:br>
              <a:rPr lang="en-US" dirty="0"/>
            </a:br>
            <a:r>
              <a:rPr lang="en-US" dirty="0"/>
              <a:t>    .</a:t>
            </a:r>
            <a:r>
              <a:rPr lang="en-US" dirty="0" err="1"/>
              <a:t>ToList</a:t>
            </a:r>
            <a:r>
              <a:rPr lang="en-US" dirty="0"/>
              <a:t>();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07186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What is Controller?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HTTP requests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715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Basic Controller Example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ApiController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[Route("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/[controller]")]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UsersController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ControllerBase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readonly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IUserService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_service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UsersController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IUserService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_service = service;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4041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Action Example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[</a:t>
            </a:r>
            <a:r>
              <a:rPr lang="en-US" dirty="0" err="1"/>
              <a:t>HttpPost</a:t>
            </a:r>
            <a:r>
              <a:rPr lang="en-US" dirty="0"/>
              <a:t>("register")]</a:t>
            </a:r>
          </a:p>
          <a:p>
            <a:r>
              <a:rPr lang="en-US" dirty="0"/>
              <a:t>public </a:t>
            </a:r>
            <a:r>
              <a:rPr lang="en-US" dirty="0" err="1"/>
              <a:t>async</a:t>
            </a:r>
            <a:r>
              <a:rPr lang="en-US" dirty="0"/>
              <a:t> Task&lt;</a:t>
            </a:r>
            <a:r>
              <a:rPr lang="en-US" dirty="0" err="1"/>
              <a:t>ActionResult</a:t>
            </a:r>
            <a:r>
              <a:rPr lang="en-US" dirty="0"/>
              <a:t>&lt;</a:t>
            </a:r>
            <a:r>
              <a:rPr lang="en-US" dirty="0" err="1"/>
              <a:t>AuthResponse</a:t>
            </a:r>
            <a:r>
              <a:rPr lang="en-US" dirty="0"/>
              <a:t>&gt;&gt; Register(</a:t>
            </a:r>
            <a:r>
              <a:rPr lang="en-US" dirty="0" err="1"/>
              <a:t>UserRegisterDto</a:t>
            </a:r>
            <a:r>
              <a:rPr lang="en-US" dirty="0"/>
              <a:t> </a:t>
            </a:r>
            <a:r>
              <a:rPr lang="en-US" dirty="0" err="1"/>
              <a:t>dto</a:t>
            </a:r>
            <a:r>
              <a:rPr lang="en-US" dirty="0"/>
              <a:t>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return Ok(await _</a:t>
            </a:r>
            <a:r>
              <a:rPr lang="en-US" dirty="0" err="1"/>
              <a:t>service.Register</a:t>
            </a:r>
            <a:r>
              <a:rPr lang="en-US" dirty="0"/>
              <a:t>(</a:t>
            </a:r>
            <a:r>
              <a:rPr lang="en-US" dirty="0" err="1"/>
              <a:t>dto</a:t>
            </a:r>
            <a:r>
              <a:rPr lang="en-US" dirty="0"/>
              <a:t>));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[</a:t>
            </a:r>
            <a:r>
              <a:rPr lang="en-US" dirty="0" err="1"/>
              <a:t>HttpPost</a:t>
            </a:r>
            <a:r>
              <a:rPr lang="en-US" dirty="0"/>
              <a:t>("login")]</a:t>
            </a:r>
          </a:p>
          <a:p>
            <a:r>
              <a:rPr lang="en-US" dirty="0"/>
              <a:t>public </a:t>
            </a:r>
            <a:r>
              <a:rPr lang="en-US" dirty="0" err="1"/>
              <a:t>async</a:t>
            </a:r>
            <a:r>
              <a:rPr lang="en-US" dirty="0"/>
              <a:t> Task&lt;</a:t>
            </a:r>
            <a:r>
              <a:rPr lang="en-US" dirty="0" err="1"/>
              <a:t>ActionResult</a:t>
            </a:r>
            <a:r>
              <a:rPr lang="en-US" dirty="0"/>
              <a:t>&lt;</a:t>
            </a:r>
            <a:r>
              <a:rPr lang="en-US" dirty="0" err="1"/>
              <a:t>AuthResponse</a:t>
            </a:r>
            <a:r>
              <a:rPr lang="en-US" dirty="0"/>
              <a:t>&gt;&gt; Login(</a:t>
            </a:r>
            <a:r>
              <a:rPr lang="en-US" dirty="0" err="1"/>
              <a:t>UserLoginDto</a:t>
            </a:r>
            <a:r>
              <a:rPr lang="en-US" dirty="0"/>
              <a:t> </a:t>
            </a:r>
            <a:r>
              <a:rPr lang="en-US" dirty="0" err="1"/>
              <a:t>dto</a:t>
            </a:r>
            <a:r>
              <a:rPr lang="en-US" dirty="0"/>
              <a:t>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return Ok(await _</a:t>
            </a:r>
            <a:r>
              <a:rPr lang="en-US" dirty="0" err="1"/>
              <a:t>service.Login</a:t>
            </a:r>
            <a:r>
              <a:rPr lang="en-US" dirty="0"/>
              <a:t>(</a:t>
            </a:r>
            <a:r>
              <a:rPr lang="en-US" dirty="0" err="1"/>
              <a:t>dto</a:t>
            </a:r>
            <a:r>
              <a:rPr lang="en-US" dirty="0"/>
              <a:t>));</a:t>
            </a:r>
          </a:p>
          <a:p>
            <a:r>
              <a:rPr lang="en-US" dirty="0"/>
              <a:t>}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64831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Connecting Desktop App to API Layer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of This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Desktop App communicates with API </a:t>
            </a:r>
          </a:p>
          <a:p>
            <a:pPr lvl="1"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use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HttpClient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send/receive JSON </a:t>
            </a:r>
          </a:p>
          <a:p>
            <a:pPr lvl="1"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integrate UI with backend 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5806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Why Use API?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Desktop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Database (Bad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Practice)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Desktop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API → Database (Correct)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Reusability 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Desktop UI → API → Business Logic → Data → DB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⬅ Response (JSON)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1572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What is </a:t>
            </a:r>
            <a:r>
              <a:rPr lang="en-US" dirty="0" err="1"/>
              <a:t>HttpClient</a:t>
            </a:r>
            <a:r>
              <a:rPr lang="en-US" dirty="0"/>
              <a:t>?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class used to send HTTP requests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a browser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internally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ApiClient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Desktop project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folder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ApiClient.cs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class.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161404"/>
              </p:ext>
            </p:extLst>
          </p:nvPr>
        </p:nvGraphicFramePr>
        <p:xfrm>
          <a:off x="4982817" y="1660955"/>
          <a:ext cx="7010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9285819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32283656"/>
                    </a:ext>
                  </a:extLst>
                </a:gridCol>
              </a:tblGrid>
              <a:tr h="26285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4903603"/>
                  </a:ext>
                </a:extLst>
              </a:tr>
              <a:tr h="42825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954863"/>
                  </a:ext>
                </a:extLst>
              </a:tr>
              <a:tr h="42825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396905"/>
                  </a:ext>
                </a:extLst>
              </a:tr>
              <a:tr h="42825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723063"/>
                  </a:ext>
                </a:extLst>
              </a:tr>
              <a:tr h="42825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682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82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Basic </a:t>
            </a:r>
            <a:r>
              <a:rPr lang="en-US" dirty="0" err="1"/>
              <a:t>ApiClient</a:t>
            </a:r>
            <a:r>
              <a:rPr lang="en-US" dirty="0"/>
              <a:t> Setup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ApiClient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readonly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HttpClient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httpClient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ApiClient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_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httpClient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HttpClient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_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httpClient.BaseAddress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Uri("https://localhost:5001/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/");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get the port number from API Properties/</a:t>
            </a: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launchSettings.josn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0138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Register and Login http client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 Register(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UserRegisterDto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 = await _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http.PostAsJsonAsync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/Users/Register", request);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response.EnsureSuccessStatusCode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await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response.Content.ReadFromJsonAsync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&gt;();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 Login(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UserLoginDto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 = await _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http.PostAsJsonAsync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/Users/Login", request);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response.EnsureSuccessStatusCode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await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response.Content.ReadFromJsonAsync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&gt;();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5922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Desktop App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form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 example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registerRequest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UserRegisterDto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Username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txtUsername.Text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Password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txtPassword.Text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created = await _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apiClient.Register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registerRequest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LoginFrm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login = new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LoginFrm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login.Show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this.Hide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29559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Desktop Login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488738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  <a: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code example</a:t>
            </a:r>
          </a:p>
          <a:p>
            <a:pPr marL="0" indent="0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loginRequest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UserLoginDto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Username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txtUserName.Text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Password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txtPassword.Text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 = await _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apiClient.Login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loginRequest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result.Seccess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MainForm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f3 = new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MainForm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f3.Show();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this.Hide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return;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4951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What Is LINQ?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5"/>
            <a:ext cx="11062447" cy="56080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LINQ stands </a:t>
            </a:r>
            <a:r>
              <a:rPr lang="en-US" sz="2400" dirty="0" smtClean="0"/>
              <a:t>for: </a:t>
            </a:r>
            <a:r>
              <a:rPr lang="en-US" sz="2400" b="1" dirty="0" smtClean="0"/>
              <a:t>Language-Integrated </a:t>
            </a:r>
            <a:r>
              <a:rPr lang="en-US" sz="2400" b="1" dirty="0"/>
              <a:t>Query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It allows querying: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Objects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Collections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Lists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Databases (via EF Core)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XML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JSON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Using </a:t>
            </a:r>
            <a:r>
              <a:rPr lang="en-US" sz="2400" b="1" dirty="0"/>
              <a:t>C# syntax</a:t>
            </a:r>
            <a:r>
              <a:rPr lang="en-US" sz="2400" dirty="0"/>
              <a:t>, instead of SQL or loops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0016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Why LINQ Matters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50199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LINQ is powerful because: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loops with clean expressions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lists, arrays,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JSON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smoothly with EF Core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manual SQL writing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functional programming concepts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code readable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3519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Traditional Way vs LINQ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02768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Traditional</a:t>
            </a:r>
            <a:r>
              <a:rPr lang="en-US" sz="2400" dirty="0" smtClean="0"/>
              <a:t>: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LINQ:</a:t>
            </a: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4015408" y="1595151"/>
            <a:ext cx="69706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List&lt;Product&gt; results = new List&lt;Product&gt;();</a:t>
            </a:r>
          </a:p>
          <a:p>
            <a:r>
              <a:rPr lang="en-US" sz="2400" dirty="0" err="1">
                <a:solidFill>
                  <a:schemeClr val="accent5"/>
                </a:solidFill>
              </a:rPr>
              <a:t>foreach</a:t>
            </a:r>
            <a:r>
              <a:rPr lang="en-US" sz="2400" dirty="0">
                <a:solidFill>
                  <a:schemeClr val="accent5"/>
                </a:solidFill>
              </a:rPr>
              <a:t> (</a:t>
            </a:r>
            <a:r>
              <a:rPr lang="en-US" sz="2400" dirty="0" err="1">
                <a:solidFill>
                  <a:schemeClr val="accent5"/>
                </a:solidFill>
              </a:rPr>
              <a:t>var</a:t>
            </a:r>
            <a:r>
              <a:rPr lang="en-US" sz="2400" dirty="0">
                <a:solidFill>
                  <a:schemeClr val="accent5"/>
                </a:solidFill>
              </a:rPr>
              <a:t> p in products)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{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if (</a:t>
            </a:r>
            <a:r>
              <a:rPr lang="en-US" sz="2400" dirty="0" err="1">
                <a:solidFill>
                  <a:schemeClr val="accent5"/>
                </a:solidFill>
              </a:rPr>
              <a:t>p.UnitPrice</a:t>
            </a:r>
            <a:r>
              <a:rPr lang="en-US" sz="2400" dirty="0">
                <a:solidFill>
                  <a:schemeClr val="accent5"/>
                </a:solidFill>
              </a:rPr>
              <a:t> &gt; 100)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    </a:t>
            </a:r>
            <a:r>
              <a:rPr lang="en-US" sz="2400" dirty="0" err="1">
                <a:solidFill>
                  <a:schemeClr val="accent5"/>
                </a:solidFill>
              </a:rPr>
              <a:t>results.Add</a:t>
            </a:r>
            <a:r>
              <a:rPr lang="en-US" sz="2400" dirty="0">
                <a:solidFill>
                  <a:schemeClr val="accent5"/>
                </a:solidFill>
              </a:rPr>
              <a:t>(p);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1719859" y="4440790"/>
            <a:ext cx="96339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5"/>
                </a:solidFill>
              </a:rPr>
              <a:t>var</a:t>
            </a:r>
            <a:r>
              <a:rPr lang="en-US" sz="2400" dirty="0">
                <a:solidFill>
                  <a:schemeClr val="accent5"/>
                </a:solidFill>
              </a:rPr>
              <a:t> results = </a:t>
            </a:r>
            <a:r>
              <a:rPr lang="en-US" sz="2400" dirty="0" err="1">
                <a:solidFill>
                  <a:schemeClr val="accent5"/>
                </a:solidFill>
              </a:rPr>
              <a:t>products.Where</a:t>
            </a:r>
            <a:r>
              <a:rPr lang="en-US" sz="2400" dirty="0">
                <a:solidFill>
                  <a:schemeClr val="accent5"/>
                </a:solidFill>
              </a:rPr>
              <a:t>(p =&gt; </a:t>
            </a:r>
            <a:r>
              <a:rPr lang="en-US" sz="2400" dirty="0" err="1">
                <a:solidFill>
                  <a:schemeClr val="accent5"/>
                </a:solidFill>
              </a:rPr>
              <a:t>p.UnitPrice</a:t>
            </a:r>
            <a:r>
              <a:rPr lang="en-US" sz="2400" dirty="0">
                <a:solidFill>
                  <a:schemeClr val="accent5"/>
                </a:solidFill>
              </a:rPr>
              <a:t> &gt; 100).</a:t>
            </a:r>
            <a:r>
              <a:rPr lang="en-US" sz="2400" dirty="0" err="1">
                <a:solidFill>
                  <a:schemeClr val="accent5"/>
                </a:solidFill>
              </a:rPr>
              <a:t>ToList</a:t>
            </a:r>
            <a:r>
              <a:rPr lang="en-US" sz="2400" dirty="0">
                <a:solidFill>
                  <a:schemeClr val="accent5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20792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LINQ Query Syntax vs Method Syntax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5"/>
            <a:ext cx="11062447" cy="54489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Query Syntax</a:t>
            </a:r>
            <a:r>
              <a:rPr lang="en-US" sz="2400" dirty="0" smtClean="0"/>
              <a:t>: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/>
              <a:t>Method Syntax (most popular</a:t>
            </a:r>
            <a:r>
              <a:rPr lang="en-US" sz="2400" dirty="0" smtClean="0"/>
              <a:t>):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pPr algn="just">
              <a:lnSpc>
                <a:spcPct val="150000"/>
              </a:lnSpc>
            </a:pPr>
            <a:r>
              <a:rPr lang="en-US" sz="2400" dirty="0"/>
              <a:t>EF Core internally uses </a:t>
            </a:r>
            <a:r>
              <a:rPr lang="en-US" sz="2400" b="1" dirty="0"/>
              <a:t>method syntax</a:t>
            </a:r>
            <a:r>
              <a:rPr lang="en-US" sz="2400" dirty="0"/>
              <a:t>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3"/>
          <p:cNvSpPr/>
          <p:nvPr/>
        </p:nvSpPr>
        <p:spPr>
          <a:xfrm>
            <a:off x="3140764" y="1660955"/>
            <a:ext cx="84147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5"/>
                </a:solidFill>
              </a:rPr>
              <a:t>var</a:t>
            </a:r>
            <a:r>
              <a:rPr lang="en-US" sz="2400" dirty="0">
                <a:solidFill>
                  <a:schemeClr val="accent5"/>
                </a:solidFill>
              </a:rPr>
              <a:t> q = from p in products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    where </a:t>
            </a:r>
            <a:r>
              <a:rPr lang="en-US" sz="2400" dirty="0" err="1">
                <a:solidFill>
                  <a:schemeClr val="accent5"/>
                </a:solidFill>
              </a:rPr>
              <a:t>p.UnitPrice</a:t>
            </a:r>
            <a:r>
              <a:rPr lang="en-US" sz="2400" dirty="0">
                <a:solidFill>
                  <a:schemeClr val="accent5"/>
                </a:solidFill>
              </a:rPr>
              <a:t> &gt; 100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    select p;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5009" y="4728577"/>
            <a:ext cx="72122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chemeClr val="accent5"/>
                </a:solidFill>
              </a:rPr>
              <a:t>var</a:t>
            </a:r>
            <a:r>
              <a:rPr lang="en-US" sz="2400" dirty="0">
                <a:solidFill>
                  <a:schemeClr val="accent5"/>
                </a:solidFill>
              </a:rPr>
              <a:t> q = </a:t>
            </a:r>
            <a:r>
              <a:rPr lang="en-US" sz="2400" dirty="0" err="1">
                <a:solidFill>
                  <a:schemeClr val="accent5"/>
                </a:solidFill>
              </a:rPr>
              <a:t>products.Where</a:t>
            </a:r>
            <a:r>
              <a:rPr lang="en-US" sz="2400" dirty="0">
                <a:solidFill>
                  <a:schemeClr val="accent5"/>
                </a:solidFill>
              </a:rPr>
              <a:t>(p =&gt; </a:t>
            </a:r>
            <a:r>
              <a:rPr lang="en-US" sz="2400" dirty="0" err="1">
                <a:solidFill>
                  <a:schemeClr val="accent5"/>
                </a:solidFill>
              </a:rPr>
              <a:t>p.UnitPrice</a:t>
            </a:r>
            <a:r>
              <a:rPr lang="en-US" sz="2400" dirty="0">
                <a:solidFill>
                  <a:schemeClr val="accent5"/>
                </a:solidFill>
              </a:rPr>
              <a:t> &gt; 100);</a:t>
            </a:r>
          </a:p>
        </p:txBody>
      </p:sp>
    </p:spTree>
    <p:extLst>
      <p:ext uri="{BB962C8B-B14F-4D97-AF65-F5344CB8AC3E}">
        <p14:creationId xmlns:p14="http://schemas.microsoft.com/office/powerpoint/2010/main" val="360154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Important LINQ Methods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674268"/>
          </a:xfrm>
        </p:spPr>
        <p:txBody>
          <a:bodyPr>
            <a:noAutofit/>
          </a:bodyPr>
          <a:lstStyle/>
          <a:p>
            <a:pPr lvl="0" algn="just" fontAlgn="base">
              <a:spcAft>
                <a:spcPct val="0"/>
              </a:spcAft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used:</a:t>
            </a:r>
          </a:p>
          <a:p>
            <a:pPr lvl="1"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Where()</a:t>
            </a:r>
          </a:p>
          <a:p>
            <a:pPr lvl="1"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Select()</a:t>
            </a:r>
          </a:p>
          <a:p>
            <a:pPr lvl="1"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OrderBy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1"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OrderByDescending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1"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FirstOrDefault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1"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SingleOrDefault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1"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Any()</a:t>
            </a:r>
          </a:p>
          <a:p>
            <a:pPr lvl="1"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Take()</a:t>
            </a:r>
          </a:p>
          <a:p>
            <a:pPr lvl="1"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Skip()</a:t>
            </a:r>
          </a:p>
          <a:p>
            <a:pPr lvl="1" algn="just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ToList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163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Using Where()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02768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Filters items based on a condition</a:t>
            </a:r>
            <a:r>
              <a:rPr lang="en-US" sz="2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dirty="0"/>
              <a:t>Equivalent to SQL: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3737112" y="2371351"/>
            <a:ext cx="73682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5"/>
                </a:solidFill>
              </a:rPr>
              <a:t>var</a:t>
            </a:r>
            <a:r>
              <a:rPr lang="en-US" sz="2400" dirty="0">
                <a:solidFill>
                  <a:schemeClr val="accent5"/>
                </a:solidFill>
              </a:rPr>
              <a:t> expensive = products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.Where(p =&gt; </a:t>
            </a:r>
            <a:r>
              <a:rPr lang="en-US" sz="2400" dirty="0" err="1">
                <a:solidFill>
                  <a:schemeClr val="accent5"/>
                </a:solidFill>
              </a:rPr>
              <a:t>p.UnitPrice</a:t>
            </a:r>
            <a:r>
              <a:rPr lang="en-US" sz="2400" dirty="0">
                <a:solidFill>
                  <a:schemeClr val="accent5"/>
                </a:solidFill>
              </a:rPr>
              <a:t> &gt; 100)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.</a:t>
            </a:r>
            <a:r>
              <a:rPr lang="en-US" sz="2400" dirty="0" err="1">
                <a:solidFill>
                  <a:schemeClr val="accent5"/>
                </a:solidFill>
              </a:rPr>
              <a:t>ToList</a:t>
            </a:r>
            <a:r>
              <a:rPr lang="en-US" sz="2400" dirty="0">
                <a:solidFill>
                  <a:schemeClr val="accent5"/>
                </a:solidFill>
              </a:rPr>
              <a:t>();</a:t>
            </a:r>
          </a:p>
        </p:txBody>
      </p:sp>
      <p:sp>
        <p:nvSpPr>
          <p:cNvPr id="4" name="Rectangle 3"/>
          <p:cNvSpPr/>
          <p:nvPr/>
        </p:nvSpPr>
        <p:spPr>
          <a:xfrm>
            <a:off x="3737112" y="4700529"/>
            <a:ext cx="71994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SELECT * FROM Products WHERE </a:t>
            </a:r>
            <a:r>
              <a:rPr lang="en-US" sz="2400" dirty="0" err="1">
                <a:solidFill>
                  <a:schemeClr val="accent5"/>
                </a:solidFill>
              </a:rPr>
              <a:t>UnitPrice</a:t>
            </a:r>
            <a:r>
              <a:rPr lang="en-US" sz="2400" dirty="0">
                <a:solidFill>
                  <a:schemeClr val="accent5"/>
                </a:solidFill>
              </a:rPr>
              <a:t> &gt; 100;</a:t>
            </a:r>
          </a:p>
        </p:txBody>
      </p:sp>
    </p:spTree>
    <p:extLst>
      <p:ext uri="{BB962C8B-B14F-4D97-AF65-F5344CB8AC3E}">
        <p14:creationId xmlns:p14="http://schemas.microsoft.com/office/powerpoint/2010/main" val="406738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Using Select()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02768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Selects specific fields or transforms data</a:t>
            </a:r>
            <a:r>
              <a:rPr lang="en-US" sz="2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/>
              <a:t>Or create new objects: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3604591" y="184090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err="1">
                <a:solidFill>
                  <a:schemeClr val="accent5"/>
                </a:solidFill>
              </a:rPr>
              <a:t>var</a:t>
            </a:r>
            <a:r>
              <a:rPr lang="en-US" sz="2400" dirty="0">
                <a:solidFill>
                  <a:schemeClr val="accent5"/>
                </a:solidFill>
              </a:rPr>
              <a:t> names = products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.Select(p =&gt; </a:t>
            </a:r>
            <a:r>
              <a:rPr lang="en-US" sz="2400" dirty="0" err="1">
                <a:solidFill>
                  <a:schemeClr val="accent5"/>
                </a:solidFill>
              </a:rPr>
              <a:t>p.Name</a:t>
            </a:r>
            <a:r>
              <a:rPr lang="en-US" sz="2400" dirty="0">
                <a:solidFill>
                  <a:schemeClr val="accent5"/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.</a:t>
            </a:r>
            <a:r>
              <a:rPr lang="en-US" sz="2400" dirty="0" err="1">
                <a:solidFill>
                  <a:schemeClr val="accent5"/>
                </a:solidFill>
              </a:rPr>
              <a:t>ToList</a:t>
            </a:r>
            <a:r>
              <a:rPr lang="en-US" sz="2400" dirty="0">
                <a:solidFill>
                  <a:schemeClr val="accent5"/>
                </a:solidFill>
              </a:rPr>
              <a:t>();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4591" y="4525114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err="1">
                <a:solidFill>
                  <a:schemeClr val="accent5"/>
                </a:solidFill>
              </a:rPr>
              <a:t>var</a:t>
            </a:r>
            <a:r>
              <a:rPr lang="en-US" sz="2400" dirty="0">
                <a:solidFill>
                  <a:schemeClr val="accent5"/>
                </a:solidFill>
              </a:rPr>
              <a:t> info = </a:t>
            </a:r>
            <a:r>
              <a:rPr lang="en-US" sz="2400" dirty="0" err="1">
                <a:solidFill>
                  <a:schemeClr val="accent5"/>
                </a:solidFill>
              </a:rPr>
              <a:t>products.Select</a:t>
            </a:r>
            <a:r>
              <a:rPr lang="en-US" sz="2400" dirty="0">
                <a:solidFill>
                  <a:schemeClr val="accent5"/>
                </a:solidFill>
              </a:rPr>
              <a:t>(p =&gt; new {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</a:t>
            </a:r>
            <a:r>
              <a:rPr lang="en-US" sz="2400" dirty="0" err="1">
                <a:solidFill>
                  <a:schemeClr val="accent5"/>
                </a:solidFill>
              </a:rPr>
              <a:t>p.Name</a:t>
            </a:r>
            <a:r>
              <a:rPr lang="en-US" sz="2400" dirty="0">
                <a:solidFill>
                  <a:schemeClr val="accent5"/>
                </a:solidFill>
              </a:rPr>
              <a:t>,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</a:t>
            </a:r>
            <a:r>
              <a:rPr lang="en-US" sz="2400" dirty="0" err="1">
                <a:solidFill>
                  <a:schemeClr val="accent5"/>
                </a:solidFill>
              </a:rPr>
              <a:t>p.UnitPrice</a:t>
            </a:r>
            <a:endParaRPr lang="en-US" sz="2400" dirty="0">
              <a:solidFill>
                <a:schemeClr val="accent5"/>
              </a:solidFill>
            </a:endParaRPr>
          </a:p>
          <a:p>
            <a:r>
              <a:rPr lang="en-US" sz="2400" dirty="0">
                <a:solidFill>
                  <a:schemeClr val="accent5"/>
                </a:solidFill>
              </a:rPr>
              <a:t>}).</a:t>
            </a:r>
            <a:r>
              <a:rPr lang="en-US" sz="2400" dirty="0" err="1">
                <a:solidFill>
                  <a:schemeClr val="accent5"/>
                </a:solidFill>
              </a:rPr>
              <a:t>ToList</a:t>
            </a:r>
            <a:r>
              <a:rPr lang="en-US" sz="2400" dirty="0">
                <a:solidFill>
                  <a:schemeClr val="accent5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86218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Using </a:t>
            </a:r>
            <a:r>
              <a:rPr lang="en-US" sz="2800" dirty="0" err="1"/>
              <a:t>OrderBy</a:t>
            </a:r>
            <a:r>
              <a:rPr lang="en-US" sz="2800" dirty="0"/>
              <a:t>()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02768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/>
              <a:t>Ascending: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pPr algn="just">
              <a:lnSpc>
                <a:spcPct val="150000"/>
              </a:lnSpc>
            </a:pPr>
            <a:r>
              <a:rPr lang="en-US" sz="2400" dirty="0"/>
              <a:t>Descending</a:t>
            </a:r>
            <a:r>
              <a:rPr lang="en-US" sz="2400" dirty="0" smtClean="0"/>
              <a:t>: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4545496" y="166095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err="1">
                <a:solidFill>
                  <a:schemeClr val="accent5"/>
                </a:solidFill>
              </a:rPr>
              <a:t>var</a:t>
            </a:r>
            <a:r>
              <a:rPr lang="en-US" sz="2400" dirty="0">
                <a:solidFill>
                  <a:schemeClr val="accent5"/>
                </a:solidFill>
              </a:rPr>
              <a:t> sorted = products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.</a:t>
            </a:r>
            <a:r>
              <a:rPr lang="en-US" sz="2400" dirty="0" err="1">
                <a:solidFill>
                  <a:schemeClr val="accent5"/>
                </a:solidFill>
              </a:rPr>
              <a:t>OrderBy</a:t>
            </a:r>
            <a:r>
              <a:rPr lang="en-US" sz="2400" dirty="0">
                <a:solidFill>
                  <a:schemeClr val="accent5"/>
                </a:solidFill>
              </a:rPr>
              <a:t>(p =&gt; </a:t>
            </a:r>
            <a:r>
              <a:rPr lang="en-US" sz="2400" dirty="0" err="1">
                <a:solidFill>
                  <a:schemeClr val="accent5"/>
                </a:solidFill>
              </a:rPr>
              <a:t>p.UnitPrice</a:t>
            </a:r>
            <a:r>
              <a:rPr lang="en-US" sz="2400" dirty="0">
                <a:solidFill>
                  <a:schemeClr val="accent5"/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.</a:t>
            </a:r>
            <a:r>
              <a:rPr lang="en-US" sz="2400" dirty="0" err="1">
                <a:solidFill>
                  <a:schemeClr val="accent5"/>
                </a:solidFill>
              </a:rPr>
              <a:t>ToList</a:t>
            </a:r>
            <a:r>
              <a:rPr lang="en-US" sz="2400" dirty="0">
                <a:solidFill>
                  <a:schemeClr val="accent5"/>
                </a:solidFill>
              </a:rPr>
              <a:t>();</a:t>
            </a:r>
          </a:p>
        </p:txBody>
      </p:sp>
      <p:sp>
        <p:nvSpPr>
          <p:cNvPr id="3" name="Rectangle 2"/>
          <p:cNvSpPr/>
          <p:nvPr/>
        </p:nvSpPr>
        <p:spPr>
          <a:xfrm>
            <a:off x="4437080" y="4288738"/>
            <a:ext cx="618470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sorted = products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.</a:t>
            </a:r>
            <a:r>
              <a:rPr lang="en-US" sz="2400" dirty="0" err="1">
                <a:solidFill>
                  <a:schemeClr val="accent5"/>
                </a:solidFill>
              </a:rPr>
              <a:t>OrderByDescending</a:t>
            </a:r>
            <a:r>
              <a:rPr lang="en-US" sz="2400" dirty="0">
                <a:solidFill>
                  <a:schemeClr val="accent5"/>
                </a:solidFill>
              </a:rPr>
              <a:t>(p =&gt; </a:t>
            </a:r>
            <a:r>
              <a:rPr lang="en-US" sz="2400" dirty="0" err="1">
                <a:solidFill>
                  <a:schemeClr val="accent5"/>
                </a:solidFill>
              </a:rPr>
              <a:t>p.UnitPrice</a:t>
            </a:r>
            <a:r>
              <a:rPr lang="en-US" sz="2400" dirty="0">
                <a:solidFill>
                  <a:schemeClr val="accent5"/>
                </a:solidFill>
              </a:rPr>
              <a:t>)</a:t>
            </a:r>
          </a:p>
          <a:p>
            <a:r>
              <a:rPr lang="en-US" sz="2400" dirty="0" smtClean="0">
                <a:solidFill>
                  <a:schemeClr val="accent5"/>
                </a:solidFill>
              </a:rPr>
              <a:t>    </a:t>
            </a:r>
            <a:r>
              <a:rPr lang="en-US" sz="2400" dirty="0">
                <a:solidFill>
                  <a:schemeClr val="accent5"/>
                </a:solidFill>
              </a:rPr>
              <a:t>.</a:t>
            </a:r>
            <a:r>
              <a:rPr lang="en-US" sz="2400" dirty="0" err="1">
                <a:solidFill>
                  <a:schemeClr val="accent5"/>
                </a:solidFill>
              </a:rPr>
              <a:t>ToList</a:t>
            </a:r>
            <a:r>
              <a:rPr lang="en-US" sz="2400" dirty="0" smtClean="0">
                <a:solidFill>
                  <a:schemeClr val="accent5"/>
                </a:solidFill>
              </a:rPr>
              <a:t>();</a:t>
            </a:r>
            <a:endParaRPr lang="en-US" sz="24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321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 err="1"/>
              <a:t>FirstOrDefault</a:t>
            </a:r>
            <a:r>
              <a:rPr lang="en-US" sz="2800" dirty="0"/>
              <a:t>()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02768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Gets the first item or returns null</a:t>
            </a:r>
            <a:r>
              <a:rPr lang="en-US" sz="2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pPr algn="just">
              <a:lnSpc>
                <a:spcPct val="150000"/>
              </a:lnSpc>
            </a:pPr>
            <a:r>
              <a:rPr lang="en-US" sz="2400" dirty="0"/>
              <a:t>Used frequently with EF Core: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3392556" y="1833626"/>
            <a:ext cx="79612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5"/>
                </a:solidFill>
              </a:rPr>
              <a:t>var</a:t>
            </a:r>
            <a:r>
              <a:rPr lang="en-US" sz="2400" dirty="0">
                <a:solidFill>
                  <a:schemeClr val="accent5"/>
                </a:solidFill>
              </a:rPr>
              <a:t> product = products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.</a:t>
            </a:r>
            <a:r>
              <a:rPr lang="en-US" sz="2400" dirty="0" err="1">
                <a:solidFill>
                  <a:schemeClr val="accent5"/>
                </a:solidFill>
              </a:rPr>
              <a:t>FirstOrDefault</a:t>
            </a:r>
            <a:r>
              <a:rPr lang="en-US" sz="2400" dirty="0">
                <a:solidFill>
                  <a:schemeClr val="accent5"/>
                </a:solidFill>
              </a:rPr>
              <a:t>(p =&gt; </a:t>
            </a:r>
            <a:r>
              <a:rPr lang="en-US" sz="2400" dirty="0" err="1">
                <a:solidFill>
                  <a:schemeClr val="accent5"/>
                </a:solidFill>
              </a:rPr>
              <a:t>p.Name</a:t>
            </a:r>
            <a:r>
              <a:rPr lang="en-US" sz="2400" dirty="0">
                <a:solidFill>
                  <a:schemeClr val="accent5"/>
                </a:solidFill>
              </a:rPr>
              <a:t> == "Laptop");</a:t>
            </a:r>
          </a:p>
        </p:txBody>
      </p:sp>
      <p:sp>
        <p:nvSpPr>
          <p:cNvPr id="3" name="Rectangle 2"/>
          <p:cNvSpPr/>
          <p:nvPr/>
        </p:nvSpPr>
        <p:spPr>
          <a:xfrm>
            <a:off x="1510748" y="4080518"/>
            <a:ext cx="102306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5"/>
                </a:solidFill>
              </a:rPr>
              <a:t>var</a:t>
            </a:r>
            <a:r>
              <a:rPr lang="en-US" sz="2400" dirty="0">
                <a:solidFill>
                  <a:schemeClr val="accent5"/>
                </a:solidFill>
              </a:rPr>
              <a:t> user = _</a:t>
            </a:r>
            <a:r>
              <a:rPr lang="en-US" sz="2400" dirty="0" err="1">
                <a:solidFill>
                  <a:schemeClr val="accent5"/>
                </a:solidFill>
              </a:rPr>
              <a:t>context.Users</a:t>
            </a:r>
            <a:endParaRPr lang="en-US" sz="2400" dirty="0">
              <a:solidFill>
                <a:schemeClr val="accent5"/>
              </a:solidFill>
            </a:endParaRPr>
          </a:p>
          <a:p>
            <a:r>
              <a:rPr lang="en-US" sz="2400" dirty="0">
                <a:solidFill>
                  <a:schemeClr val="accent5"/>
                </a:solidFill>
              </a:rPr>
              <a:t>    .</a:t>
            </a:r>
            <a:r>
              <a:rPr lang="en-US" sz="2400" dirty="0" err="1">
                <a:solidFill>
                  <a:schemeClr val="accent5"/>
                </a:solidFill>
              </a:rPr>
              <a:t>FirstOrDefault</a:t>
            </a:r>
            <a:r>
              <a:rPr lang="en-US" sz="2400" dirty="0">
                <a:solidFill>
                  <a:schemeClr val="accent5"/>
                </a:solidFill>
              </a:rPr>
              <a:t>(u =&gt; </a:t>
            </a:r>
            <a:r>
              <a:rPr lang="en-US" sz="2400" dirty="0" err="1">
                <a:solidFill>
                  <a:schemeClr val="accent5"/>
                </a:solidFill>
              </a:rPr>
              <a:t>u.UserName</a:t>
            </a:r>
            <a:r>
              <a:rPr lang="en-US" sz="2400" dirty="0">
                <a:solidFill>
                  <a:schemeClr val="accent5"/>
                </a:solidFill>
              </a:rPr>
              <a:t> == </a:t>
            </a:r>
            <a:r>
              <a:rPr lang="en-US" sz="2400" dirty="0" err="1">
                <a:solidFill>
                  <a:schemeClr val="accent5"/>
                </a:solidFill>
              </a:rPr>
              <a:t>request.UserName</a:t>
            </a:r>
            <a:r>
              <a:rPr lang="en-US" sz="2400" dirty="0">
                <a:solidFill>
                  <a:schemeClr val="accent5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03757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 err="1"/>
              <a:t>SingleOrDefault</a:t>
            </a:r>
            <a:r>
              <a:rPr lang="en-US" sz="2800" dirty="0"/>
              <a:t>()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02768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Ensures only </a:t>
            </a:r>
            <a:r>
              <a:rPr lang="en-US" sz="2400" b="1" dirty="0"/>
              <a:t>one</a:t>
            </a:r>
            <a:r>
              <a:rPr lang="en-US" sz="2400" dirty="0"/>
              <a:t> item exists</a:t>
            </a:r>
            <a:r>
              <a:rPr lang="en-US" sz="2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/>
              <a:t>Throws exception if more than one exists.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2702610" y="2488960"/>
            <a:ext cx="7391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chemeClr val="accent5"/>
                </a:solidFill>
              </a:rPr>
              <a:t>var</a:t>
            </a:r>
            <a:r>
              <a:rPr lang="en-US" sz="2400" dirty="0">
                <a:solidFill>
                  <a:schemeClr val="accent5"/>
                </a:solidFill>
              </a:rPr>
              <a:t> p = </a:t>
            </a:r>
            <a:r>
              <a:rPr lang="en-US" sz="2400" dirty="0" err="1">
                <a:solidFill>
                  <a:schemeClr val="accent5"/>
                </a:solidFill>
              </a:rPr>
              <a:t>products.SingleOrDefault</a:t>
            </a:r>
            <a:r>
              <a:rPr lang="en-US" sz="2400" dirty="0">
                <a:solidFill>
                  <a:schemeClr val="accent5"/>
                </a:solidFill>
              </a:rPr>
              <a:t>(p =&gt; </a:t>
            </a:r>
            <a:r>
              <a:rPr lang="en-US" sz="2400" dirty="0" err="1">
                <a:solidFill>
                  <a:schemeClr val="accent5"/>
                </a:solidFill>
              </a:rPr>
              <a:t>p.Id</a:t>
            </a:r>
            <a:r>
              <a:rPr lang="en-US" sz="2400" dirty="0">
                <a:solidFill>
                  <a:schemeClr val="accent5"/>
                </a:solidFill>
              </a:rPr>
              <a:t> == 3);</a:t>
            </a:r>
          </a:p>
        </p:txBody>
      </p:sp>
    </p:spTree>
    <p:extLst>
      <p:ext uri="{BB962C8B-B14F-4D97-AF65-F5344CB8AC3E}">
        <p14:creationId xmlns:p14="http://schemas.microsoft.com/office/powerpoint/2010/main" val="309290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Any()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02768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Checks if something exists</a:t>
            </a:r>
            <a:r>
              <a:rPr lang="en-US" sz="2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r>
              <a:rPr lang="en-US" sz="2400" dirty="0"/>
              <a:t>Very useful for:</a:t>
            </a:r>
          </a:p>
          <a:p>
            <a:pPr lvl="1"/>
            <a:r>
              <a:rPr lang="en-US" sz="2000" dirty="0"/>
              <a:t>Validation</a:t>
            </a:r>
          </a:p>
          <a:p>
            <a:pPr lvl="1"/>
            <a:r>
              <a:rPr lang="en-US" sz="2000" dirty="0"/>
              <a:t>Existence check</a:t>
            </a:r>
          </a:p>
          <a:p>
            <a:pPr lvl="1"/>
            <a:r>
              <a:rPr lang="en-US" sz="2000" dirty="0"/>
              <a:t>Authentication logic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908313" y="2005904"/>
            <a:ext cx="91307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bool </a:t>
            </a:r>
            <a:r>
              <a:rPr lang="en-US" sz="2400" dirty="0" err="1">
                <a:solidFill>
                  <a:schemeClr val="accent5"/>
                </a:solidFill>
              </a:rPr>
              <a:t>hasCheapItems</a:t>
            </a:r>
            <a:r>
              <a:rPr lang="en-US" sz="2400" dirty="0">
                <a:solidFill>
                  <a:schemeClr val="accent5"/>
                </a:solidFill>
              </a:rPr>
              <a:t> = </a:t>
            </a:r>
            <a:r>
              <a:rPr lang="en-US" sz="2400" dirty="0" err="1">
                <a:solidFill>
                  <a:schemeClr val="accent5"/>
                </a:solidFill>
              </a:rPr>
              <a:t>products.Any</a:t>
            </a:r>
            <a:r>
              <a:rPr lang="en-US" sz="2400" dirty="0">
                <a:solidFill>
                  <a:schemeClr val="accent5"/>
                </a:solidFill>
              </a:rPr>
              <a:t>(p =&gt; </a:t>
            </a:r>
            <a:r>
              <a:rPr lang="en-US" sz="2400" dirty="0" err="1">
                <a:solidFill>
                  <a:schemeClr val="accent5"/>
                </a:solidFill>
              </a:rPr>
              <a:t>p.UnitPrice</a:t>
            </a:r>
            <a:r>
              <a:rPr lang="en-US" sz="2400" dirty="0">
                <a:solidFill>
                  <a:schemeClr val="accent5"/>
                </a:solidFill>
              </a:rPr>
              <a:t> &lt; 50);</a:t>
            </a:r>
          </a:p>
        </p:txBody>
      </p:sp>
    </p:spTree>
    <p:extLst>
      <p:ext uri="{BB962C8B-B14F-4D97-AF65-F5344CB8AC3E}">
        <p14:creationId xmlns:p14="http://schemas.microsoft.com/office/powerpoint/2010/main" val="1606610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Take() and Skip() (Paging)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02768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/>
              <a:t>Take 5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Skip 10</a:t>
            </a:r>
          </a:p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/>
              <a:t>Used in paging APIs.</a:t>
            </a:r>
            <a:endParaRPr lang="en-US" sz="2400" dirty="0" smtClean="0"/>
          </a:p>
          <a:p>
            <a:pPr algn="just">
              <a:lnSpc>
                <a:spcPct val="150000"/>
              </a:lnSpc>
            </a:pP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3"/>
          <p:cNvSpPr/>
          <p:nvPr/>
        </p:nvSpPr>
        <p:spPr>
          <a:xfrm>
            <a:off x="3182231" y="1905864"/>
            <a:ext cx="67966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5"/>
                </a:solidFill>
              </a:rPr>
              <a:t>var</a:t>
            </a:r>
            <a:r>
              <a:rPr lang="en-US" sz="2400" dirty="0">
                <a:solidFill>
                  <a:schemeClr val="accent5"/>
                </a:solidFill>
              </a:rPr>
              <a:t> top5 = </a:t>
            </a:r>
            <a:r>
              <a:rPr lang="en-US" sz="2400" dirty="0" err="1">
                <a:solidFill>
                  <a:schemeClr val="accent5"/>
                </a:solidFill>
              </a:rPr>
              <a:t>products.Take</a:t>
            </a:r>
            <a:r>
              <a:rPr lang="en-US" sz="2400" dirty="0">
                <a:solidFill>
                  <a:schemeClr val="accent5"/>
                </a:solidFill>
              </a:rPr>
              <a:t>(5).</a:t>
            </a:r>
            <a:r>
              <a:rPr lang="en-US" sz="2400" dirty="0" err="1">
                <a:solidFill>
                  <a:schemeClr val="accent5"/>
                </a:solidFill>
              </a:rPr>
              <a:t>ToList</a:t>
            </a:r>
            <a:r>
              <a:rPr lang="en-US" sz="2400" dirty="0">
                <a:solidFill>
                  <a:schemeClr val="accent5"/>
                </a:solidFill>
              </a:rPr>
              <a:t>();</a:t>
            </a:r>
          </a:p>
        </p:txBody>
      </p:sp>
      <p:sp>
        <p:nvSpPr>
          <p:cNvPr id="6" name="Rectangle 5"/>
          <p:cNvSpPr/>
          <p:nvPr/>
        </p:nvSpPr>
        <p:spPr>
          <a:xfrm>
            <a:off x="3182231" y="3995694"/>
            <a:ext cx="66335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chemeClr val="accent5"/>
                </a:solidFill>
              </a:rPr>
              <a:t>var</a:t>
            </a:r>
            <a:r>
              <a:rPr lang="en-US" sz="2400" dirty="0">
                <a:solidFill>
                  <a:schemeClr val="accent5"/>
                </a:solidFill>
              </a:rPr>
              <a:t> next = </a:t>
            </a:r>
            <a:r>
              <a:rPr lang="en-US" sz="2400" dirty="0" err="1">
                <a:solidFill>
                  <a:schemeClr val="accent5"/>
                </a:solidFill>
              </a:rPr>
              <a:t>products.Skip</a:t>
            </a:r>
            <a:r>
              <a:rPr lang="en-US" sz="2400" dirty="0">
                <a:solidFill>
                  <a:schemeClr val="accent5"/>
                </a:solidFill>
              </a:rPr>
              <a:t>(10).Take(5).</a:t>
            </a:r>
            <a:r>
              <a:rPr lang="en-US" sz="2400" dirty="0" err="1">
                <a:solidFill>
                  <a:schemeClr val="accent5"/>
                </a:solidFill>
              </a:rPr>
              <a:t>ToList</a:t>
            </a:r>
            <a:r>
              <a:rPr lang="en-US" sz="2400" dirty="0">
                <a:solidFill>
                  <a:schemeClr val="accent5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160095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Combining LINQ Methods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02768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Chaining operations = clean logic.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3286539" y="3737113"/>
            <a:ext cx="836212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5"/>
                </a:solidFill>
              </a:rPr>
              <a:t>var</a:t>
            </a:r>
            <a:r>
              <a:rPr lang="en-US" sz="2400" dirty="0">
                <a:solidFill>
                  <a:schemeClr val="accent5"/>
                </a:solidFill>
              </a:rPr>
              <a:t> filtered = products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.Where(p =&gt; </a:t>
            </a:r>
            <a:r>
              <a:rPr lang="en-US" sz="2400" dirty="0" err="1">
                <a:solidFill>
                  <a:schemeClr val="accent5"/>
                </a:solidFill>
              </a:rPr>
              <a:t>p.UnitPrice</a:t>
            </a:r>
            <a:r>
              <a:rPr lang="en-US" sz="2400" dirty="0">
                <a:solidFill>
                  <a:schemeClr val="accent5"/>
                </a:solidFill>
              </a:rPr>
              <a:t> &gt;= 100)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.</a:t>
            </a:r>
            <a:r>
              <a:rPr lang="en-US" sz="2400" dirty="0" err="1">
                <a:solidFill>
                  <a:schemeClr val="accent5"/>
                </a:solidFill>
              </a:rPr>
              <a:t>OrderBy</a:t>
            </a:r>
            <a:r>
              <a:rPr lang="en-US" sz="2400" dirty="0">
                <a:solidFill>
                  <a:schemeClr val="accent5"/>
                </a:solidFill>
              </a:rPr>
              <a:t>(p =&gt; </a:t>
            </a:r>
            <a:r>
              <a:rPr lang="en-US" sz="2400" dirty="0" err="1">
                <a:solidFill>
                  <a:schemeClr val="accent5"/>
                </a:solidFill>
              </a:rPr>
              <a:t>p.Name</a:t>
            </a:r>
            <a:r>
              <a:rPr lang="en-US" sz="2400" dirty="0">
                <a:solidFill>
                  <a:schemeClr val="accent5"/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.Select(p =&gt; new { </a:t>
            </a:r>
            <a:r>
              <a:rPr lang="en-US" sz="2400" dirty="0" err="1">
                <a:solidFill>
                  <a:schemeClr val="accent5"/>
                </a:solidFill>
              </a:rPr>
              <a:t>p.Name</a:t>
            </a:r>
            <a:r>
              <a:rPr lang="en-US" sz="2400" dirty="0">
                <a:solidFill>
                  <a:schemeClr val="accent5"/>
                </a:solidFill>
              </a:rPr>
              <a:t>, </a:t>
            </a:r>
            <a:r>
              <a:rPr lang="en-US" sz="2400" dirty="0" err="1">
                <a:solidFill>
                  <a:schemeClr val="accent5"/>
                </a:solidFill>
              </a:rPr>
              <a:t>p.UnitPrice</a:t>
            </a:r>
            <a:r>
              <a:rPr lang="en-US" sz="2400" dirty="0">
                <a:solidFill>
                  <a:schemeClr val="accent5"/>
                </a:solidFill>
              </a:rPr>
              <a:t> })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.</a:t>
            </a:r>
            <a:r>
              <a:rPr lang="en-US" sz="2400" dirty="0" err="1">
                <a:solidFill>
                  <a:schemeClr val="accent5"/>
                </a:solidFill>
              </a:rPr>
              <a:t>ToList</a:t>
            </a:r>
            <a:r>
              <a:rPr lang="en-US" sz="2400" dirty="0">
                <a:solidFill>
                  <a:schemeClr val="accent5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33964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LINQ with EF Core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02768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EF Core converts LINQ into SQL</a:t>
            </a:r>
            <a:r>
              <a:rPr lang="en-US" sz="2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/>
              <a:t>EF generates SQL like: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3237723" y="1980697"/>
            <a:ext cx="720498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5"/>
                </a:solidFill>
              </a:rPr>
              <a:t>var</a:t>
            </a:r>
            <a:r>
              <a:rPr lang="en-US" sz="2400" dirty="0">
                <a:solidFill>
                  <a:schemeClr val="accent5"/>
                </a:solidFill>
              </a:rPr>
              <a:t> items = await _</a:t>
            </a:r>
            <a:r>
              <a:rPr lang="en-US" sz="2400" dirty="0" err="1">
                <a:solidFill>
                  <a:schemeClr val="accent5"/>
                </a:solidFill>
              </a:rPr>
              <a:t>context.Products</a:t>
            </a:r>
            <a:endParaRPr lang="en-US" sz="2400" dirty="0">
              <a:solidFill>
                <a:schemeClr val="accent5"/>
              </a:solidFill>
            </a:endParaRPr>
          </a:p>
          <a:p>
            <a:r>
              <a:rPr lang="en-US" sz="2400" dirty="0">
                <a:solidFill>
                  <a:schemeClr val="accent5"/>
                </a:solidFill>
              </a:rPr>
              <a:t>    .Where(p =&gt; </a:t>
            </a:r>
            <a:r>
              <a:rPr lang="en-US" sz="2400" dirty="0" err="1">
                <a:solidFill>
                  <a:schemeClr val="accent5"/>
                </a:solidFill>
              </a:rPr>
              <a:t>p.QuantityInStock</a:t>
            </a:r>
            <a:r>
              <a:rPr lang="en-US" sz="2400" dirty="0">
                <a:solidFill>
                  <a:schemeClr val="accent5"/>
                </a:solidFill>
              </a:rPr>
              <a:t> &lt; 10)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.</a:t>
            </a:r>
            <a:r>
              <a:rPr lang="en-US" sz="2400" dirty="0" err="1">
                <a:solidFill>
                  <a:schemeClr val="accent5"/>
                </a:solidFill>
              </a:rPr>
              <a:t>OrderBy</a:t>
            </a:r>
            <a:r>
              <a:rPr lang="en-US" sz="2400" dirty="0">
                <a:solidFill>
                  <a:schemeClr val="accent5"/>
                </a:solidFill>
              </a:rPr>
              <a:t>(p =&gt; </a:t>
            </a:r>
            <a:r>
              <a:rPr lang="en-US" sz="2400" dirty="0" err="1">
                <a:solidFill>
                  <a:schemeClr val="accent5"/>
                </a:solidFill>
              </a:rPr>
              <a:t>p.Name</a:t>
            </a:r>
            <a:r>
              <a:rPr lang="en-US" sz="2400" dirty="0">
                <a:solidFill>
                  <a:schemeClr val="accent5"/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.</a:t>
            </a:r>
            <a:r>
              <a:rPr lang="en-US" sz="2400" dirty="0" err="1">
                <a:solidFill>
                  <a:schemeClr val="accent5"/>
                </a:solidFill>
              </a:rPr>
              <a:t>ToListAsync</a:t>
            </a:r>
            <a:r>
              <a:rPr lang="en-US" sz="2400" dirty="0">
                <a:solidFill>
                  <a:schemeClr val="accent5"/>
                </a:solidFill>
              </a:rPr>
              <a:t>();</a:t>
            </a:r>
          </a:p>
        </p:txBody>
      </p:sp>
      <p:sp>
        <p:nvSpPr>
          <p:cNvPr id="3" name="Rectangle 2"/>
          <p:cNvSpPr/>
          <p:nvPr/>
        </p:nvSpPr>
        <p:spPr>
          <a:xfrm>
            <a:off x="3237724" y="461060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SELECT * FROM Products 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WHERE </a:t>
            </a:r>
            <a:r>
              <a:rPr lang="en-US" sz="2400" dirty="0" err="1">
                <a:solidFill>
                  <a:schemeClr val="accent5"/>
                </a:solidFill>
              </a:rPr>
              <a:t>QuantityInStock</a:t>
            </a:r>
            <a:r>
              <a:rPr lang="en-US" sz="2400" dirty="0">
                <a:solidFill>
                  <a:schemeClr val="accent5"/>
                </a:solidFill>
              </a:rPr>
              <a:t> &lt; 10 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ORDER BY Name ASC;</a:t>
            </a:r>
          </a:p>
        </p:txBody>
      </p:sp>
    </p:spTree>
    <p:extLst>
      <p:ext uri="{BB962C8B-B14F-4D97-AF65-F5344CB8AC3E}">
        <p14:creationId xmlns:p14="http://schemas.microsoft.com/office/powerpoint/2010/main" val="352322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Example in Controller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02768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099930" y="2274838"/>
            <a:ext cx="1025387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[</a:t>
            </a:r>
            <a:r>
              <a:rPr lang="en-US" sz="2400" dirty="0" err="1">
                <a:solidFill>
                  <a:schemeClr val="accent5"/>
                </a:solidFill>
              </a:rPr>
              <a:t>HttpGet</a:t>
            </a:r>
            <a:r>
              <a:rPr lang="en-US" sz="2400" dirty="0">
                <a:solidFill>
                  <a:schemeClr val="accent5"/>
                </a:solidFill>
              </a:rPr>
              <a:t>("low-stock")]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public </a:t>
            </a:r>
            <a:r>
              <a:rPr lang="en-US" sz="2400" dirty="0" err="1">
                <a:solidFill>
                  <a:schemeClr val="accent5"/>
                </a:solidFill>
              </a:rPr>
              <a:t>async</a:t>
            </a:r>
            <a:r>
              <a:rPr lang="en-US" sz="2400" dirty="0">
                <a:solidFill>
                  <a:schemeClr val="accent5"/>
                </a:solidFill>
              </a:rPr>
              <a:t> Task&lt;</a:t>
            </a:r>
            <a:r>
              <a:rPr lang="en-US" sz="2400" dirty="0" err="1">
                <a:solidFill>
                  <a:schemeClr val="accent5"/>
                </a:solidFill>
              </a:rPr>
              <a:t>IEnumerable</a:t>
            </a:r>
            <a:r>
              <a:rPr lang="en-US" sz="2400" dirty="0">
                <a:solidFill>
                  <a:schemeClr val="accent5"/>
                </a:solidFill>
              </a:rPr>
              <a:t>&lt;Product&gt;&gt; </a:t>
            </a:r>
            <a:r>
              <a:rPr lang="en-US" sz="2400" dirty="0" err="1">
                <a:solidFill>
                  <a:schemeClr val="accent5"/>
                </a:solidFill>
              </a:rPr>
              <a:t>GetLowStock</a:t>
            </a:r>
            <a:r>
              <a:rPr lang="en-US" sz="2400" dirty="0">
                <a:solidFill>
                  <a:schemeClr val="accent5"/>
                </a:solidFill>
              </a:rPr>
              <a:t>()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{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return await _</a:t>
            </a:r>
            <a:r>
              <a:rPr lang="en-US" sz="2400" dirty="0" err="1">
                <a:solidFill>
                  <a:schemeClr val="accent5"/>
                </a:solidFill>
              </a:rPr>
              <a:t>context.Products</a:t>
            </a:r>
            <a:endParaRPr lang="en-US" sz="2400" dirty="0">
              <a:solidFill>
                <a:schemeClr val="accent5"/>
              </a:solidFill>
            </a:endParaRPr>
          </a:p>
          <a:p>
            <a:r>
              <a:rPr lang="en-US" sz="2400" dirty="0">
                <a:solidFill>
                  <a:schemeClr val="accent5"/>
                </a:solidFill>
              </a:rPr>
              <a:t>        .Where(p =&gt; </a:t>
            </a:r>
            <a:r>
              <a:rPr lang="en-US" sz="2400" dirty="0" err="1">
                <a:solidFill>
                  <a:schemeClr val="accent5"/>
                </a:solidFill>
              </a:rPr>
              <a:t>p.QuantityInStock</a:t>
            </a:r>
            <a:r>
              <a:rPr lang="en-US" sz="2400" dirty="0">
                <a:solidFill>
                  <a:schemeClr val="accent5"/>
                </a:solidFill>
              </a:rPr>
              <a:t> &lt; 5)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    .</a:t>
            </a:r>
            <a:r>
              <a:rPr lang="en-US" sz="2400" dirty="0" err="1">
                <a:solidFill>
                  <a:schemeClr val="accent5"/>
                </a:solidFill>
              </a:rPr>
              <a:t>ToListAsync</a:t>
            </a:r>
            <a:r>
              <a:rPr lang="en-US" sz="2400" dirty="0">
                <a:solidFill>
                  <a:schemeClr val="accent5"/>
                </a:solidFill>
              </a:rPr>
              <a:t>();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360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LINQ </a:t>
            </a:r>
            <a:r>
              <a:rPr lang="en-US" sz="2800" dirty="0" err="1"/>
              <a:t>GroupBy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02768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2955235" y="3644348"/>
            <a:ext cx="873318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5"/>
                </a:solidFill>
              </a:rPr>
              <a:t>var</a:t>
            </a:r>
            <a:r>
              <a:rPr lang="en-US" sz="2400" dirty="0">
                <a:solidFill>
                  <a:schemeClr val="accent5"/>
                </a:solidFill>
              </a:rPr>
              <a:t> groups = products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.</a:t>
            </a:r>
            <a:r>
              <a:rPr lang="en-US" sz="2400" dirty="0" err="1">
                <a:solidFill>
                  <a:schemeClr val="accent5"/>
                </a:solidFill>
              </a:rPr>
              <a:t>GroupBy</a:t>
            </a:r>
            <a:r>
              <a:rPr lang="en-US" sz="2400" dirty="0">
                <a:solidFill>
                  <a:schemeClr val="accent5"/>
                </a:solidFill>
              </a:rPr>
              <a:t>(p =&gt; </a:t>
            </a:r>
            <a:r>
              <a:rPr lang="en-US" sz="2400" dirty="0" err="1">
                <a:solidFill>
                  <a:schemeClr val="accent5"/>
                </a:solidFill>
              </a:rPr>
              <a:t>p.Category</a:t>
            </a:r>
            <a:r>
              <a:rPr lang="en-US" sz="2400" dirty="0">
                <a:solidFill>
                  <a:schemeClr val="accent5"/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.Select(g =&gt; new { Category = </a:t>
            </a:r>
            <a:r>
              <a:rPr lang="en-US" sz="2400" dirty="0" err="1">
                <a:solidFill>
                  <a:schemeClr val="accent5"/>
                </a:solidFill>
              </a:rPr>
              <a:t>g.Key</a:t>
            </a:r>
            <a:r>
              <a:rPr lang="en-US" sz="2400" dirty="0">
                <a:solidFill>
                  <a:schemeClr val="accent5"/>
                </a:solidFill>
              </a:rPr>
              <a:t>, Count = </a:t>
            </a:r>
            <a:r>
              <a:rPr lang="en-US" sz="2400" dirty="0" err="1">
                <a:solidFill>
                  <a:schemeClr val="accent5"/>
                </a:solidFill>
              </a:rPr>
              <a:t>g.Count</a:t>
            </a:r>
            <a:r>
              <a:rPr lang="en-US" sz="2400" dirty="0">
                <a:solidFill>
                  <a:schemeClr val="accent5"/>
                </a:solidFill>
              </a:rPr>
              <a:t>() })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    .</a:t>
            </a:r>
            <a:r>
              <a:rPr lang="en-US" sz="2400" dirty="0" err="1">
                <a:solidFill>
                  <a:schemeClr val="accent5"/>
                </a:solidFill>
              </a:rPr>
              <a:t>ToList</a:t>
            </a:r>
            <a:r>
              <a:rPr lang="en-US" sz="2400" dirty="0">
                <a:solidFill>
                  <a:schemeClr val="accent5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07413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Entity Relationships in Code First (C# / EF Core)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0276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One-to-One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One-to-Many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Many-to-Many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9911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Why Relationships Matter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80016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are wrong: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duplication occurs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 become complex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becomes incorrect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relationships are correct: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database design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querying (LINQ)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0561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What Is a Relationship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027688"/>
          </a:xfrm>
        </p:spPr>
        <p:txBody>
          <a:bodyPr>
            <a:normAutofit/>
          </a:bodyPr>
          <a:lstStyle/>
          <a:p>
            <a:r>
              <a:rPr lang="en-US" dirty="0"/>
              <a:t>How classes </a:t>
            </a:r>
            <a:r>
              <a:rPr lang="en-US" dirty="0" smtClean="0"/>
              <a:t>are connected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930575"/>
              </p:ext>
            </p:extLst>
          </p:nvPr>
        </p:nvGraphicFramePr>
        <p:xfrm>
          <a:off x="1594677" y="1742880"/>
          <a:ext cx="812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0621913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54036181"/>
                    </a:ext>
                  </a:extLst>
                </a:gridCol>
              </a:tblGrid>
              <a:tr h="35802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685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One-to-One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object ↔ one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9893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One-to-Many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object → many objects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9528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Many-to-Many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objects ↔ many objects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62077"/>
                  </a:ext>
                </a:extLst>
              </a:tr>
            </a:tbl>
          </a:graphicData>
        </a:graphic>
      </p:graphicFrame>
      <p:graphicFrame>
        <p:nvGraphicFramePr>
          <p:cNvPr id="12" name="Content Placeholder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1095039"/>
              </p:ext>
            </p:extLst>
          </p:nvPr>
        </p:nvGraphicFramePr>
        <p:xfrm>
          <a:off x="838200" y="3914202"/>
          <a:ext cx="988662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0192">
                  <a:extLst>
                    <a:ext uri="{9D8B030D-6E8A-4147-A177-3AD203B41FA5}">
                      <a16:colId xmlns:a16="http://schemas.microsoft.com/office/drawing/2014/main" val="2403391083"/>
                    </a:ext>
                  </a:extLst>
                </a:gridCol>
                <a:gridCol w="3442324">
                  <a:extLst>
                    <a:ext uri="{9D8B030D-6E8A-4147-A177-3AD203B41FA5}">
                      <a16:colId xmlns:a16="http://schemas.microsoft.com/office/drawing/2014/main" val="1252607324"/>
                    </a:ext>
                  </a:extLst>
                </a:gridCol>
                <a:gridCol w="3684105">
                  <a:extLst>
                    <a:ext uri="{9D8B030D-6E8A-4147-A177-3AD203B41FA5}">
                      <a16:colId xmlns:a16="http://schemas.microsoft.com/office/drawing/2014/main" val="3322080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5590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One-to-One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→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reference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16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One-to-Many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→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695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Many-to-Many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↔ B via bridge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 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7611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19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Core Concepts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621260"/>
          </a:xfrm>
        </p:spPr>
        <p:txBody>
          <a:bodyPr>
            <a:normAutofit/>
          </a:bodyPr>
          <a:lstStyle/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Primary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</a:p>
          <a:p>
            <a:pPr lvl="1"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{ get; set;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</a:t>
            </a:r>
          </a:p>
          <a:p>
            <a:pPr lvl="1"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Property</a:t>
            </a:r>
          </a:p>
          <a:p>
            <a:pPr lvl="1"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Student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</a:p>
          <a:p>
            <a:pPr lvl="1"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ICollection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&lt;Course&gt; Courses { get; set;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6918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Example Classes (Part 1)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566419" cy="56477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Student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Id { get; set; }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string Name { get; set; }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StudentProfile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Profile { get; set; }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ICollection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&lt;Enrollment&gt; Enrollments { get; set; } = new List&lt;Enrollment&gt;();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StudentProfile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{ get; set;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Address { get; set; }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Phone { get; set;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}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59279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Example Classes (Part 2)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5"/>
            <a:ext cx="11566419" cy="570077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Department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{ get; set; }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Name { get; set;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ICollection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&lt;Course&gt; Courses { get; set;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}=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List&lt;Course&gt;();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Course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{ get; set; }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Title { get; set;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ICollection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&lt;Enrollment&gt; Enrollments { get; set;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List&lt;Enrollment&gt;();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8999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Example Classes (Part </a:t>
            </a:r>
            <a:r>
              <a:rPr lang="en-US" sz="2800" dirty="0" smtClean="0"/>
              <a:t>3)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52849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Enrollment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{ get; set; 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Grade { get; set; 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891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ONE TO ONE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661016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object is linked to exactly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object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single object reference </a:t>
            </a:r>
          </a:p>
          <a:p>
            <a:pPr lvl="0"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Foreign Key in one side </a:t>
            </a:r>
          </a:p>
          <a:p>
            <a:pPr lvl="0"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collection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→ Profile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→ Passport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student class we  used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StudentProfile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Profile { get; set;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Student Profile class we used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689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ONE TO MANY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5"/>
            <a:ext cx="11526663" cy="560800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object is linked to many objects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Collection (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ICollection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0"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is in child table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→ Courses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→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Department class we use collection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ICollection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&lt;Course&gt; Courses { get; set;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List&lt;Course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&gt;();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Course class we use foreign key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Department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69523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MANY TO MANY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02768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objects relate to many objects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Student takes many courses</a:t>
            </a:r>
          </a:p>
          <a:p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course could be taken by many students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spcAft>
                <a:spcPct val="0"/>
              </a:spcAft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So, it requires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class (Enrollment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fontAlgn="base"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Enrollment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fontAlgn="base">
              <a:spcAft>
                <a:spcPct val="0"/>
              </a:spcAft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not store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Grade, Date,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Status, etc.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Enrollment: Flexible design and Real-world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</a:p>
          <a:p>
            <a:pPr lvl="0" fontAlgn="base"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two foreign keys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226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MANY TO MANY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553167" cy="50276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Student and Course Class need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ICollection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Enrollment class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ICollection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&lt;Enrollment&gt; Enrollments { get; set; } = new List&lt;Enrollment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&gt;();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class should have foreign key of Student and Course classes.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Student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}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get; set; 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2394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Summary</a:t>
            </a:r>
            <a:endParaRPr 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48859"/>
              </p:ext>
            </p:extLst>
          </p:nvPr>
        </p:nvGraphicFramePr>
        <p:xfrm>
          <a:off x="1408114" y="2037936"/>
          <a:ext cx="894183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27">
                  <a:extLst>
                    <a:ext uri="{9D8B030D-6E8A-4147-A177-3AD203B41FA5}">
                      <a16:colId xmlns:a16="http://schemas.microsoft.com/office/drawing/2014/main" val="1810519015"/>
                    </a:ext>
                  </a:extLst>
                </a:gridCol>
                <a:gridCol w="4457046">
                  <a:extLst>
                    <a:ext uri="{9D8B030D-6E8A-4147-A177-3AD203B41FA5}">
                      <a16:colId xmlns:a16="http://schemas.microsoft.com/office/drawing/2014/main" val="2351045677"/>
                    </a:ext>
                  </a:extLst>
                </a:gridCol>
                <a:gridCol w="2199860">
                  <a:extLst>
                    <a:ext uri="{9D8B030D-6E8A-4147-A177-3AD203B41FA5}">
                      <a16:colId xmlns:a16="http://schemas.microsoft.com/office/drawing/2014/main" val="3759273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151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One-to-One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ClassA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ClassB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141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One-to-Many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ClassA → ICollection&lt;ClassB&gt;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ICollection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6682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Many-to-Many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ClassA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 Bridge →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ClassB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Bridge class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5052481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8912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Understanding Include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5"/>
            <a:ext cx="11062447" cy="5687521"/>
          </a:xfrm>
        </p:spPr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Include()?</a:t>
            </a:r>
          </a:p>
          <a:p>
            <a:pPr fontAlgn="base"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Include() is used in Entity Framework Core to load related data together with the main entity.</a:t>
            </a:r>
          </a:p>
          <a:p>
            <a:pPr fontAlgn="base"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Include(), only the main table data is loaded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>
              <a:spcAft>
                <a:spcPct val="0"/>
              </a:spcAft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lvl="1" fontAlgn="base">
              <a:spcAft>
                <a:spcPct val="0"/>
              </a:spcAft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= _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context.Students.ToList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Loads only students.</a:t>
            </a:r>
          </a:p>
          <a:p>
            <a:pPr fontAlgn="base"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</a:p>
          <a:p>
            <a:pPr lvl="1" fontAlgn="base">
              <a:spcAft>
                <a:spcPct val="0"/>
              </a:spcAft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= _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context.Students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.Include(s =&gt;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s.Profile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ToList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loads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+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StudentProfile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5456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/>
              <a:t>Include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062447" cy="5027688"/>
          </a:xfrm>
        </p:spPr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One-to-One 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One-to-Many 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related data immediately </a:t>
            </a:r>
          </a:p>
          <a:p>
            <a:pPr fontAlgn="base"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.Include(s =&gt; </a:t>
            </a:r>
            <a:r>
              <a:rPr lang="en-US" alt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s.Profile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.Include(d =&gt; </a:t>
            </a:r>
            <a:r>
              <a:rPr lang="en-US" alt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d.Courses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.Include(c =&gt; </a:t>
            </a:r>
            <a:r>
              <a:rPr lang="en-US" alt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c.Enrollments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7285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Understanding </a:t>
            </a:r>
            <a:r>
              <a:rPr lang="en-US" sz="2800" dirty="0" err="1"/>
              <a:t>ThenInclude</a:t>
            </a:r>
            <a:r>
              <a:rPr lang="en-US" sz="2800" dirty="0"/>
              <a:t>()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6"/>
            <a:ext cx="11301376" cy="5661016"/>
          </a:xfrm>
        </p:spPr>
        <p:txBody>
          <a:bodyPr>
            <a:normAutofit/>
          </a:bodyPr>
          <a:lstStyle/>
          <a:p>
            <a:pPr lvl="0" fontAlgn="base">
              <a:spcAft>
                <a:spcPct val="0"/>
              </a:spcAft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Include() to load the next level relationship.</a:t>
            </a:r>
          </a:p>
          <a:p>
            <a:pPr lvl="0"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means: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Table → Child Table → Grandchild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= _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context.Students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.Include(s =&gt;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s.Enrollments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ThenInclude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 =&gt;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e.Course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ToList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Loads: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Enrollments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→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3340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533"/>
            <a:ext cx="10515600" cy="585761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/>
              <a:t>Practical Home work.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57835"/>
            <a:ext cx="11062447" cy="554174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classes for: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System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</a:t>
            </a:r>
          </a:p>
          <a:p>
            <a:pPr lvl="1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MemberProfile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One-to-One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One-to-Many 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Many-to-Many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10911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3ABCF8-7119-4864-9B09-FF5E900BC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068" y="1533683"/>
            <a:ext cx="7057623" cy="1288244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Bookman Old Style" panose="02050604050505020204" pitchFamily="18" charset="0"/>
              </a:rPr>
              <a:t>Thank You!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7D6EE36-2FDF-45AA-924D-3F3CBE724B60}"/>
              </a:ext>
            </a:extLst>
          </p:cNvPr>
          <p:cNvSpPr txBox="1">
            <a:spLocks/>
          </p:cNvSpPr>
          <p:nvPr/>
        </p:nvSpPr>
        <p:spPr>
          <a:xfrm>
            <a:off x="3857619" y="2480369"/>
            <a:ext cx="3676522" cy="3566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800" dirty="0"/>
              <a:t>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4E6DC56-066B-A3BD-A7CD-E877C074E30B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B635D77-1789-FA3B-8C3E-77383A564C8D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CE1619-EE25-7D02-410F-A2D15317EC08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2E371F-6E94-C8E2-1580-D65A402CD17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6908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Presentation level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tx2">
              <a:lumMod val="20000"/>
              <a:lumOff val="80000"/>
            </a:schemeClr>
          </a:solidFill>
        </a:ln>
      </a:spPr>
      <a:bodyPr wrap="none" rtlCol="0">
        <a:spAutoFit/>
      </a:bodyPr>
      <a:lstStyle>
        <a:defPPr>
          <a:defRPr dirty="0" err="1" smtClean="0">
            <a:ln>
              <a:solidFill>
                <a:schemeClr val="accent1">
                  <a:lumMod val="20000"/>
                  <a:lumOff val="80000"/>
                </a:schemeClr>
              </a:solidFill>
            </a:ln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 level design" id="{00E2FDB5-77A3-416C-8232-A2B8AB0B9A01}" vid="{6E3E8A63-E899-4F92-AFE5-C80B3CCFC0B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resentation level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tx2">
              <a:lumMod val="20000"/>
              <a:lumOff val="80000"/>
            </a:schemeClr>
          </a:solidFill>
        </a:ln>
      </a:spPr>
      <a:bodyPr wrap="none" rtlCol="0">
        <a:spAutoFit/>
      </a:bodyPr>
      <a:lstStyle>
        <a:defPPr>
          <a:defRPr dirty="0" err="1" smtClean="0">
            <a:ln>
              <a:solidFill>
                <a:schemeClr val="accent1">
                  <a:lumMod val="20000"/>
                  <a:lumOff val="80000"/>
                </a:schemeClr>
              </a:solidFill>
            </a:ln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 level design" id="{00E2FDB5-77A3-416C-8232-A2B8AB0B9A01}" vid="{6E3E8A63-E899-4F92-AFE5-C80B3CCFC0B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163AA760-FEA7-44E2-BB85-0893DB8CD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 Layout2</Template>
  <TotalTime>0</TotalTime>
  <Words>4473</Words>
  <Application>Microsoft Office PowerPoint</Application>
  <PresentationFormat>Widescreen</PresentationFormat>
  <Paragraphs>866</Paragraphs>
  <Slides>97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97</vt:i4>
      </vt:variant>
    </vt:vector>
  </HeadingPairs>
  <TitlesOfParts>
    <vt:vector size="110" baseType="lpstr">
      <vt:lpstr>Arial</vt:lpstr>
      <vt:lpstr>Arial Narrow</vt:lpstr>
      <vt:lpstr>Bookman Old Style</vt:lpstr>
      <vt:lpstr>Calibri</vt:lpstr>
      <vt:lpstr>Calibri Light</vt:lpstr>
      <vt:lpstr>Century Gothic</vt:lpstr>
      <vt:lpstr>Segoe UI</vt:lpstr>
      <vt:lpstr>Symbol</vt:lpstr>
      <vt:lpstr>Times New Roman</vt:lpstr>
      <vt:lpstr>Wingdings</vt:lpstr>
      <vt:lpstr>Presentation level design</vt:lpstr>
      <vt:lpstr>Custom Design</vt:lpstr>
      <vt:lpstr>1_Presentation level design</vt:lpstr>
      <vt:lpstr>PowerPoint Presentation</vt:lpstr>
      <vt:lpstr>Outline</vt:lpstr>
      <vt:lpstr>What is Three-Tier Architecture?</vt:lpstr>
      <vt:lpstr>Three-Tier Architecture</vt:lpstr>
      <vt:lpstr>Evolution of Architecture</vt:lpstr>
      <vt:lpstr>Responsibilities</vt:lpstr>
      <vt:lpstr>Our Project in This Chapter</vt:lpstr>
      <vt:lpstr>Next Steeps</vt:lpstr>
      <vt:lpstr>Add Data Layer Project</vt:lpstr>
      <vt:lpstr>Add Business/API Layer Project</vt:lpstr>
      <vt:lpstr>Setup Project References</vt:lpstr>
      <vt:lpstr>Install NuGet Packages (Data Layer)</vt:lpstr>
      <vt:lpstr>Install Packages (Business/API Layer)</vt:lpstr>
      <vt:lpstr>Create Folder Structure (Data Layer)</vt:lpstr>
      <vt:lpstr>Create Folder Structure (Business Layer)</vt:lpstr>
      <vt:lpstr>Naming Conventions</vt:lpstr>
      <vt:lpstr>What is Data Layer?</vt:lpstr>
      <vt:lpstr>Responsibilities of Data Layer</vt:lpstr>
      <vt:lpstr>What is Entity Framework Core?</vt:lpstr>
      <vt:lpstr>Our Database Design</vt:lpstr>
      <vt:lpstr>Create User Entity</vt:lpstr>
      <vt:lpstr>Create Product Entity</vt:lpstr>
      <vt:lpstr>Create SellProduct Entity</vt:lpstr>
      <vt:lpstr>Create AppDbContext</vt:lpstr>
      <vt:lpstr>What is DbContext?</vt:lpstr>
      <vt:lpstr>Data Annotations vs Fluent API in EF Core</vt:lpstr>
      <vt:lpstr>Required Field</vt:lpstr>
      <vt:lpstr>Required Field</vt:lpstr>
      <vt:lpstr>Data Annotations Example</vt:lpstr>
      <vt:lpstr>Fluent API Full Example</vt:lpstr>
      <vt:lpstr>Business/API Layer Implementation</vt:lpstr>
      <vt:lpstr>Create DTOs</vt:lpstr>
      <vt:lpstr>Interfaces</vt:lpstr>
      <vt:lpstr>Create Interfaces</vt:lpstr>
      <vt:lpstr>Create Interfaces</vt:lpstr>
      <vt:lpstr>Create Interfaces</vt:lpstr>
      <vt:lpstr>Implement Services</vt:lpstr>
      <vt:lpstr>What is Dependency Injection (DI)?</vt:lpstr>
      <vt:lpstr>What is appsettings.json?</vt:lpstr>
      <vt:lpstr>What is Program.cs?</vt:lpstr>
      <vt:lpstr>Basic Structure of Program.cs</vt:lpstr>
      <vt:lpstr>Register DbContext</vt:lpstr>
      <vt:lpstr>What is AddScoped?</vt:lpstr>
      <vt:lpstr>Enable Swagger</vt:lpstr>
      <vt:lpstr>Middleware Pipeline</vt:lpstr>
      <vt:lpstr>Complete Program.cs Example</vt:lpstr>
      <vt:lpstr>User Registration Logic</vt:lpstr>
      <vt:lpstr>Login Logic</vt:lpstr>
      <vt:lpstr>Product Service — Add</vt:lpstr>
      <vt:lpstr>Get Products (LINQ)</vt:lpstr>
      <vt:lpstr>Update Product</vt:lpstr>
      <vt:lpstr>Delete Product</vt:lpstr>
      <vt:lpstr>Selling Logic</vt:lpstr>
      <vt:lpstr>Report Using LINQ</vt:lpstr>
      <vt:lpstr>What is Controller?</vt:lpstr>
      <vt:lpstr>Basic Controller Example</vt:lpstr>
      <vt:lpstr>Action Example</vt:lpstr>
      <vt:lpstr>Connecting Desktop App to API Layer</vt:lpstr>
      <vt:lpstr>Why Use API?</vt:lpstr>
      <vt:lpstr>What is HttpClient?</vt:lpstr>
      <vt:lpstr>Basic ApiClient Setup</vt:lpstr>
      <vt:lpstr>Register and Login http client</vt:lpstr>
      <vt:lpstr>Desktop App</vt:lpstr>
      <vt:lpstr>Desktop Login</vt:lpstr>
      <vt:lpstr>What Is LINQ?</vt:lpstr>
      <vt:lpstr>Why LINQ Matters</vt:lpstr>
      <vt:lpstr>Traditional Way vs LINQ</vt:lpstr>
      <vt:lpstr>LINQ Query Syntax vs Method Syntax</vt:lpstr>
      <vt:lpstr>Important LINQ Methods</vt:lpstr>
      <vt:lpstr>Using Where()</vt:lpstr>
      <vt:lpstr>Using Select()</vt:lpstr>
      <vt:lpstr>Using OrderBy()</vt:lpstr>
      <vt:lpstr>FirstOrDefault()</vt:lpstr>
      <vt:lpstr>SingleOrDefault()</vt:lpstr>
      <vt:lpstr>Any()</vt:lpstr>
      <vt:lpstr>Take() and Skip() (Paging)</vt:lpstr>
      <vt:lpstr>Combining LINQ Methods</vt:lpstr>
      <vt:lpstr>LINQ with EF Core</vt:lpstr>
      <vt:lpstr>Example in Controller</vt:lpstr>
      <vt:lpstr>LINQ GroupBy</vt:lpstr>
      <vt:lpstr>Entity Relationships in Code First (C# / EF Core)</vt:lpstr>
      <vt:lpstr>Why Relationships Matter</vt:lpstr>
      <vt:lpstr>What Is a Relationship</vt:lpstr>
      <vt:lpstr>Core Concepts</vt:lpstr>
      <vt:lpstr>Example Classes (Part 1)</vt:lpstr>
      <vt:lpstr>Example Classes (Part 2)</vt:lpstr>
      <vt:lpstr>Example Classes (Part 3)</vt:lpstr>
      <vt:lpstr>ONE TO ONE</vt:lpstr>
      <vt:lpstr>ONE TO MANY</vt:lpstr>
      <vt:lpstr>MANY TO MANY</vt:lpstr>
      <vt:lpstr>MANY TO MANY</vt:lpstr>
      <vt:lpstr>Summary</vt:lpstr>
      <vt:lpstr>Understanding Include</vt:lpstr>
      <vt:lpstr>Include</vt:lpstr>
      <vt:lpstr>Understanding ThenInclude()</vt:lpstr>
      <vt:lpstr>Practical Home work.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keywords/>
  <cp:lastModifiedBy/>
  <cp:revision>3</cp:revision>
  <dcterms:created xsi:type="dcterms:W3CDTF">2016-11-02T13:30:00Z</dcterms:created>
  <dcterms:modified xsi:type="dcterms:W3CDTF">2026-05-10T19:38:12Z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TC034605409991</vt:lpwstr>
  </property>
</Properties>
</file>